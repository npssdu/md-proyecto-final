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Abrir la exposición presentando el proyecto como un flujo completo de minería de datos aplicado a un caso médico.,Aclarar que la presentación no va a leer el notebook, sino a sintetizar decisiones, resultados y justificación del mejor modelo.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Explicar que el proyecto parte de un problema médico de clasificación: distinguir tumores benignos y malignos.,Mencionar que regresión y clustering se usan para completar el flujo de minería de datos, pero la decisión final se centra en clasificación.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Presentar el dataset: 569 observaciones y 31 columnas después del proceso de limpieza.,Explicar que diagnosis es la variable objetivo y que el resto son variables numéricas asociadas a características celulares del tumor.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Explicar que las columnas tienen una estructura repetida: la característica clínica y el resumen estadístico.,Esto facilita la interpretación del dataset y permite entender que no son variables aleatorias, sino mediciones organizadas.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Explicar que la limpieza no significa borrar todo lo que se ve raro.,En este caso se eliminan columnas sin valor predictivo, pero los outliers se conservan porque pueden corresponder a tumores con mediciones extremas.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Usar los boxplots para explicar que algunas variables tienen distribuciones diferentes entre benignos y malignos.,El EDA no decide el modelo final, pero ayuda a entender por qué los algoritmos pueden separar clases.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Explicar que varias variables no son independientes: por ejemplo radio, perímetro y área describen dimensiones parecidas.,Esta redundancia no es mala, pero justifica explorar PCA para resumir información en componentes.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Narrar la preparación como un pipeline: codificar, separar variables, escalar, dividir train/test y aplicar PCA.,Aclarar que el escalado es crítico para KNN, SVM y PCA, porque estos métodos son sensibles a magnitudes y distancias.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Presentar los grupos de modelos evaluados.,La clasificación es el objetivo principal, mientras que regresión y clustering sirven para demostrar aplicación de técnicas del curso y complementar el análisis.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Explicar que los resultados de regresión son muy altos porque se predice una variable continua fuertemente relacionada con otras mediciones.,En clustering, KMeans k=2 es razonable porque intenta separar dos grupos, aunque sin usar diagnosis durante el entrenamiento.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Detenerse en esta diapositiva. Explicar que las métricas comparan modelos con el mismo problema de clasificación.,Aclarar que la tabla final del notebook compilado recomienda SVM RBF según Recall + F1.,También mencionar que Random Forest sin PCA queda muy cerca y es una alternativa robusta e interpretable por importancia de variables.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Explicar por qué accuracy no debe ser el único criterio en salud.,Un falso negativo puede significar que un tumor maligno sea clasificado como benigno. Por eso el recall es la métrica con más peso.,Según el notebook compilado, SVM RBF cumple mejor este criterio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reforzando que el proyecto no solo ejecuta modelos, sino que justifica decisiones de datos y selección de métricas.,Mencionar que el mejor modelo técnico debe evaluarse con criterios del contexto: en este caso, detectar malignidad y reducir falsos negativos.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6FAFB"/>
        </a:solidFill>
      </p:bgPr>
    </p:bg>
    <p:spTree>
      <p:nvGrpSpPr>
        <p:cNvPr id="1" name=""/>
        <p:cNvGrpSpPr/>
        <p:nvPr/>
      </p:nvGrpSpPr>
      <p:grpSpPr>
        <a:xfrm>
          <a:off x="0" y="0"/>
          <a:ext cx="0" cy="0"/>
          <a:chOff x="0" y="0"/>
          <a:chExt cx="0" cy="0"/>
        </a:xfrm>
      </p:grpSpPr>
      <p:sp>
        <p:nvSpPr>
          <p:cNvPr id="2" name="Shape 0"/>
          <p:cNvSpPr/>
          <p:nvPr/>
        </p:nvSpPr>
        <p:spPr>
          <a:xfrm>
            <a:off x="411480" y="6446520"/>
            <a:ext cx="11338560" cy="0"/>
          </a:xfrm>
          <a:prstGeom prst="line">
            <a:avLst/>
          </a:prstGeom>
          <a:noFill/>
          <a:ln w="12700">
            <a:solidFill>
              <a:srgbClr val="D8E7EA"/>
            </a:solidFill>
            <a:prstDash val="solid"/>
          </a:ln>
        </p:spPr>
      </p:sp>
      <p:sp>
        <p:nvSpPr>
          <p:cNvPr id="3" name="Text 1"/>
          <p:cNvSpPr/>
          <p:nvPr/>
        </p:nvSpPr>
        <p:spPr>
          <a:xfrm>
            <a:off x="502920" y="6510528"/>
            <a:ext cx="5029200" cy="164592"/>
          </a:xfrm>
          <a:prstGeom prst="rect">
            <a:avLst/>
          </a:prstGeom>
          <a:noFill/>
          <a:ln/>
        </p:spPr>
        <p:txBody>
          <a:bodyPr wrap="square" rtlCol="0" anchor="ctr"/>
          <a:lstStyle/>
          <a:p>
            <a:pPr indent="0" marL="0">
              <a:buNone/>
            </a:pPr>
            <a:r>
              <a:rPr lang="en-US" sz="750" dirty="0">
                <a:solidFill>
                  <a:srgbClr val="607D86"/>
                </a:solidFill>
                <a:latin typeface="Aptos" pitchFamily="34" charset="0"/>
                <a:ea typeface="Aptos" pitchFamily="34" charset="-122"/>
                <a:cs typeface="Aptos" pitchFamily="34" charset="-120"/>
              </a:rPr>
              <a:t>Proyecto Final · Minería de Datos en Python</a:t>
            </a:r>
            <a:endParaRPr lang="en-US" sz="750" dirty="0"/>
          </a:p>
        </p:txBody>
      </p:sp>
      <p:sp>
        <p:nvSpPr>
          <p:cNvPr id="4" name="Text 2"/>
          <p:cNvSpPr/>
          <p:nvPr/>
        </p:nvSpPr>
        <p:spPr>
          <a:xfrm>
            <a:off x="10241280" y="6510528"/>
            <a:ext cx="1463040" cy="164592"/>
          </a:xfrm>
          <a:prstGeom prst="rect">
            <a:avLst/>
          </a:prstGeom>
          <a:noFill/>
          <a:ln/>
        </p:spPr>
        <p:txBody>
          <a:bodyPr wrap="square" rtlCol="0" anchor="ctr"/>
          <a:lstStyle/>
          <a:p>
            <a:pPr algn="r" indent="0" marL="0">
              <a:buNone/>
            </a:pPr>
            <a:r>
              <a:rPr lang="en-US" sz="750" dirty="0">
                <a:solidFill>
                  <a:srgbClr val="607D86"/>
                </a:solidFill>
                <a:latin typeface="Aptos" pitchFamily="34" charset="0"/>
                <a:ea typeface="Aptos" pitchFamily="34" charset="-122"/>
                <a:cs typeface="Aptos" pitchFamily="34" charset="-120"/>
              </a:rPr>
              <a:t>Cancer_Data.csv</a:t>
            </a:r>
            <a:endParaRPr lang="en-US" sz="750" dirty="0"/>
          </a:p>
        </p:txBody>
      </p:sp>
      <p:sp>
        <p:nvSpPr>
          <p:cNvPr id="25" name="Slide Number Placeholder 0"/>
          <p:cNvSpPr>
            <a:spLocks noGrp="1"/>
          </p:cNvSpPr>
          <p:nvPr>
            <p:ph type="sldNum" sz="quarter" idx="4294967295"/>
          </p:nvPr>
        </p:nvSpPr>
        <p:spPr>
          <a:xfrm>
            <a:off x="11841480" y="6510528"/>
            <a:ext cx="800000" cy="300000"/>
          </a:xfrm>
          <a:prstGeom prst="rect">
            <a:avLst/>
          </a:prstGeom>
          <a:extLst>
            <a:ext uri="{C572A759-6A51-4108-AA02-DFA0A04FC94B}">
              <ma14:wrappingTextBoxFlag xmlns:ma14="http://schemas.microsoft.com/office/mac/drawingml/2011/main" val="0"/>
            </a:ext>
          </a:extLst>
        </p:spPr>
        <p:txBody>
          <a:bodyPr/>
          <a:lstStyle>
            <a:lvl1pPr>
              <a:defRPr sz="750">
                <a:solidFill>
                  <a:srgbClr val="607D86"/>
                </a:solidFill>
                <a:latin typeface="Aptos"/>
                <a:ea typeface="Aptos"/>
                <a:cs typeface="Aptos"/>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841480" y="6510528"/>
            <a:ext cx="800000" cy="300000"/>
          </a:xfrm>
          <a:prstGeom prst="rect">
            <a:avLst/>
          </a:prstGeom>
          <a:extLst>
            <a:ext uri="{C572A759-6A51-4108-AA02-DFA0A04FC94B}">
              <ma14:wrappingTextBoxFlag xmlns:ma14="http://schemas.microsoft.com/office/mac/drawingml/2011/main" val="0"/>
            </a:ext>
          </a:extLst>
        </p:spPr>
        <p:txBody>
          <a:bodyPr/>
          <a:lstStyle>
            <a:lvl1pPr>
              <a:defRPr sz="750">
                <a:solidFill>
                  <a:srgbClr val="607D86"/>
                </a:solidFill>
                <a:latin typeface="Aptos"/>
                <a:ea typeface="Aptos"/>
                <a:cs typeface="Aptos"/>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AFB"/>
        </a:solidFill>
      </p:bgPr>
    </p:bg>
    <p:spTree>
      <p:nvGrpSpPr>
        <p:cNvPr id="1" name=""/>
        <p:cNvGrpSpPr/>
        <p:nvPr/>
      </p:nvGrpSpPr>
      <p:grpSpPr>
        <a:xfrm>
          <a:off x="0" y="0"/>
          <a:ext cx="0" cy="0"/>
          <a:chOff x="0" y="0"/>
          <a:chExt cx="0" cy="0"/>
        </a:xfrm>
      </p:grpSpPr>
      <p:sp>
        <p:nvSpPr>
          <p:cNvPr id="2" name="Shape 0"/>
          <p:cNvSpPr/>
          <p:nvPr/>
        </p:nvSpPr>
        <p:spPr>
          <a:xfrm>
            <a:off x="10698480" y="-320040"/>
            <a:ext cx="2103120" cy="2103120"/>
          </a:xfrm>
          <a:prstGeom prst="arc">
            <a:avLst/>
          </a:prstGeom>
          <a:solidFill>
            <a:srgbClr val="DFF3F5">
              <a:alpha val="55000"/>
            </a:srgbClr>
          </a:solidFill>
          <a:ln w="12700">
            <a:solidFill>
              <a:srgbClr val="DFF3F5">
                <a:alpha val="40000"/>
              </a:srgbClr>
            </a:solidFill>
            <a:prstDash val="solid"/>
          </a:ln>
        </p:spPr>
      </p:sp>
      <p:sp>
        <p:nvSpPr>
          <p:cNvPr id="3" name="Shape 1"/>
          <p:cNvSpPr/>
          <p:nvPr/>
        </p:nvSpPr>
        <p:spPr>
          <a:xfrm rot="10800000">
            <a:off x="-822960" y="5257800"/>
            <a:ext cx="2011680" cy="2011680"/>
          </a:xfrm>
          <a:prstGeom prst="arc">
            <a:avLst/>
          </a:prstGeom>
          <a:solidFill>
            <a:srgbClr val="DDEFE7">
              <a:alpha val="55000"/>
            </a:srgbClr>
          </a:solidFill>
          <a:ln w="12700">
            <a:solidFill>
              <a:srgbClr val="DDEFE7">
                <a:alpha val="45000"/>
              </a:srgbClr>
            </a:solidFill>
            <a:prstDash val="solid"/>
          </a:ln>
        </p:spPr>
      </p:sp>
      <p:sp>
        <p:nvSpPr>
          <p:cNvPr id="4" name="Text 2"/>
          <p:cNvSpPr/>
          <p:nvPr/>
        </p:nvSpPr>
        <p:spPr>
          <a:xfrm>
            <a:off x="594360" y="685800"/>
            <a:ext cx="9326880" cy="502920"/>
          </a:xfrm>
          <a:prstGeom prst="rect">
            <a:avLst/>
          </a:prstGeom>
          <a:noFill/>
          <a:ln/>
        </p:spPr>
        <p:txBody>
          <a:bodyPr wrap="square" lIns="0" tIns="0" rIns="0" bIns="0" rtlCol="0" anchor="ctr"/>
          <a:lstStyle/>
          <a:p>
            <a:pPr indent="0" marL="0">
              <a:buNone/>
            </a:pPr>
            <a:r>
              <a:rPr lang="en-US" sz="2200" b="1" dirty="0">
                <a:solidFill>
                  <a:srgbClr val="0E7C86"/>
                </a:solidFill>
                <a:latin typeface="Aptos Display" pitchFamily="34" charset="0"/>
                <a:ea typeface="Aptos Display" pitchFamily="34" charset="-122"/>
                <a:cs typeface="Aptos Display" pitchFamily="34" charset="-120"/>
              </a:rPr>
              <a:t>Minería de Datos en Python</a:t>
            </a:r>
            <a:endParaRPr lang="en-US" sz="2200" dirty="0"/>
          </a:p>
        </p:txBody>
      </p:sp>
      <p:sp>
        <p:nvSpPr>
          <p:cNvPr id="5" name="Text 3"/>
          <p:cNvSpPr/>
          <p:nvPr/>
        </p:nvSpPr>
        <p:spPr>
          <a:xfrm>
            <a:off x="594360" y="1188720"/>
            <a:ext cx="10241280" cy="749808"/>
          </a:xfrm>
          <a:prstGeom prst="rect">
            <a:avLst/>
          </a:prstGeom>
          <a:noFill/>
          <a:ln/>
        </p:spPr>
        <p:txBody>
          <a:bodyPr wrap="square" lIns="0" tIns="0" rIns="0" bIns="0" rtlCol="0" anchor="ctr">
            <a:normAutofit/>
          </a:bodyPr>
          <a:lstStyle/>
          <a:p>
            <a:pPr indent="0" marL="0">
              <a:buNone/>
            </a:pPr>
            <a:r>
              <a:rPr lang="en-US" sz="3600" b="1" dirty="0">
                <a:solidFill>
                  <a:srgbClr val="0B1F33"/>
                </a:solidFill>
                <a:latin typeface="Aptos Display" pitchFamily="34" charset="0"/>
                <a:ea typeface="Aptos Display" pitchFamily="34" charset="-122"/>
                <a:cs typeface="Aptos Display" pitchFamily="34" charset="-120"/>
              </a:rPr>
              <a:t>Análisis del dataset Cancer_Data.csv</a:t>
            </a:r>
            <a:endParaRPr lang="en-US" sz="3600" dirty="0"/>
          </a:p>
        </p:txBody>
      </p:sp>
      <p:sp>
        <p:nvSpPr>
          <p:cNvPr id="6" name="Text 4"/>
          <p:cNvSpPr/>
          <p:nvPr/>
        </p:nvSpPr>
        <p:spPr>
          <a:xfrm>
            <a:off x="630936" y="2057400"/>
            <a:ext cx="8138160" cy="320040"/>
          </a:xfrm>
          <a:prstGeom prst="rect">
            <a:avLst/>
          </a:prstGeom>
          <a:noFill/>
          <a:ln/>
        </p:spPr>
        <p:txBody>
          <a:bodyPr wrap="square" lIns="0" tIns="0" rIns="0" bIns="0" rtlCol="0" anchor="ctr"/>
          <a:lstStyle/>
          <a:p>
            <a:pPr indent="0" marL="0">
              <a:buNone/>
            </a:pPr>
            <a:r>
              <a:rPr lang="en-US" sz="1600" dirty="0">
                <a:solidFill>
                  <a:srgbClr val="22313F"/>
                </a:solidFill>
                <a:latin typeface="Aptos" pitchFamily="34" charset="0"/>
                <a:ea typeface="Aptos" pitchFamily="34" charset="-122"/>
                <a:cs typeface="Aptos" pitchFamily="34" charset="-120"/>
              </a:rPr>
              <a:t>Clasificación, regresión y clustering aplicados al diagnóstico de cáncer de mama</a:t>
            </a:r>
            <a:endParaRPr lang="en-US" sz="1600" dirty="0"/>
          </a:p>
        </p:txBody>
      </p:sp>
      <p:sp>
        <p:nvSpPr>
          <p:cNvPr id="7" name="Shape 5"/>
          <p:cNvSpPr/>
          <p:nvPr/>
        </p:nvSpPr>
        <p:spPr>
          <a:xfrm>
            <a:off x="612648" y="2816352"/>
            <a:ext cx="5349240" cy="987552"/>
          </a:xfrm>
          <a:prstGeom prst="roundRect">
            <a:avLst>
              <a:gd name="adj" fmla="val 7407"/>
            </a:avLst>
          </a:prstGeom>
          <a:solidFill>
            <a:srgbClr val="FFFFFF"/>
          </a:solidFill>
          <a:ln w="12700">
            <a:solidFill>
              <a:srgbClr val="D8E7EA"/>
            </a:solidFill>
            <a:prstDash val="solid"/>
          </a:ln>
        </p:spPr>
      </p:sp>
      <p:sp>
        <p:nvSpPr>
          <p:cNvPr id="8" name="Text 6"/>
          <p:cNvSpPr/>
          <p:nvPr/>
        </p:nvSpPr>
        <p:spPr>
          <a:xfrm>
            <a:off x="868680" y="2980944"/>
            <a:ext cx="4389120" cy="201168"/>
          </a:xfrm>
          <a:prstGeom prst="rect">
            <a:avLst/>
          </a:prstGeom>
          <a:noFill/>
          <a:ln/>
        </p:spPr>
        <p:txBody>
          <a:bodyPr wrap="square" lIns="0" tIns="0" rIns="0" bIns="0" rtlCol="0" anchor="ctr"/>
          <a:lstStyle/>
          <a:p>
            <a:pPr indent="0" marL="0">
              <a:buNone/>
            </a:pPr>
            <a:r>
              <a:rPr lang="en-US" sz="1000" b="1" dirty="0">
                <a:solidFill>
                  <a:srgbClr val="5C6970"/>
                </a:solidFill>
                <a:latin typeface="Aptos" pitchFamily="34" charset="0"/>
                <a:ea typeface="Aptos" pitchFamily="34" charset="-122"/>
                <a:cs typeface="Aptos" pitchFamily="34" charset="-120"/>
              </a:rPr>
              <a:t>Integrantes del grupo</a:t>
            </a:r>
            <a:endParaRPr lang="en-US" sz="1000" dirty="0"/>
          </a:p>
        </p:txBody>
      </p:sp>
      <p:sp>
        <p:nvSpPr>
          <p:cNvPr id="9" name="Text 7"/>
          <p:cNvSpPr/>
          <p:nvPr/>
        </p:nvSpPr>
        <p:spPr>
          <a:xfrm>
            <a:off x="868680" y="3273552"/>
            <a:ext cx="4754880" cy="384048"/>
          </a:xfrm>
          <a:prstGeom prst="rect">
            <a:avLst/>
          </a:prstGeom>
          <a:noFill/>
          <a:ln/>
        </p:spPr>
        <p:txBody>
          <a:bodyPr wrap="square" lIns="0" tIns="0" rIns="0" bIns="0" rtlCol="0" anchor="ctr">
            <a:normAutofit/>
          </a:bodyPr>
          <a:lstStyle/>
          <a:p>
            <a:pPr indent="0" marL="0">
              <a:buNone/>
            </a:pPr>
            <a:r>
              <a:rPr lang="en-US" sz="1050" dirty="0">
                <a:solidFill>
                  <a:srgbClr val="0B1F33"/>
                </a:solidFill>
                <a:latin typeface="Aptos" pitchFamily="34" charset="0"/>
                <a:ea typeface="Aptos" pitchFamily="34" charset="-122"/>
                <a:cs typeface="Aptos" pitchFamily="34" charset="-120"/>
              </a:rPr>
              <a:t>Julian David Cabrera Barragan · Nelson David Posso Suarez</a:t>
            </a:r>
            <a:endParaRPr lang="en-US" sz="1050" dirty="0"/>
          </a:p>
          <a:p>
            <a:pPr indent="0" marL="0">
              <a:buNone/>
            </a:pPr>
            <a:r>
              <a:rPr lang="en-US" sz="1050" dirty="0">
                <a:solidFill>
                  <a:srgbClr val="0B1F33"/>
                </a:solidFill>
                <a:latin typeface="Aptos" pitchFamily="34" charset="0"/>
                <a:ea typeface="Aptos" pitchFamily="34" charset="-122"/>
                <a:cs typeface="Aptos" pitchFamily="34" charset="-120"/>
              </a:rPr>
              <a:t>Edward Julian Garcia Gaitan · Juan David Cordoba Aguirre</a:t>
            </a:r>
            <a:endParaRPr lang="en-US" sz="1050" dirty="0"/>
          </a:p>
        </p:txBody>
      </p:sp>
      <p:sp>
        <p:nvSpPr>
          <p:cNvPr id="10" name="Shape 8"/>
          <p:cNvSpPr/>
          <p:nvPr/>
        </p:nvSpPr>
        <p:spPr>
          <a:xfrm>
            <a:off x="7315200" y="941832"/>
            <a:ext cx="3840480" cy="4297680"/>
          </a:xfrm>
          <a:prstGeom prst="roundRect">
            <a:avLst>
              <a:gd name="adj" fmla="val 3810"/>
            </a:avLst>
          </a:prstGeom>
          <a:solidFill>
            <a:srgbClr val="FFFFFF"/>
          </a:solidFill>
          <a:ln w="12700">
            <a:solidFill>
              <a:srgbClr val="0E7C86">
                <a:alpha val="90000"/>
              </a:srgbClr>
            </a:solidFill>
            <a:prstDash val="solid"/>
          </a:ln>
        </p:spPr>
      </p:sp>
      <p:sp>
        <p:nvSpPr>
          <p:cNvPr id="11" name="Text 9"/>
          <p:cNvSpPr/>
          <p:nvPr/>
        </p:nvSpPr>
        <p:spPr>
          <a:xfrm>
            <a:off x="7635240" y="1243584"/>
            <a:ext cx="3017520" cy="320040"/>
          </a:xfrm>
          <a:prstGeom prst="rect">
            <a:avLst/>
          </a:prstGeom>
          <a:noFill/>
          <a:ln/>
        </p:spPr>
        <p:txBody>
          <a:bodyPr wrap="square" rtlCol="0" anchor="ctr"/>
          <a:lstStyle/>
          <a:p>
            <a:pPr algn="ctr" indent="0" marL="0">
              <a:buNone/>
            </a:pPr>
            <a:r>
              <a:rPr lang="en-US" sz="1800" b="1" dirty="0">
                <a:solidFill>
                  <a:srgbClr val="0B1F33"/>
                </a:solidFill>
                <a:latin typeface="Aptos Display" pitchFamily="34" charset="0"/>
                <a:ea typeface="Aptos Display" pitchFamily="34" charset="-122"/>
                <a:cs typeface="Aptos Display" pitchFamily="34" charset="-120"/>
              </a:rPr>
              <a:t>Flujo del proyecto</a:t>
            </a:r>
            <a:endParaRPr lang="en-US" sz="1800" dirty="0"/>
          </a:p>
        </p:txBody>
      </p:sp>
      <p:sp>
        <p:nvSpPr>
          <p:cNvPr id="12" name="Shape 10"/>
          <p:cNvSpPr/>
          <p:nvPr/>
        </p:nvSpPr>
        <p:spPr>
          <a:xfrm>
            <a:off x="7818120" y="1783080"/>
            <a:ext cx="2651760" cy="320040"/>
          </a:xfrm>
          <a:prstGeom prst="chevron">
            <a:avLst/>
          </a:prstGeom>
          <a:solidFill>
            <a:srgbClr val="DFF3F5"/>
          </a:solidFill>
          <a:ln w="12700">
            <a:solidFill>
              <a:srgbClr val="D8E7EA"/>
            </a:solidFill>
            <a:prstDash val="solid"/>
          </a:ln>
        </p:spPr>
      </p:sp>
      <p:sp>
        <p:nvSpPr>
          <p:cNvPr id="13" name="Text 11"/>
          <p:cNvSpPr/>
          <p:nvPr/>
        </p:nvSpPr>
        <p:spPr>
          <a:xfrm>
            <a:off x="7973568" y="1856232"/>
            <a:ext cx="2103120" cy="137160"/>
          </a:xfrm>
          <a:prstGeom prst="rect">
            <a:avLst/>
          </a:prstGeom>
          <a:noFill/>
          <a:ln/>
        </p:spPr>
        <p:txBody>
          <a:bodyPr wrap="square" lIns="0" tIns="0" rIns="0" bIns="0" rtlCol="0" anchor="ctr"/>
          <a:lstStyle/>
          <a:p>
            <a:pPr algn="ctr" indent="0" marL="0">
              <a:buNone/>
            </a:pPr>
            <a:r>
              <a:rPr lang="en-US" sz="900" b="1" dirty="0">
                <a:solidFill>
                  <a:srgbClr val="0B1F33"/>
                </a:solidFill>
                <a:latin typeface="Aptos" pitchFamily="34" charset="0"/>
                <a:ea typeface="Aptos" pitchFamily="34" charset="-122"/>
                <a:cs typeface="Aptos" pitchFamily="34" charset="-120"/>
              </a:rPr>
              <a:t>Problema</a:t>
            </a:r>
            <a:endParaRPr lang="en-US" sz="900" dirty="0"/>
          </a:p>
        </p:txBody>
      </p:sp>
      <p:sp>
        <p:nvSpPr>
          <p:cNvPr id="14" name="Shape 12"/>
          <p:cNvSpPr/>
          <p:nvPr/>
        </p:nvSpPr>
        <p:spPr>
          <a:xfrm>
            <a:off x="7818120" y="2258568"/>
            <a:ext cx="2651760" cy="320040"/>
          </a:xfrm>
          <a:prstGeom prst="chevron">
            <a:avLst/>
          </a:prstGeom>
          <a:solidFill>
            <a:srgbClr val="EBF5F6"/>
          </a:solidFill>
          <a:ln w="12700">
            <a:solidFill>
              <a:srgbClr val="D8E7EA"/>
            </a:solidFill>
            <a:prstDash val="solid"/>
          </a:ln>
        </p:spPr>
      </p:sp>
      <p:sp>
        <p:nvSpPr>
          <p:cNvPr id="15" name="Text 13"/>
          <p:cNvSpPr/>
          <p:nvPr/>
        </p:nvSpPr>
        <p:spPr>
          <a:xfrm>
            <a:off x="7973568" y="2331720"/>
            <a:ext cx="2103120" cy="137160"/>
          </a:xfrm>
          <a:prstGeom prst="rect">
            <a:avLst/>
          </a:prstGeom>
          <a:noFill/>
          <a:ln/>
        </p:spPr>
        <p:txBody>
          <a:bodyPr wrap="square" lIns="0" tIns="0" rIns="0" bIns="0" rtlCol="0" anchor="ctr"/>
          <a:lstStyle/>
          <a:p>
            <a:pPr algn="ctr" indent="0" marL="0">
              <a:buNone/>
            </a:pPr>
            <a:r>
              <a:rPr lang="en-US" sz="900" b="1" dirty="0">
                <a:solidFill>
                  <a:srgbClr val="0B1F33"/>
                </a:solidFill>
                <a:latin typeface="Aptos" pitchFamily="34" charset="0"/>
                <a:ea typeface="Aptos" pitchFamily="34" charset="-122"/>
                <a:cs typeface="Aptos" pitchFamily="34" charset="-120"/>
              </a:rPr>
              <a:t>Dataset</a:t>
            </a:r>
            <a:endParaRPr lang="en-US" sz="900" dirty="0"/>
          </a:p>
        </p:txBody>
      </p:sp>
      <p:sp>
        <p:nvSpPr>
          <p:cNvPr id="16" name="Shape 14"/>
          <p:cNvSpPr/>
          <p:nvPr/>
        </p:nvSpPr>
        <p:spPr>
          <a:xfrm>
            <a:off x="7818120" y="2734056"/>
            <a:ext cx="2651760" cy="320040"/>
          </a:xfrm>
          <a:prstGeom prst="chevron">
            <a:avLst/>
          </a:prstGeom>
          <a:solidFill>
            <a:srgbClr val="EBF5F6"/>
          </a:solidFill>
          <a:ln w="12700">
            <a:solidFill>
              <a:srgbClr val="D8E7EA"/>
            </a:solidFill>
            <a:prstDash val="solid"/>
          </a:ln>
        </p:spPr>
      </p:sp>
      <p:sp>
        <p:nvSpPr>
          <p:cNvPr id="17" name="Text 15"/>
          <p:cNvSpPr/>
          <p:nvPr/>
        </p:nvSpPr>
        <p:spPr>
          <a:xfrm>
            <a:off x="7973568" y="2807208"/>
            <a:ext cx="2103120" cy="137160"/>
          </a:xfrm>
          <a:prstGeom prst="rect">
            <a:avLst/>
          </a:prstGeom>
          <a:noFill/>
          <a:ln/>
        </p:spPr>
        <p:txBody>
          <a:bodyPr wrap="square" lIns="0" tIns="0" rIns="0" bIns="0" rtlCol="0" anchor="ctr"/>
          <a:lstStyle/>
          <a:p>
            <a:pPr algn="ctr" indent="0" marL="0">
              <a:buNone/>
            </a:pPr>
            <a:r>
              <a:rPr lang="en-US" sz="900" b="1" dirty="0">
                <a:solidFill>
                  <a:srgbClr val="0B1F33"/>
                </a:solidFill>
                <a:latin typeface="Aptos" pitchFamily="34" charset="0"/>
                <a:ea typeface="Aptos" pitchFamily="34" charset="-122"/>
                <a:cs typeface="Aptos" pitchFamily="34" charset="-120"/>
              </a:rPr>
              <a:t>Limpieza</a:t>
            </a:r>
            <a:endParaRPr lang="en-US" sz="900" dirty="0"/>
          </a:p>
        </p:txBody>
      </p:sp>
      <p:sp>
        <p:nvSpPr>
          <p:cNvPr id="18" name="Shape 16"/>
          <p:cNvSpPr/>
          <p:nvPr/>
        </p:nvSpPr>
        <p:spPr>
          <a:xfrm>
            <a:off x="7818120" y="3209544"/>
            <a:ext cx="2651760" cy="320040"/>
          </a:xfrm>
          <a:prstGeom prst="chevron">
            <a:avLst/>
          </a:prstGeom>
          <a:solidFill>
            <a:srgbClr val="EBF5F6"/>
          </a:solidFill>
          <a:ln w="12700">
            <a:solidFill>
              <a:srgbClr val="D8E7EA"/>
            </a:solidFill>
            <a:prstDash val="solid"/>
          </a:ln>
        </p:spPr>
      </p:sp>
      <p:sp>
        <p:nvSpPr>
          <p:cNvPr id="19" name="Text 17"/>
          <p:cNvSpPr/>
          <p:nvPr/>
        </p:nvSpPr>
        <p:spPr>
          <a:xfrm>
            <a:off x="7973568" y="3282696"/>
            <a:ext cx="2103120" cy="137160"/>
          </a:xfrm>
          <a:prstGeom prst="rect">
            <a:avLst/>
          </a:prstGeom>
          <a:noFill/>
          <a:ln/>
        </p:spPr>
        <p:txBody>
          <a:bodyPr wrap="square" lIns="0" tIns="0" rIns="0" bIns="0" rtlCol="0" anchor="ctr"/>
          <a:lstStyle/>
          <a:p>
            <a:pPr algn="ctr" indent="0" marL="0">
              <a:buNone/>
            </a:pPr>
            <a:r>
              <a:rPr lang="en-US" sz="900" b="1" dirty="0">
                <a:solidFill>
                  <a:srgbClr val="0B1F33"/>
                </a:solidFill>
                <a:latin typeface="Aptos" pitchFamily="34" charset="0"/>
                <a:ea typeface="Aptos" pitchFamily="34" charset="-122"/>
                <a:cs typeface="Aptos" pitchFamily="34" charset="-120"/>
              </a:rPr>
              <a:t>EDA</a:t>
            </a:r>
            <a:endParaRPr lang="en-US" sz="900" dirty="0"/>
          </a:p>
        </p:txBody>
      </p:sp>
      <p:sp>
        <p:nvSpPr>
          <p:cNvPr id="20" name="Shape 18"/>
          <p:cNvSpPr/>
          <p:nvPr/>
        </p:nvSpPr>
        <p:spPr>
          <a:xfrm>
            <a:off x="7818120" y="3685032"/>
            <a:ext cx="2651760" cy="320040"/>
          </a:xfrm>
          <a:prstGeom prst="chevron">
            <a:avLst/>
          </a:prstGeom>
          <a:solidFill>
            <a:srgbClr val="EBF5F6"/>
          </a:solidFill>
          <a:ln w="12700">
            <a:solidFill>
              <a:srgbClr val="D8E7EA"/>
            </a:solidFill>
            <a:prstDash val="solid"/>
          </a:ln>
        </p:spPr>
      </p:sp>
      <p:sp>
        <p:nvSpPr>
          <p:cNvPr id="21" name="Text 19"/>
          <p:cNvSpPr/>
          <p:nvPr/>
        </p:nvSpPr>
        <p:spPr>
          <a:xfrm>
            <a:off x="7973568" y="3758184"/>
            <a:ext cx="2103120" cy="137160"/>
          </a:xfrm>
          <a:prstGeom prst="rect">
            <a:avLst/>
          </a:prstGeom>
          <a:noFill/>
          <a:ln/>
        </p:spPr>
        <p:txBody>
          <a:bodyPr wrap="square" lIns="0" tIns="0" rIns="0" bIns="0" rtlCol="0" anchor="ctr"/>
          <a:lstStyle/>
          <a:p>
            <a:pPr algn="ctr" indent="0" marL="0">
              <a:buNone/>
            </a:pPr>
            <a:r>
              <a:rPr lang="en-US" sz="900" b="1" dirty="0">
                <a:solidFill>
                  <a:srgbClr val="0B1F33"/>
                </a:solidFill>
                <a:latin typeface="Aptos" pitchFamily="34" charset="0"/>
                <a:ea typeface="Aptos" pitchFamily="34" charset="-122"/>
                <a:cs typeface="Aptos" pitchFamily="34" charset="-120"/>
              </a:rPr>
              <a:t>Modelos</a:t>
            </a:r>
            <a:endParaRPr lang="en-US" sz="900" dirty="0"/>
          </a:p>
        </p:txBody>
      </p:sp>
      <p:sp>
        <p:nvSpPr>
          <p:cNvPr id="22" name="Shape 20"/>
          <p:cNvSpPr/>
          <p:nvPr/>
        </p:nvSpPr>
        <p:spPr>
          <a:xfrm>
            <a:off x="7818120" y="4160520"/>
            <a:ext cx="2651760" cy="320040"/>
          </a:xfrm>
          <a:prstGeom prst="chevron">
            <a:avLst/>
          </a:prstGeom>
          <a:solidFill>
            <a:srgbClr val="EBF5F6"/>
          </a:solidFill>
          <a:ln w="12700">
            <a:solidFill>
              <a:srgbClr val="D8E7EA"/>
            </a:solidFill>
            <a:prstDash val="solid"/>
          </a:ln>
        </p:spPr>
      </p:sp>
      <p:sp>
        <p:nvSpPr>
          <p:cNvPr id="23" name="Text 21"/>
          <p:cNvSpPr/>
          <p:nvPr/>
        </p:nvSpPr>
        <p:spPr>
          <a:xfrm>
            <a:off x="7973568" y="4233672"/>
            <a:ext cx="2103120" cy="137160"/>
          </a:xfrm>
          <a:prstGeom prst="rect">
            <a:avLst/>
          </a:prstGeom>
          <a:noFill/>
          <a:ln/>
        </p:spPr>
        <p:txBody>
          <a:bodyPr wrap="square" lIns="0" tIns="0" rIns="0" bIns="0" rtlCol="0" anchor="ctr"/>
          <a:lstStyle/>
          <a:p>
            <a:pPr algn="ctr" indent="0" marL="0">
              <a:buNone/>
            </a:pPr>
            <a:r>
              <a:rPr lang="en-US" sz="900" b="1" dirty="0">
                <a:solidFill>
                  <a:srgbClr val="0B1F33"/>
                </a:solidFill>
                <a:latin typeface="Aptos" pitchFamily="34" charset="0"/>
                <a:ea typeface="Aptos" pitchFamily="34" charset="-122"/>
                <a:cs typeface="Aptos" pitchFamily="34" charset="-120"/>
              </a:rPr>
              <a:t>Conclusión</a:t>
            </a:r>
            <a:endParaRPr lang="en-US" sz="900" dirty="0"/>
          </a:p>
        </p:txBody>
      </p:sp>
      <p:sp>
        <p:nvSpPr>
          <p:cNvPr id="25" name="Slide Number Placeholder 0"/>
          <p:cNvSpPr>
            <a:spLocks noGrp="1"/>
          </p:cNvSpPr>
          <p:nvPr>
            <p:ph type="sldNum" sz="quarter" idx="4294967295"/>
          </p:nvPr>
        </p:nvSpPr>
        <p:spPr>
          <a:xfrm>
            <a:off x="11841480" y="6510528"/>
            <a:ext cx="800000" cy="300000"/>
          </a:xfrm>
          <a:prstGeom prst="rect">
            <a:avLst/>
          </a:prstGeom>
          <a:extLst>
            <a:ext uri="{C572A759-6A51-4108-AA02-DFA0A04FC94B}">
              <ma14:wrappingTextBoxFlag xmlns:ma14="http://schemas.microsoft.com/office/mac/drawingml/2011/main" val="0"/>
            </a:ext>
          </a:extLst>
        </p:spPr>
        <p:txBody>
          <a:bodyPr/>
          <a:lstStyle>
            <a:lvl1pPr>
              <a:defRPr sz="750">
                <a:solidFill>
                  <a:srgbClr val="607D86"/>
                </a:solidFill>
                <a:latin typeface="Aptos"/>
                <a:ea typeface="Aptos"/>
                <a:cs typeface="Aptos"/>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AFB"/>
        </a:solidFill>
      </p:bgPr>
    </p:bg>
    <p:spTree>
      <p:nvGrpSpPr>
        <p:cNvPr id="1" name=""/>
        <p:cNvGrpSpPr/>
        <p:nvPr/>
      </p:nvGrpSpPr>
      <p:grpSpPr>
        <a:xfrm>
          <a:off x="0" y="0"/>
          <a:ext cx="0" cy="0"/>
          <a:chOff x="0" y="0"/>
          <a:chExt cx="0" cy="0"/>
        </a:xfrm>
      </p:grpSpPr>
      <p:sp>
        <p:nvSpPr>
          <p:cNvPr id="2" name="Shape 0"/>
          <p:cNvSpPr/>
          <p:nvPr/>
        </p:nvSpPr>
        <p:spPr>
          <a:xfrm>
            <a:off x="10698480" y="-320040"/>
            <a:ext cx="2103120" cy="2103120"/>
          </a:xfrm>
          <a:prstGeom prst="arc">
            <a:avLst/>
          </a:prstGeom>
          <a:solidFill>
            <a:srgbClr val="DFF3F5">
              <a:alpha val="55000"/>
            </a:srgbClr>
          </a:solidFill>
          <a:ln w="12700">
            <a:solidFill>
              <a:srgbClr val="DFF3F5">
                <a:alpha val="40000"/>
              </a:srgbClr>
            </a:solidFill>
            <a:prstDash val="solid"/>
          </a:ln>
        </p:spPr>
      </p:sp>
      <p:sp>
        <p:nvSpPr>
          <p:cNvPr id="3" name="Shape 1"/>
          <p:cNvSpPr/>
          <p:nvPr/>
        </p:nvSpPr>
        <p:spPr>
          <a:xfrm rot="10800000">
            <a:off x="-822960" y="5257800"/>
            <a:ext cx="2011680" cy="2011680"/>
          </a:xfrm>
          <a:prstGeom prst="arc">
            <a:avLst/>
          </a:prstGeom>
          <a:solidFill>
            <a:srgbClr val="DDEFE7">
              <a:alpha val="55000"/>
            </a:srgbClr>
          </a:solidFill>
          <a:ln w="12700">
            <a:solidFill>
              <a:srgbClr val="DDEFE7">
                <a:alpha val="45000"/>
              </a:srgbClr>
            </a:solidFill>
            <a:prstDash val="solid"/>
          </a:ln>
        </p:spPr>
      </p:sp>
      <p:sp>
        <p:nvSpPr>
          <p:cNvPr id="4" name="Text 2"/>
          <p:cNvSpPr/>
          <p:nvPr/>
        </p:nvSpPr>
        <p:spPr>
          <a:xfrm>
            <a:off x="566928" y="384048"/>
            <a:ext cx="5029200" cy="228600"/>
          </a:xfrm>
          <a:prstGeom prst="rect">
            <a:avLst/>
          </a:prstGeom>
          <a:noFill/>
          <a:ln/>
        </p:spPr>
        <p:txBody>
          <a:bodyPr wrap="square" rtlCol="0" anchor="ctr"/>
          <a:lstStyle/>
          <a:p>
            <a:pPr indent="0" marL="0">
              <a:buNone/>
            </a:pPr>
            <a:r>
              <a:rPr lang="en-US" sz="850" b="1" dirty="0">
                <a:solidFill>
                  <a:srgbClr val="0E7C86"/>
                </a:solidFill>
                <a:latin typeface="Aptos" pitchFamily="34" charset="0"/>
                <a:ea typeface="Aptos" pitchFamily="34" charset="-122"/>
                <a:cs typeface="Aptos" pitchFamily="34" charset="-120"/>
              </a:rPr>
              <a:t>01 · OBJETIVO</a:t>
            </a:r>
            <a:endParaRPr lang="en-US" sz="850" dirty="0"/>
          </a:p>
        </p:txBody>
      </p:sp>
      <p:sp>
        <p:nvSpPr>
          <p:cNvPr id="5" name="Text 3"/>
          <p:cNvSpPr/>
          <p:nvPr/>
        </p:nvSpPr>
        <p:spPr>
          <a:xfrm>
            <a:off x="548640" y="694944"/>
            <a:ext cx="10881360" cy="502920"/>
          </a:xfrm>
          <a:prstGeom prst="rect">
            <a:avLst/>
          </a:prstGeom>
          <a:noFill/>
          <a:ln/>
        </p:spPr>
        <p:txBody>
          <a:bodyPr wrap="square" lIns="0" tIns="0" rIns="0" bIns="0" rtlCol="0" anchor="ctr"/>
          <a:lstStyle/>
          <a:p>
            <a:pPr indent="0" marL="0">
              <a:buNone/>
            </a:pPr>
            <a:r>
              <a:rPr lang="en-US" sz="2500" b="1" dirty="0">
                <a:solidFill>
                  <a:srgbClr val="0B1F33"/>
                </a:solidFill>
                <a:latin typeface="Aptos Display" pitchFamily="34" charset="0"/>
                <a:ea typeface="Aptos Display" pitchFamily="34" charset="-122"/>
                <a:cs typeface="Aptos Display" pitchFamily="34" charset="-120"/>
              </a:rPr>
              <a:t>Comprensión del problema</a:t>
            </a:r>
            <a:endParaRPr lang="en-US" sz="2500" dirty="0"/>
          </a:p>
        </p:txBody>
      </p:sp>
      <p:sp>
        <p:nvSpPr>
          <p:cNvPr id="6" name="Shape 4"/>
          <p:cNvSpPr/>
          <p:nvPr/>
        </p:nvSpPr>
        <p:spPr>
          <a:xfrm>
            <a:off x="658368" y="1417320"/>
            <a:ext cx="3429000" cy="1828800"/>
          </a:xfrm>
          <a:prstGeom prst="roundRect">
            <a:avLst>
              <a:gd name="adj" fmla="val 4000"/>
            </a:avLst>
          </a:prstGeom>
          <a:solidFill>
            <a:srgbClr val="FFFFFF"/>
          </a:solidFill>
          <a:ln w="12700">
            <a:solidFill>
              <a:srgbClr val="D8E7EA"/>
            </a:solidFill>
            <a:prstDash val="solid"/>
          </a:ln>
        </p:spPr>
      </p:sp>
      <p:sp>
        <p:nvSpPr>
          <p:cNvPr id="7" name="Text 5"/>
          <p:cNvSpPr/>
          <p:nvPr/>
        </p:nvSpPr>
        <p:spPr>
          <a:xfrm>
            <a:off x="859536" y="1554480"/>
            <a:ext cx="3026664" cy="256032"/>
          </a:xfrm>
          <a:prstGeom prst="rect">
            <a:avLst/>
          </a:prstGeom>
          <a:noFill/>
          <a:ln/>
        </p:spPr>
        <p:txBody>
          <a:bodyPr wrap="square" lIns="0" tIns="0" rIns="0" bIns="0" rtlCol="0" anchor="ctr"/>
          <a:lstStyle/>
          <a:p>
            <a:pPr indent="0" marL="0">
              <a:buNone/>
            </a:pPr>
            <a:r>
              <a:rPr lang="en-US" sz="1250" b="1" dirty="0">
                <a:solidFill>
                  <a:srgbClr val="0B1F33"/>
                </a:solidFill>
                <a:latin typeface="Aptos Display" pitchFamily="34" charset="0"/>
                <a:ea typeface="Aptos Display" pitchFamily="34" charset="-122"/>
                <a:cs typeface="Aptos Display" pitchFamily="34" charset="-120"/>
              </a:rPr>
              <a:t>Problema principal</a:t>
            </a:r>
            <a:endParaRPr lang="en-US" sz="1250" dirty="0"/>
          </a:p>
        </p:txBody>
      </p:sp>
      <p:sp>
        <p:nvSpPr>
          <p:cNvPr id="8" name="Text 6"/>
          <p:cNvSpPr/>
          <p:nvPr/>
        </p:nvSpPr>
        <p:spPr>
          <a:xfrm>
            <a:off x="859536" y="1892808"/>
            <a:ext cx="3026664" cy="1207008"/>
          </a:xfrm>
          <a:prstGeom prst="rect">
            <a:avLst/>
          </a:prstGeom>
          <a:noFill/>
          <a:ln/>
        </p:spPr>
        <p:txBody>
          <a:bodyPr wrap="square" lIns="254" tIns="254" rIns="254" bIns="254" rtlCol="0" anchor="ctr">
            <a:normAutofit/>
          </a:bodyPr>
          <a:lstStyle/>
          <a:p>
            <a:pPr indent="0" marL="0">
              <a:buNone/>
            </a:pPr>
            <a:r>
              <a:rPr lang="en-US" sz="1050" dirty="0">
                <a:solidFill>
                  <a:srgbClr val="22313F"/>
                </a:solidFill>
                <a:latin typeface="Aptos" pitchFamily="34" charset="0"/>
                <a:ea typeface="Aptos" pitchFamily="34" charset="-122"/>
                <a:cs typeface="Aptos" pitchFamily="34" charset="-120"/>
              </a:rPr>
              <a:t>Clasificar los núcleos celulares como tumores benignos (B) o malignos (M) usando la variable objetivo diagnosis.</a:t>
            </a:r>
            <a:endParaRPr lang="en-US" sz="1050" dirty="0"/>
          </a:p>
        </p:txBody>
      </p:sp>
      <p:sp>
        <p:nvSpPr>
          <p:cNvPr id="9" name="Shape 7"/>
          <p:cNvSpPr/>
          <p:nvPr/>
        </p:nvSpPr>
        <p:spPr>
          <a:xfrm>
            <a:off x="4407408" y="1417320"/>
            <a:ext cx="3429000" cy="1828800"/>
          </a:xfrm>
          <a:prstGeom prst="roundRect">
            <a:avLst>
              <a:gd name="adj" fmla="val 4000"/>
            </a:avLst>
          </a:prstGeom>
          <a:solidFill>
            <a:srgbClr val="FFFFFF"/>
          </a:solidFill>
          <a:ln w="12700">
            <a:solidFill>
              <a:srgbClr val="D8E7EA"/>
            </a:solidFill>
            <a:prstDash val="solid"/>
          </a:ln>
        </p:spPr>
      </p:sp>
      <p:sp>
        <p:nvSpPr>
          <p:cNvPr id="10" name="Text 8"/>
          <p:cNvSpPr/>
          <p:nvPr/>
        </p:nvSpPr>
        <p:spPr>
          <a:xfrm>
            <a:off x="4608576" y="1554480"/>
            <a:ext cx="3026664" cy="256032"/>
          </a:xfrm>
          <a:prstGeom prst="rect">
            <a:avLst/>
          </a:prstGeom>
          <a:noFill/>
          <a:ln/>
        </p:spPr>
        <p:txBody>
          <a:bodyPr wrap="square" lIns="0" tIns="0" rIns="0" bIns="0" rtlCol="0" anchor="ctr"/>
          <a:lstStyle/>
          <a:p>
            <a:pPr indent="0" marL="0">
              <a:buNone/>
            </a:pPr>
            <a:r>
              <a:rPr lang="en-US" sz="1250" b="1" dirty="0">
                <a:solidFill>
                  <a:srgbClr val="0B1F33"/>
                </a:solidFill>
                <a:latin typeface="Aptos Display" pitchFamily="34" charset="0"/>
                <a:ea typeface="Aptos Display" pitchFamily="34" charset="-122"/>
                <a:cs typeface="Aptos Display" pitchFamily="34" charset="-120"/>
              </a:rPr>
              <a:t>Enfoque complementario</a:t>
            </a:r>
            <a:endParaRPr lang="en-US" sz="1250" dirty="0"/>
          </a:p>
        </p:txBody>
      </p:sp>
      <p:sp>
        <p:nvSpPr>
          <p:cNvPr id="11" name="Text 9"/>
          <p:cNvSpPr/>
          <p:nvPr/>
        </p:nvSpPr>
        <p:spPr>
          <a:xfrm>
            <a:off x="4608576" y="1892808"/>
            <a:ext cx="3026664" cy="1207008"/>
          </a:xfrm>
          <a:prstGeom prst="rect">
            <a:avLst/>
          </a:prstGeom>
          <a:noFill/>
          <a:ln/>
        </p:spPr>
        <p:txBody>
          <a:bodyPr wrap="square" lIns="254" tIns="254" rIns="254" bIns="254" rtlCol="0" anchor="ctr">
            <a:normAutofit/>
          </a:bodyPr>
          <a:lstStyle/>
          <a:p>
            <a:pPr indent="0" marL="0">
              <a:buNone/>
            </a:pPr>
            <a:r>
              <a:rPr lang="en-US" sz="1050" dirty="0">
                <a:solidFill>
                  <a:srgbClr val="22313F"/>
                </a:solidFill>
                <a:latin typeface="Aptos" pitchFamily="34" charset="0"/>
                <a:ea typeface="Aptos" pitchFamily="34" charset="-122"/>
                <a:cs typeface="Aptos" pitchFamily="34" charset="-120"/>
              </a:rPr>
              <a:t>Además de la clasificación, se exploran regresión para variables continuas y modelos no supervisados como PCA y clustering.</a:t>
            </a:r>
            <a:endParaRPr lang="en-US" sz="1050" dirty="0"/>
          </a:p>
        </p:txBody>
      </p:sp>
      <p:sp>
        <p:nvSpPr>
          <p:cNvPr id="12" name="Shape 10"/>
          <p:cNvSpPr/>
          <p:nvPr/>
        </p:nvSpPr>
        <p:spPr>
          <a:xfrm>
            <a:off x="8156448" y="1417320"/>
            <a:ext cx="3429000" cy="1828800"/>
          </a:xfrm>
          <a:prstGeom prst="roundRect">
            <a:avLst>
              <a:gd name="adj" fmla="val 4000"/>
            </a:avLst>
          </a:prstGeom>
          <a:solidFill>
            <a:srgbClr val="FFFFFF"/>
          </a:solidFill>
          <a:ln w="12700">
            <a:solidFill>
              <a:srgbClr val="D8E7EA"/>
            </a:solidFill>
            <a:prstDash val="solid"/>
          </a:ln>
        </p:spPr>
      </p:sp>
      <p:sp>
        <p:nvSpPr>
          <p:cNvPr id="13" name="Text 11"/>
          <p:cNvSpPr/>
          <p:nvPr/>
        </p:nvSpPr>
        <p:spPr>
          <a:xfrm>
            <a:off x="8357616" y="1554480"/>
            <a:ext cx="3026664" cy="256032"/>
          </a:xfrm>
          <a:prstGeom prst="rect">
            <a:avLst/>
          </a:prstGeom>
          <a:noFill/>
          <a:ln/>
        </p:spPr>
        <p:txBody>
          <a:bodyPr wrap="square" lIns="0" tIns="0" rIns="0" bIns="0" rtlCol="0" anchor="ctr"/>
          <a:lstStyle/>
          <a:p>
            <a:pPr indent="0" marL="0">
              <a:buNone/>
            </a:pPr>
            <a:r>
              <a:rPr lang="en-US" sz="1250" b="1" dirty="0">
                <a:solidFill>
                  <a:srgbClr val="0B1F33"/>
                </a:solidFill>
                <a:latin typeface="Aptos Display" pitchFamily="34" charset="0"/>
                <a:ea typeface="Aptos Display" pitchFamily="34" charset="-122"/>
                <a:cs typeface="Aptos Display" pitchFamily="34" charset="-120"/>
              </a:rPr>
              <a:t>Valor del análisis</a:t>
            </a:r>
            <a:endParaRPr lang="en-US" sz="1250" dirty="0"/>
          </a:p>
        </p:txBody>
      </p:sp>
      <p:sp>
        <p:nvSpPr>
          <p:cNvPr id="14" name="Text 12"/>
          <p:cNvSpPr/>
          <p:nvPr/>
        </p:nvSpPr>
        <p:spPr>
          <a:xfrm>
            <a:off x="8357616" y="1892808"/>
            <a:ext cx="3026664" cy="1207008"/>
          </a:xfrm>
          <a:prstGeom prst="rect">
            <a:avLst/>
          </a:prstGeom>
          <a:noFill/>
          <a:ln/>
        </p:spPr>
        <p:txBody>
          <a:bodyPr wrap="square" lIns="254" tIns="254" rIns="254" bIns="254" rtlCol="0" anchor="ctr">
            <a:normAutofit/>
          </a:bodyPr>
          <a:lstStyle/>
          <a:p>
            <a:pPr indent="0" marL="0">
              <a:buNone/>
            </a:pPr>
            <a:r>
              <a:rPr lang="en-US" sz="1050" dirty="0">
                <a:solidFill>
                  <a:srgbClr val="22313F"/>
                </a:solidFill>
                <a:latin typeface="Aptos" pitchFamily="34" charset="0"/>
                <a:ea typeface="Aptos" pitchFamily="34" charset="-122"/>
                <a:cs typeface="Aptos" pitchFamily="34" charset="-120"/>
              </a:rPr>
              <a:t>No solo se busca predecir, sino interpretar patrones clínicos y comparar modelos con métricas adecuadas.</a:t>
            </a:r>
            <a:endParaRPr lang="en-US" sz="1050" dirty="0"/>
          </a:p>
        </p:txBody>
      </p:sp>
      <p:sp>
        <p:nvSpPr>
          <p:cNvPr id="15" name="Shape 13"/>
          <p:cNvSpPr/>
          <p:nvPr/>
        </p:nvSpPr>
        <p:spPr>
          <a:xfrm>
            <a:off x="1463040" y="3977640"/>
            <a:ext cx="9326880" cy="960120"/>
          </a:xfrm>
          <a:prstGeom prst="roundRect">
            <a:avLst>
              <a:gd name="adj" fmla="val 9524"/>
            </a:avLst>
          </a:prstGeom>
          <a:solidFill>
            <a:srgbClr val="DFF3F5"/>
          </a:solidFill>
          <a:ln w="15240">
            <a:solidFill>
              <a:srgbClr val="0E7C86"/>
            </a:solidFill>
            <a:prstDash val="solid"/>
          </a:ln>
        </p:spPr>
      </p:sp>
      <p:sp>
        <p:nvSpPr>
          <p:cNvPr id="16" name="Text 14"/>
          <p:cNvSpPr/>
          <p:nvPr/>
        </p:nvSpPr>
        <p:spPr>
          <a:xfrm>
            <a:off x="1828800" y="4187952"/>
            <a:ext cx="1280160" cy="256032"/>
          </a:xfrm>
          <a:prstGeom prst="rect">
            <a:avLst/>
          </a:prstGeom>
          <a:noFill/>
          <a:ln/>
        </p:spPr>
        <p:txBody>
          <a:bodyPr wrap="square" lIns="0" tIns="0" rIns="0" bIns="0" rtlCol="0" anchor="ctr"/>
          <a:lstStyle/>
          <a:p>
            <a:pPr indent="0" marL="0">
              <a:buNone/>
            </a:pPr>
            <a:r>
              <a:rPr lang="en-US" sz="1000" b="1" dirty="0">
                <a:solidFill>
                  <a:srgbClr val="0E7C86"/>
                </a:solidFill>
                <a:latin typeface="Aptos" pitchFamily="34" charset="0"/>
                <a:ea typeface="Aptos" pitchFamily="34" charset="-122"/>
                <a:cs typeface="Aptos" pitchFamily="34" charset="-120"/>
              </a:rPr>
              <a:t>Idea central</a:t>
            </a:r>
            <a:endParaRPr lang="en-US" sz="1000" dirty="0"/>
          </a:p>
        </p:txBody>
      </p:sp>
      <p:sp>
        <p:nvSpPr>
          <p:cNvPr id="17" name="Text 15"/>
          <p:cNvSpPr/>
          <p:nvPr/>
        </p:nvSpPr>
        <p:spPr>
          <a:xfrm>
            <a:off x="2907792" y="4114800"/>
            <a:ext cx="7040880" cy="411480"/>
          </a:xfrm>
          <a:prstGeom prst="rect">
            <a:avLst/>
          </a:prstGeom>
          <a:noFill/>
          <a:ln/>
        </p:spPr>
        <p:txBody>
          <a:bodyPr wrap="square" lIns="0" tIns="0" rIns="0" bIns="0" rtlCol="0" anchor="ctr">
            <a:normAutofit/>
          </a:bodyPr>
          <a:lstStyle/>
          <a:p>
            <a:pPr indent="0" marL="0">
              <a:buNone/>
            </a:pPr>
            <a:r>
              <a:rPr lang="en-US" sz="1800" b="1" dirty="0">
                <a:solidFill>
                  <a:srgbClr val="0B1F33"/>
                </a:solidFill>
                <a:latin typeface="Aptos Display" pitchFamily="34" charset="0"/>
                <a:ea typeface="Aptos Display" pitchFamily="34" charset="-122"/>
                <a:cs typeface="Aptos Display" pitchFamily="34" charset="-120"/>
              </a:rPr>
              <a:t>El objetivo no es solo acertar: en contexto médico importa reducir el error más costoso, dejar pasar un caso maligno.</a:t>
            </a:r>
            <a:endParaRPr lang="en-US" sz="1800" dirty="0"/>
          </a:p>
        </p:txBody>
      </p:sp>
      <p:sp>
        <p:nvSpPr>
          <p:cNvPr id="25" name="Slide Number Placeholder 0"/>
          <p:cNvSpPr>
            <a:spLocks noGrp="1"/>
          </p:cNvSpPr>
          <p:nvPr>
            <p:ph type="sldNum" sz="quarter" idx="4294967295"/>
          </p:nvPr>
        </p:nvSpPr>
        <p:spPr>
          <a:xfrm>
            <a:off x="11841480" y="6510528"/>
            <a:ext cx="800000" cy="300000"/>
          </a:xfrm>
          <a:prstGeom prst="rect">
            <a:avLst/>
          </a:prstGeom>
          <a:extLst>
            <a:ext uri="{C572A759-6A51-4108-AA02-DFA0A04FC94B}">
              <ma14:wrappingTextBoxFlag xmlns:ma14="http://schemas.microsoft.com/office/mac/drawingml/2011/main" val="0"/>
            </a:ext>
          </a:extLst>
        </p:spPr>
        <p:txBody>
          <a:bodyPr/>
          <a:lstStyle>
            <a:lvl1pPr>
              <a:defRPr sz="750">
                <a:solidFill>
                  <a:srgbClr val="607D86"/>
                </a:solidFill>
                <a:latin typeface="Aptos"/>
                <a:ea typeface="Aptos"/>
                <a:cs typeface="Aptos"/>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AFB"/>
        </a:solidFill>
      </p:bgPr>
    </p:bg>
    <p:spTree>
      <p:nvGrpSpPr>
        <p:cNvPr id="1" name=""/>
        <p:cNvGrpSpPr/>
        <p:nvPr/>
      </p:nvGrpSpPr>
      <p:grpSpPr>
        <a:xfrm>
          <a:off x="0" y="0"/>
          <a:ext cx="0" cy="0"/>
          <a:chOff x="0" y="0"/>
          <a:chExt cx="0" cy="0"/>
        </a:xfrm>
      </p:grpSpPr>
      <p:sp>
        <p:nvSpPr>
          <p:cNvPr id="2" name="Shape 0"/>
          <p:cNvSpPr/>
          <p:nvPr/>
        </p:nvSpPr>
        <p:spPr>
          <a:xfrm>
            <a:off x="10698480" y="-320040"/>
            <a:ext cx="2103120" cy="2103120"/>
          </a:xfrm>
          <a:prstGeom prst="arc">
            <a:avLst/>
          </a:prstGeom>
          <a:solidFill>
            <a:srgbClr val="DFF3F5">
              <a:alpha val="55000"/>
            </a:srgbClr>
          </a:solidFill>
          <a:ln w="12700">
            <a:solidFill>
              <a:srgbClr val="DFF3F5">
                <a:alpha val="40000"/>
              </a:srgbClr>
            </a:solidFill>
            <a:prstDash val="solid"/>
          </a:ln>
        </p:spPr>
      </p:sp>
      <p:sp>
        <p:nvSpPr>
          <p:cNvPr id="3" name="Shape 1"/>
          <p:cNvSpPr/>
          <p:nvPr/>
        </p:nvSpPr>
        <p:spPr>
          <a:xfrm rot="10800000">
            <a:off x="-822960" y="5257800"/>
            <a:ext cx="2011680" cy="2011680"/>
          </a:xfrm>
          <a:prstGeom prst="arc">
            <a:avLst/>
          </a:prstGeom>
          <a:solidFill>
            <a:srgbClr val="DDEFE7">
              <a:alpha val="55000"/>
            </a:srgbClr>
          </a:solidFill>
          <a:ln w="12700">
            <a:solidFill>
              <a:srgbClr val="DDEFE7">
                <a:alpha val="45000"/>
              </a:srgbClr>
            </a:solidFill>
            <a:prstDash val="solid"/>
          </a:ln>
        </p:spPr>
      </p:sp>
      <p:sp>
        <p:nvSpPr>
          <p:cNvPr id="4" name="Text 2"/>
          <p:cNvSpPr/>
          <p:nvPr/>
        </p:nvSpPr>
        <p:spPr>
          <a:xfrm>
            <a:off x="566928" y="384048"/>
            <a:ext cx="5029200" cy="228600"/>
          </a:xfrm>
          <a:prstGeom prst="rect">
            <a:avLst/>
          </a:prstGeom>
          <a:noFill/>
          <a:ln/>
        </p:spPr>
        <p:txBody>
          <a:bodyPr wrap="square" rtlCol="0" anchor="ctr"/>
          <a:lstStyle/>
          <a:p>
            <a:pPr indent="0" marL="0">
              <a:buNone/>
            </a:pPr>
            <a:r>
              <a:rPr lang="en-US" sz="850" b="1" dirty="0">
                <a:solidFill>
                  <a:srgbClr val="0E7C86"/>
                </a:solidFill>
                <a:latin typeface="Aptos" pitchFamily="34" charset="0"/>
                <a:ea typeface="Aptos" pitchFamily="34" charset="-122"/>
                <a:cs typeface="Aptos" pitchFamily="34" charset="-120"/>
              </a:rPr>
              <a:t>02 · DATOS</a:t>
            </a:r>
            <a:endParaRPr lang="en-US" sz="850" dirty="0"/>
          </a:p>
        </p:txBody>
      </p:sp>
      <p:sp>
        <p:nvSpPr>
          <p:cNvPr id="5" name="Text 3"/>
          <p:cNvSpPr/>
          <p:nvPr/>
        </p:nvSpPr>
        <p:spPr>
          <a:xfrm>
            <a:off x="548640" y="694944"/>
            <a:ext cx="10881360" cy="502920"/>
          </a:xfrm>
          <a:prstGeom prst="rect">
            <a:avLst/>
          </a:prstGeom>
          <a:noFill/>
          <a:ln/>
        </p:spPr>
        <p:txBody>
          <a:bodyPr wrap="square" lIns="0" tIns="0" rIns="0" bIns="0" rtlCol="0" anchor="ctr"/>
          <a:lstStyle/>
          <a:p>
            <a:pPr indent="0" marL="0">
              <a:buNone/>
            </a:pPr>
            <a:r>
              <a:rPr lang="en-US" sz="2500" b="1" dirty="0">
                <a:solidFill>
                  <a:srgbClr val="0B1F33"/>
                </a:solidFill>
                <a:latin typeface="Aptos Display" pitchFamily="34" charset="0"/>
                <a:ea typeface="Aptos Display" pitchFamily="34" charset="-122"/>
                <a:cs typeface="Aptos Display" pitchFamily="34" charset="-120"/>
              </a:rPr>
              <a:t>Dataset: Cancer_Data.csv</a:t>
            </a:r>
            <a:endParaRPr lang="en-US" sz="2500" dirty="0"/>
          </a:p>
        </p:txBody>
      </p:sp>
      <p:sp>
        <p:nvSpPr>
          <p:cNvPr id="6" name="Shape 4"/>
          <p:cNvSpPr/>
          <p:nvPr/>
        </p:nvSpPr>
        <p:spPr>
          <a:xfrm>
            <a:off x="640080" y="1325880"/>
            <a:ext cx="1920240" cy="1234440"/>
          </a:xfrm>
          <a:prstGeom prst="roundRect">
            <a:avLst>
              <a:gd name="adj" fmla="val 5926"/>
            </a:avLst>
          </a:prstGeom>
          <a:solidFill>
            <a:srgbClr val="FFFFFF"/>
          </a:solidFill>
          <a:ln w="12700">
            <a:solidFill>
              <a:srgbClr val="FFFFFF">
                <a:alpha val="0"/>
              </a:srgbClr>
            </a:solidFill>
            <a:prstDash val="solid"/>
          </a:ln>
        </p:spPr>
      </p:sp>
      <p:sp>
        <p:nvSpPr>
          <p:cNvPr id="7" name="Text 5"/>
          <p:cNvSpPr/>
          <p:nvPr/>
        </p:nvSpPr>
        <p:spPr>
          <a:xfrm>
            <a:off x="685800" y="1472184"/>
            <a:ext cx="1828800" cy="365760"/>
          </a:xfrm>
          <a:prstGeom prst="rect">
            <a:avLst/>
          </a:prstGeom>
          <a:noFill/>
          <a:ln/>
        </p:spPr>
        <p:txBody>
          <a:bodyPr wrap="square" lIns="0" tIns="0" rIns="0" bIns="0" rtlCol="0" anchor="ctr"/>
          <a:lstStyle/>
          <a:p>
            <a:pPr algn="ctr" indent="0" marL="0">
              <a:buNone/>
            </a:pPr>
            <a:r>
              <a:rPr lang="en-US" sz="2400" b="1" dirty="0">
                <a:solidFill>
                  <a:srgbClr val="0E7C86"/>
                </a:solidFill>
                <a:latin typeface="Aptos Display" pitchFamily="34" charset="0"/>
                <a:ea typeface="Aptos Display" pitchFamily="34" charset="-122"/>
                <a:cs typeface="Aptos Display" pitchFamily="34" charset="-120"/>
              </a:rPr>
              <a:t>569</a:t>
            </a:r>
            <a:endParaRPr lang="en-US" sz="2400" dirty="0"/>
          </a:p>
        </p:txBody>
      </p:sp>
      <p:sp>
        <p:nvSpPr>
          <p:cNvPr id="8" name="Text 6"/>
          <p:cNvSpPr/>
          <p:nvPr/>
        </p:nvSpPr>
        <p:spPr>
          <a:xfrm>
            <a:off x="749808" y="1947672"/>
            <a:ext cx="1700784" cy="411480"/>
          </a:xfrm>
          <a:prstGeom prst="rect">
            <a:avLst/>
          </a:prstGeom>
          <a:noFill/>
          <a:ln/>
        </p:spPr>
        <p:txBody>
          <a:bodyPr wrap="square" lIns="0" tIns="0" rIns="0" bIns="0" rtlCol="0" anchor="ctr">
            <a:normAutofit/>
          </a:bodyPr>
          <a:lstStyle/>
          <a:p>
            <a:pPr algn="ctr" indent="0" marL="0">
              <a:buNone/>
            </a:pPr>
            <a:r>
              <a:rPr lang="en-US" sz="850" dirty="0">
                <a:solidFill>
                  <a:srgbClr val="5C6970"/>
                </a:solidFill>
                <a:latin typeface="Aptos" pitchFamily="34" charset="0"/>
                <a:ea typeface="Aptos" pitchFamily="34" charset="-122"/>
                <a:cs typeface="Aptos" pitchFamily="34" charset="-120"/>
              </a:rPr>
              <a:t>registros</a:t>
            </a:r>
            <a:endParaRPr lang="en-US" sz="850" dirty="0"/>
          </a:p>
        </p:txBody>
      </p:sp>
      <p:sp>
        <p:nvSpPr>
          <p:cNvPr id="9" name="Shape 7"/>
          <p:cNvSpPr/>
          <p:nvPr/>
        </p:nvSpPr>
        <p:spPr>
          <a:xfrm>
            <a:off x="2788920" y="1325880"/>
            <a:ext cx="1920240" cy="1234440"/>
          </a:xfrm>
          <a:prstGeom prst="roundRect">
            <a:avLst>
              <a:gd name="adj" fmla="val 5926"/>
            </a:avLst>
          </a:prstGeom>
          <a:solidFill>
            <a:srgbClr val="FFFFFF"/>
          </a:solidFill>
          <a:ln w="12700">
            <a:solidFill>
              <a:srgbClr val="FFFFFF">
                <a:alpha val="0"/>
              </a:srgbClr>
            </a:solidFill>
            <a:prstDash val="solid"/>
          </a:ln>
        </p:spPr>
      </p:sp>
      <p:sp>
        <p:nvSpPr>
          <p:cNvPr id="10" name="Text 8"/>
          <p:cNvSpPr/>
          <p:nvPr/>
        </p:nvSpPr>
        <p:spPr>
          <a:xfrm>
            <a:off x="2834640" y="1472184"/>
            <a:ext cx="1828800" cy="365760"/>
          </a:xfrm>
          <a:prstGeom prst="rect">
            <a:avLst/>
          </a:prstGeom>
          <a:noFill/>
          <a:ln/>
        </p:spPr>
        <p:txBody>
          <a:bodyPr wrap="square" lIns="0" tIns="0" rIns="0" bIns="0" rtlCol="0" anchor="ctr"/>
          <a:lstStyle/>
          <a:p>
            <a:pPr algn="ctr" indent="0" marL="0">
              <a:buNone/>
            </a:pPr>
            <a:r>
              <a:rPr lang="en-US" sz="2400" b="1" dirty="0">
                <a:solidFill>
                  <a:srgbClr val="0E7C86"/>
                </a:solidFill>
                <a:latin typeface="Aptos Display" pitchFamily="34" charset="0"/>
                <a:ea typeface="Aptos Display" pitchFamily="34" charset="-122"/>
                <a:cs typeface="Aptos Display" pitchFamily="34" charset="-120"/>
              </a:rPr>
              <a:t>31</a:t>
            </a:r>
            <a:endParaRPr lang="en-US" sz="2400" dirty="0"/>
          </a:p>
        </p:txBody>
      </p:sp>
      <p:sp>
        <p:nvSpPr>
          <p:cNvPr id="11" name="Text 9"/>
          <p:cNvSpPr/>
          <p:nvPr/>
        </p:nvSpPr>
        <p:spPr>
          <a:xfrm>
            <a:off x="2898648" y="1947672"/>
            <a:ext cx="1700784" cy="411480"/>
          </a:xfrm>
          <a:prstGeom prst="rect">
            <a:avLst/>
          </a:prstGeom>
          <a:noFill/>
          <a:ln/>
        </p:spPr>
        <p:txBody>
          <a:bodyPr wrap="square" lIns="0" tIns="0" rIns="0" bIns="0" rtlCol="0" anchor="ctr">
            <a:normAutofit/>
          </a:bodyPr>
          <a:lstStyle/>
          <a:p>
            <a:pPr algn="ctr" indent="0" marL="0">
              <a:buNone/>
            </a:pPr>
            <a:r>
              <a:rPr lang="en-US" sz="850" dirty="0">
                <a:solidFill>
                  <a:srgbClr val="5C6970"/>
                </a:solidFill>
                <a:latin typeface="Aptos" pitchFamily="34" charset="0"/>
                <a:ea typeface="Aptos" pitchFamily="34" charset="-122"/>
                <a:cs typeface="Aptos" pitchFamily="34" charset="-120"/>
              </a:rPr>
              <a:t>columnas limpias</a:t>
            </a:r>
            <a:endParaRPr lang="en-US" sz="850" dirty="0"/>
          </a:p>
        </p:txBody>
      </p:sp>
      <p:sp>
        <p:nvSpPr>
          <p:cNvPr id="12" name="Shape 10"/>
          <p:cNvSpPr/>
          <p:nvPr/>
        </p:nvSpPr>
        <p:spPr>
          <a:xfrm>
            <a:off x="4937760" y="1325880"/>
            <a:ext cx="1920240" cy="1234440"/>
          </a:xfrm>
          <a:prstGeom prst="roundRect">
            <a:avLst>
              <a:gd name="adj" fmla="val 5926"/>
            </a:avLst>
          </a:prstGeom>
          <a:solidFill>
            <a:srgbClr val="FFFFFF"/>
          </a:solidFill>
          <a:ln w="12700">
            <a:solidFill>
              <a:srgbClr val="FFFFFF">
                <a:alpha val="0"/>
              </a:srgbClr>
            </a:solidFill>
            <a:prstDash val="solid"/>
          </a:ln>
        </p:spPr>
      </p:sp>
      <p:sp>
        <p:nvSpPr>
          <p:cNvPr id="13" name="Text 11"/>
          <p:cNvSpPr/>
          <p:nvPr/>
        </p:nvSpPr>
        <p:spPr>
          <a:xfrm>
            <a:off x="4983480" y="1472184"/>
            <a:ext cx="1828800" cy="365760"/>
          </a:xfrm>
          <a:prstGeom prst="rect">
            <a:avLst/>
          </a:prstGeom>
          <a:noFill/>
          <a:ln/>
        </p:spPr>
        <p:txBody>
          <a:bodyPr wrap="square" lIns="0" tIns="0" rIns="0" bIns="0" rtlCol="0" anchor="ctr"/>
          <a:lstStyle/>
          <a:p>
            <a:pPr algn="ctr" indent="0" marL="0">
              <a:buNone/>
            </a:pPr>
            <a:r>
              <a:rPr lang="en-US" sz="2400" b="1" dirty="0">
                <a:solidFill>
                  <a:srgbClr val="0E7C86"/>
                </a:solidFill>
                <a:latin typeface="Aptos Display" pitchFamily="34" charset="0"/>
                <a:ea typeface="Aptos Display" pitchFamily="34" charset="-122"/>
                <a:cs typeface="Aptos Display" pitchFamily="34" charset="-120"/>
              </a:rPr>
              <a:t>diagnosis</a:t>
            </a:r>
            <a:endParaRPr lang="en-US" sz="2400" dirty="0"/>
          </a:p>
        </p:txBody>
      </p:sp>
      <p:sp>
        <p:nvSpPr>
          <p:cNvPr id="14" name="Text 12"/>
          <p:cNvSpPr/>
          <p:nvPr/>
        </p:nvSpPr>
        <p:spPr>
          <a:xfrm>
            <a:off x="5047488" y="1947672"/>
            <a:ext cx="1700784" cy="411480"/>
          </a:xfrm>
          <a:prstGeom prst="rect">
            <a:avLst/>
          </a:prstGeom>
          <a:noFill/>
          <a:ln/>
        </p:spPr>
        <p:txBody>
          <a:bodyPr wrap="square" lIns="0" tIns="0" rIns="0" bIns="0" rtlCol="0" anchor="ctr">
            <a:normAutofit/>
          </a:bodyPr>
          <a:lstStyle/>
          <a:p>
            <a:pPr algn="ctr" indent="0" marL="0">
              <a:buNone/>
            </a:pPr>
            <a:r>
              <a:rPr lang="en-US" sz="850" dirty="0">
                <a:solidFill>
                  <a:srgbClr val="5C6970"/>
                </a:solidFill>
                <a:latin typeface="Aptos" pitchFamily="34" charset="0"/>
                <a:ea typeface="Aptos" pitchFamily="34" charset="-122"/>
                <a:cs typeface="Aptos" pitchFamily="34" charset="-120"/>
              </a:rPr>
              <a:t>variable objetivo</a:t>
            </a:r>
            <a:endParaRPr lang="en-US" sz="850" dirty="0"/>
          </a:p>
        </p:txBody>
      </p:sp>
      <p:pic>
        <p:nvPicPr>
          <p:cNvPr id="15" name="Image 0" descr="/mnt/data/ppt_assets/diagnosis_counts.png">    </p:cNvPr>
          <p:cNvPicPr>
            <a:picLocks noChangeAspect="1"/>
          </p:cNvPicPr>
          <p:nvPr/>
        </p:nvPicPr>
        <p:blipFill>
          <a:blip r:embed="rId1"/>
          <a:stretch>
            <a:fillRect/>
          </a:stretch>
        </p:blipFill>
        <p:spPr>
          <a:xfrm>
            <a:off x="7315200" y="1143000"/>
            <a:ext cx="4069080" cy="2743200"/>
          </a:xfrm>
          <a:prstGeom prst="rect">
            <a:avLst/>
          </a:prstGeom>
        </p:spPr>
      </p:pic>
      <p:sp>
        <p:nvSpPr>
          <p:cNvPr id="16" name="Shape 13"/>
          <p:cNvSpPr/>
          <p:nvPr/>
        </p:nvSpPr>
        <p:spPr>
          <a:xfrm>
            <a:off x="685800" y="3063240"/>
            <a:ext cx="5440680" cy="2240280"/>
          </a:xfrm>
          <a:prstGeom prst="roundRect">
            <a:avLst>
              <a:gd name="adj" fmla="val 3265"/>
            </a:avLst>
          </a:prstGeom>
          <a:solidFill>
            <a:srgbClr val="FFFFFF"/>
          </a:solidFill>
          <a:ln w="12700">
            <a:solidFill>
              <a:srgbClr val="D8E7EA"/>
            </a:solidFill>
            <a:prstDash val="solid"/>
          </a:ln>
        </p:spPr>
      </p:sp>
      <p:sp>
        <p:nvSpPr>
          <p:cNvPr id="17" name="Text 14"/>
          <p:cNvSpPr/>
          <p:nvPr/>
        </p:nvSpPr>
        <p:spPr>
          <a:xfrm>
            <a:off x="886968" y="3200400"/>
            <a:ext cx="5038344" cy="256032"/>
          </a:xfrm>
          <a:prstGeom prst="rect">
            <a:avLst/>
          </a:prstGeom>
          <a:noFill/>
          <a:ln/>
        </p:spPr>
        <p:txBody>
          <a:bodyPr wrap="square" lIns="0" tIns="0" rIns="0" bIns="0" rtlCol="0" anchor="ctr"/>
          <a:lstStyle/>
          <a:p>
            <a:pPr indent="0" marL="0">
              <a:buNone/>
            </a:pPr>
            <a:r>
              <a:rPr lang="en-US" sz="1250" b="1" dirty="0">
                <a:solidFill>
                  <a:srgbClr val="0B1F33"/>
                </a:solidFill>
                <a:latin typeface="Aptos Display" pitchFamily="34" charset="0"/>
                <a:ea typeface="Aptos Display" pitchFamily="34" charset="-122"/>
                <a:cs typeface="Aptos Display" pitchFamily="34" charset="-120"/>
              </a:rPr>
              <a:t>Variables predictoras</a:t>
            </a:r>
            <a:endParaRPr lang="en-US" sz="1250" dirty="0"/>
          </a:p>
        </p:txBody>
      </p:sp>
      <p:sp>
        <p:nvSpPr>
          <p:cNvPr id="18" name="Text 15"/>
          <p:cNvSpPr/>
          <p:nvPr/>
        </p:nvSpPr>
        <p:spPr>
          <a:xfrm>
            <a:off x="886968" y="3538728"/>
            <a:ext cx="5038344" cy="1618488"/>
          </a:xfrm>
          <a:prstGeom prst="rect">
            <a:avLst/>
          </a:prstGeom>
          <a:noFill/>
          <a:ln/>
        </p:spPr>
        <p:txBody>
          <a:bodyPr wrap="square" lIns="254" tIns="254" rIns="254" bIns="254" rtlCol="0" anchor="ctr">
            <a:normAutofit/>
          </a:bodyPr>
          <a:lstStyle/>
          <a:p>
            <a:pPr indent="0" marL="0">
              <a:buNone/>
            </a:pPr>
            <a:r>
              <a:rPr lang="en-US" sz="1300" dirty="0">
                <a:solidFill>
                  <a:srgbClr val="22313F"/>
                </a:solidFill>
                <a:latin typeface="Aptos" pitchFamily="34" charset="0"/>
                <a:ea typeface="Aptos" pitchFamily="34" charset="-122"/>
                <a:cs typeface="Aptos" pitchFamily="34" charset="-120"/>
              </a:rPr>
              <a:t>Mediciones numéricas del tumor: radio, textura, perímetro, área, suavidad, compacidad, concavidad, puntos cóncavos, simetría y dimensión fractal.</a:t>
            </a:r>
            <a:endParaRPr lang="en-US" sz="1300" dirty="0"/>
          </a:p>
        </p:txBody>
      </p:sp>
      <p:sp>
        <p:nvSpPr>
          <p:cNvPr id="19" name="Shape 16"/>
          <p:cNvSpPr/>
          <p:nvPr/>
        </p:nvSpPr>
        <p:spPr>
          <a:xfrm>
            <a:off x="6629400" y="4069080"/>
            <a:ext cx="4663440" cy="1234440"/>
          </a:xfrm>
          <a:prstGeom prst="roundRect">
            <a:avLst>
              <a:gd name="adj" fmla="val 5926"/>
            </a:avLst>
          </a:prstGeom>
          <a:solidFill>
            <a:srgbClr val="FFFFFF"/>
          </a:solidFill>
          <a:ln w="12700">
            <a:solidFill>
              <a:srgbClr val="D8E7EA"/>
            </a:solidFill>
            <a:prstDash val="solid"/>
          </a:ln>
        </p:spPr>
      </p:sp>
      <p:sp>
        <p:nvSpPr>
          <p:cNvPr id="20" name="Text 17"/>
          <p:cNvSpPr/>
          <p:nvPr/>
        </p:nvSpPr>
        <p:spPr>
          <a:xfrm>
            <a:off x="6830568" y="4206240"/>
            <a:ext cx="4261104" cy="256032"/>
          </a:xfrm>
          <a:prstGeom prst="rect">
            <a:avLst/>
          </a:prstGeom>
          <a:noFill/>
          <a:ln/>
        </p:spPr>
        <p:txBody>
          <a:bodyPr wrap="square" lIns="0" tIns="0" rIns="0" bIns="0" rtlCol="0" anchor="ctr"/>
          <a:lstStyle/>
          <a:p>
            <a:pPr indent="0" marL="0">
              <a:buNone/>
            </a:pPr>
            <a:r>
              <a:rPr lang="en-US" sz="1250" b="1" dirty="0">
                <a:solidFill>
                  <a:srgbClr val="0B1F33"/>
                </a:solidFill>
                <a:latin typeface="Aptos Display" pitchFamily="34" charset="0"/>
                <a:ea typeface="Aptos Display" pitchFamily="34" charset="-122"/>
                <a:cs typeface="Aptos Display" pitchFamily="34" charset="-120"/>
              </a:rPr>
              <a:t>Lectura del diagnóstico</a:t>
            </a:r>
            <a:endParaRPr lang="en-US" sz="1250" dirty="0"/>
          </a:p>
        </p:txBody>
      </p:sp>
      <p:sp>
        <p:nvSpPr>
          <p:cNvPr id="21" name="Text 18"/>
          <p:cNvSpPr/>
          <p:nvPr/>
        </p:nvSpPr>
        <p:spPr>
          <a:xfrm>
            <a:off x="6830568" y="4544568"/>
            <a:ext cx="4261104" cy="612648"/>
          </a:xfrm>
          <a:prstGeom prst="rect">
            <a:avLst/>
          </a:prstGeom>
          <a:noFill/>
          <a:ln/>
        </p:spPr>
        <p:txBody>
          <a:bodyPr wrap="square" lIns="254" tIns="254" rIns="254" bIns="254" rtlCol="0" anchor="ctr">
            <a:normAutofit/>
          </a:bodyPr>
          <a:lstStyle/>
          <a:p>
            <a:pPr indent="0" marL="0">
              <a:buNone/>
            </a:pPr>
            <a:r>
              <a:rPr lang="en-US" sz="1400" dirty="0">
                <a:solidFill>
                  <a:srgbClr val="22313F"/>
                </a:solidFill>
                <a:latin typeface="Aptos" pitchFamily="34" charset="0"/>
                <a:ea typeface="Aptos" pitchFamily="34" charset="-122"/>
                <a:cs typeface="Aptos" pitchFamily="34" charset="-120"/>
              </a:rPr>
              <a:t>B = Benigno</a:t>
            </a:r>
            <a:endParaRPr lang="en-US" sz="1400" dirty="0"/>
          </a:p>
          <a:p>
            <a:pPr indent="0" marL="0">
              <a:buNone/>
            </a:pPr>
            <a:r>
              <a:rPr lang="en-US" sz="1400" dirty="0">
                <a:solidFill>
                  <a:srgbClr val="22313F"/>
                </a:solidFill>
                <a:latin typeface="Aptos" pitchFamily="34" charset="0"/>
                <a:ea typeface="Aptos" pitchFamily="34" charset="-122"/>
                <a:cs typeface="Aptos" pitchFamily="34" charset="-120"/>
              </a:rPr>
              <a:t>M = Maligno</a:t>
            </a:r>
            <a:endParaRPr lang="en-US" sz="1400" dirty="0"/>
          </a:p>
        </p:txBody>
      </p:sp>
      <p:sp>
        <p:nvSpPr>
          <p:cNvPr id="25" name="Slide Number Placeholder 0"/>
          <p:cNvSpPr>
            <a:spLocks noGrp="1"/>
          </p:cNvSpPr>
          <p:nvPr>
            <p:ph type="sldNum" sz="quarter" idx="4294967295"/>
          </p:nvPr>
        </p:nvSpPr>
        <p:spPr>
          <a:xfrm>
            <a:off x="11841480" y="6510528"/>
            <a:ext cx="800000" cy="300000"/>
          </a:xfrm>
          <a:prstGeom prst="rect">
            <a:avLst/>
          </a:prstGeom>
          <a:extLst>
            <a:ext uri="{C572A759-6A51-4108-AA02-DFA0A04FC94B}">
              <ma14:wrappingTextBoxFlag xmlns:ma14="http://schemas.microsoft.com/office/mac/drawingml/2011/main" val="0"/>
            </a:ext>
          </a:extLst>
        </p:spPr>
        <p:txBody>
          <a:bodyPr/>
          <a:lstStyle>
            <a:lvl1pPr>
              <a:defRPr sz="750">
                <a:solidFill>
                  <a:srgbClr val="607D86"/>
                </a:solidFill>
                <a:latin typeface="Aptos"/>
                <a:ea typeface="Aptos"/>
                <a:cs typeface="Aptos"/>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AFB"/>
        </a:solidFill>
      </p:bgPr>
    </p:bg>
    <p:spTree>
      <p:nvGrpSpPr>
        <p:cNvPr id="1" name=""/>
        <p:cNvGrpSpPr/>
        <p:nvPr/>
      </p:nvGrpSpPr>
      <p:grpSpPr>
        <a:xfrm>
          <a:off x="0" y="0"/>
          <a:ext cx="0" cy="0"/>
          <a:chOff x="0" y="0"/>
          <a:chExt cx="0" cy="0"/>
        </a:xfrm>
      </p:grpSpPr>
      <p:sp>
        <p:nvSpPr>
          <p:cNvPr id="2" name="Shape 0"/>
          <p:cNvSpPr/>
          <p:nvPr/>
        </p:nvSpPr>
        <p:spPr>
          <a:xfrm>
            <a:off x="10698480" y="-320040"/>
            <a:ext cx="2103120" cy="2103120"/>
          </a:xfrm>
          <a:prstGeom prst="arc">
            <a:avLst/>
          </a:prstGeom>
          <a:solidFill>
            <a:srgbClr val="DFF3F5">
              <a:alpha val="55000"/>
            </a:srgbClr>
          </a:solidFill>
          <a:ln w="12700">
            <a:solidFill>
              <a:srgbClr val="DFF3F5">
                <a:alpha val="40000"/>
              </a:srgbClr>
            </a:solidFill>
            <a:prstDash val="solid"/>
          </a:ln>
        </p:spPr>
      </p:sp>
      <p:sp>
        <p:nvSpPr>
          <p:cNvPr id="3" name="Shape 1"/>
          <p:cNvSpPr/>
          <p:nvPr/>
        </p:nvSpPr>
        <p:spPr>
          <a:xfrm rot="10800000">
            <a:off x="-822960" y="5257800"/>
            <a:ext cx="2011680" cy="2011680"/>
          </a:xfrm>
          <a:prstGeom prst="arc">
            <a:avLst/>
          </a:prstGeom>
          <a:solidFill>
            <a:srgbClr val="DDEFE7">
              <a:alpha val="55000"/>
            </a:srgbClr>
          </a:solidFill>
          <a:ln w="12700">
            <a:solidFill>
              <a:srgbClr val="DDEFE7">
                <a:alpha val="45000"/>
              </a:srgbClr>
            </a:solidFill>
            <a:prstDash val="solid"/>
          </a:ln>
        </p:spPr>
      </p:sp>
      <p:sp>
        <p:nvSpPr>
          <p:cNvPr id="4" name="Text 2"/>
          <p:cNvSpPr/>
          <p:nvPr/>
        </p:nvSpPr>
        <p:spPr>
          <a:xfrm>
            <a:off x="566928" y="384048"/>
            <a:ext cx="5029200" cy="228600"/>
          </a:xfrm>
          <a:prstGeom prst="rect">
            <a:avLst/>
          </a:prstGeom>
          <a:noFill/>
          <a:ln/>
        </p:spPr>
        <p:txBody>
          <a:bodyPr wrap="square" rtlCol="0" anchor="ctr"/>
          <a:lstStyle/>
          <a:p>
            <a:pPr indent="0" marL="0">
              <a:buNone/>
            </a:pPr>
            <a:r>
              <a:rPr lang="en-US" sz="850" b="1" dirty="0">
                <a:solidFill>
                  <a:srgbClr val="0E7C86"/>
                </a:solidFill>
                <a:latin typeface="Aptos" pitchFamily="34" charset="0"/>
                <a:ea typeface="Aptos" pitchFamily="34" charset="-122"/>
                <a:cs typeface="Aptos" pitchFamily="34" charset="-120"/>
              </a:rPr>
              <a:t>03 · VARIABLES</a:t>
            </a:r>
            <a:endParaRPr lang="en-US" sz="850" dirty="0"/>
          </a:p>
        </p:txBody>
      </p:sp>
      <p:sp>
        <p:nvSpPr>
          <p:cNvPr id="5" name="Text 3"/>
          <p:cNvSpPr/>
          <p:nvPr/>
        </p:nvSpPr>
        <p:spPr>
          <a:xfrm>
            <a:off x="548640" y="694944"/>
            <a:ext cx="10881360" cy="502920"/>
          </a:xfrm>
          <a:prstGeom prst="rect">
            <a:avLst/>
          </a:prstGeom>
          <a:noFill/>
          <a:ln/>
        </p:spPr>
        <p:txBody>
          <a:bodyPr wrap="square" lIns="0" tIns="0" rIns="0" bIns="0" rtlCol="0" anchor="ctr"/>
          <a:lstStyle/>
          <a:p>
            <a:pPr indent="0" marL="0">
              <a:buNone/>
            </a:pPr>
            <a:r>
              <a:rPr lang="en-US" sz="2500" b="1" dirty="0">
                <a:solidFill>
                  <a:srgbClr val="0B1F33"/>
                </a:solidFill>
                <a:latin typeface="Aptos Display" pitchFamily="34" charset="0"/>
                <a:ea typeface="Aptos Display" pitchFamily="34" charset="-122"/>
                <a:cs typeface="Aptos Display" pitchFamily="34" charset="-120"/>
              </a:rPr>
              <a:t>Diccionario y estructura de variables</a:t>
            </a:r>
            <a:endParaRPr lang="en-US" sz="25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777240" y="1371600"/>
          <a:ext cx="5577840" cy="1920240"/>
        </p:xfrm>
        <a:graphic>
          <a:graphicData uri="http://schemas.openxmlformats.org/drawingml/2006/table">
            <a:tbl>
              <a:tblPr/>
              <a:tblGrid>
                <a:gridCol w="1859280"/>
                <a:gridCol w="1859280"/>
                <a:gridCol w="1859280"/>
              </a:tblGrid>
              <a:tr h="480060">
                <a:tc>
                  <a:txBody>
                    <a:bodyPr/>
                    <a:lstStyle/>
                    <a:p>
                      <a:pPr indent="0" marL="0">
                        <a:buNone/>
                      </a:pPr>
                      <a:r>
                        <a:rPr lang="en-US" sz="1200" b="1" dirty="0">
                          <a:solidFill>
                            <a:srgbClr val="FFFFFF"/>
                          </a:solidFill>
                          <a:latin typeface="Aptos" pitchFamily="34" charset="0"/>
                          <a:ea typeface="Aptos" pitchFamily="34" charset="-122"/>
                          <a:cs typeface="Aptos" pitchFamily="34" charset="-120"/>
                        </a:rPr>
                        <a:t>Sufijo</a:t>
                      </a:r>
                      <a:endParaRPr lang="en-US" sz="1200" dirty="0">
                        <a:latin typeface="Aptos" charset="0"/>
                        <a:ea typeface="Aptos" charset="0"/>
                        <a:cs typeface="Aptos" charset="0"/>
                      </a:endParaRPr>
                    </a:p>
                  </a:txBody>
                  <a:tcPr marL="73152" marR="73152" marT="73152" marB="73152">
                    <a:lnL w="12700" cap="flat" cmpd="sng" algn="ctr">
                      <a:solidFill>
                        <a:srgbClr val="D8E7EA"/>
                      </a:solidFill>
                      <a:prstDash val="solid"/>
                      <a:round/>
                      <a:headEnd type="none" w="med" len="med"/>
                      <a:tailEnd type="none" w="med" len="med"/>
                    </a:lnL>
                    <a:lnR w="12700" cap="flat" cmpd="sng" algn="ctr">
                      <a:solidFill>
                        <a:srgbClr val="D8E7EA"/>
                      </a:solidFill>
                      <a:prstDash val="solid"/>
                      <a:round/>
                      <a:headEnd type="none" w="med" len="med"/>
                      <a:tailEnd type="none" w="med" len="med"/>
                    </a:lnR>
                    <a:lnT w="12700" cap="flat" cmpd="sng" algn="ctr">
                      <a:solidFill>
                        <a:srgbClr val="D8E7EA"/>
                      </a:solidFill>
                      <a:prstDash val="solid"/>
                      <a:round/>
                      <a:headEnd type="none" w="med" len="med"/>
                      <a:tailEnd type="none" w="med" len="med"/>
                    </a:lnT>
                    <a:lnB w="12700" cap="flat" cmpd="sng" algn="ctr">
                      <a:solidFill>
                        <a:srgbClr val="D8E7EA"/>
                      </a:solidFill>
                      <a:prstDash val="solid"/>
                      <a:round/>
                      <a:headEnd type="none" w="med" len="med"/>
                      <a:tailEnd type="none" w="med" len="med"/>
                    </a:lnB>
                    <a:solidFill>
                      <a:srgbClr val="FFFFFF"/>
                    </a:solidFill>
                  </a:tcPr>
                </a:tc>
                <a:tc>
                  <a:txBody>
                    <a:bodyPr/>
                    <a:lstStyle/>
                    <a:p>
                      <a:pPr indent="0" marL="0">
                        <a:buNone/>
                      </a:pPr>
                      <a:r>
                        <a:rPr lang="en-US" sz="1200" b="1" dirty="0">
                          <a:solidFill>
                            <a:srgbClr val="FFFFFF"/>
                          </a:solidFill>
                          <a:latin typeface="Aptos" pitchFamily="34" charset="0"/>
                          <a:ea typeface="Aptos" pitchFamily="34" charset="-122"/>
                          <a:cs typeface="Aptos" pitchFamily="34" charset="-120"/>
                        </a:rPr>
                        <a:t>Significado</a:t>
                      </a:r>
                      <a:endParaRPr lang="en-US" sz="1200" dirty="0">
                        <a:latin typeface="Aptos" charset="0"/>
                        <a:ea typeface="Aptos" charset="0"/>
                        <a:cs typeface="Aptos" charset="0"/>
                      </a:endParaRPr>
                    </a:p>
                  </a:txBody>
                  <a:tcPr marL="73152" marR="73152" marT="73152" marB="73152">
                    <a:lnL w="12700" cap="flat" cmpd="sng" algn="ctr">
                      <a:solidFill>
                        <a:srgbClr val="D8E7EA"/>
                      </a:solidFill>
                      <a:prstDash val="solid"/>
                      <a:round/>
                      <a:headEnd type="none" w="med" len="med"/>
                      <a:tailEnd type="none" w="med" len="med"/>
                    </a:lnL>
                    <a:lnR w="12700" cap="flat" cmpd="sng" algn="ctr">
                      <a:solidFill>
                        <a:srgbClr val="D8E7EA"/>
                      </a:solidFill>
                      <a:prstDash val="solid"/>
                      <a:round/>
                      <a:headEnd type="none" w="med" len="med"/>
                      <a:tailEnd type="none" w="med" len="med"/>
                    </a:lnR>
                    <a:lnT w="12700" cap="flat" cmpd="sng" algn="ctr">
                      <a:solidFill>
                        <a:srgbClr val="D8E7EA"/>
                      </a:solidFill>
                      <a:prstDash val="solid"/>
                      <a:round/>
                      <a:headEnd type="none" w="med" len="med"/>
                      <a:tailEnd type="none" w="med" len="med"/>
                    </a:lnT>
                    <a:lnB w="12700" cap="flat" cmpd="sng" algn="ctr">
                      <a:solidFill>
                        <a:srgbClr val="D8E7EA"/>
                      </a:solidFill>
                      <a:prstDash val="solid"/>
                      <a:round/>
                      <a:headEnd type="none" w="med" len="med"/>
                      <a:tailEnd type="none" w="med" len="med"/>
                    </a:lnB>
                    <a:solidFill>
                      <a:srgbClr val="FFFFFF"/>
                    </a:solidFill>
                  </a:tcPr>
                </a:tc>
                <a:tc>
                  <a:txBody>
                    <a:bodyPr/>
                    <a:lstStyle/>
                    <a:p>
                      <a:pPr indent="0" marL="0">
                        <a:buNone/>
                      </a:pPr>
                      <a:r>
                        <a:rPr lang="en-US" sz="1200" b="1" dirty="0">
                          <a:solidFill>
                            <a:srgbClr val="FFFFFF"/>
                          </a:solidFill>
                          <a:latin typeface="Aptos" pitchFamily="34" charset="0"/>
                          <a:ea typeface="Aptos" pitchFamily="34" charset="-122"/>
                          <a:cs typeface="Aptos" pitchFamily="34" charset="-120"/>
                        </a:rPr>
                        <a:t>Ejemplo</a:t>
                      </a:r>
                      <a:endParaRPr lang="en-US" sz="1200" dirty="0">
                        <a:latin typeface="Aptos" charset="0"/>
                        <a:ea typeface="Aptos" charset="0"/>
                        <a:cs typeface="Aptos" charset="0"/>
                      </a:endParaRPr>
                    </a:p>
                  </a:txBody>
                  <a:tcPr marL="73152" marR="73152" marT="73152" marB="73152">
                    <a:lnL w="12700" cap="flat" cmpd="sng" algn="ctr">
                      <a:solidFill>
                        <a:srgbClr val="D8E7EA"/>
                      </a:solidFill>
                      <a:prstDash val="solid"/>
                      <a:round/>
                      <a:headEnd type="none" w="med" len="med"/>
                      <a:tailEnd type="none" w="med" len="med"/>
                    </a:lnL>
                    <a:lnR w="12700" cap="flat" cmpd="sng" algn="ctr">
                      <a:solidFill>
                        <a:srgbClr val="D8E7EA"/>
                      </a:solidFill>
                      <a:prstDash val="solid"/>
                      <a:round/>
                      <a:headEnd type="none" w="med" len="med"/>
                      <a:tailEnd type="none" w="med" len="med"/>
                    </a:lnR>
                    <a:lnT w="12700" cap="flat" cmpd="sng" algn="ctr">
                      <a:solidFill>
                        <a:srgbClr val="D8E7EA"/>
                      </a:solidFill>
                      <a:prstDash val="solid"/>
                      <a:round/>
                      <a:headEnd type="none" w="med" len="med"/>
                      <a:tailEnd type="none" w="med" len="med"/>
                    </a:lnT>
                    <a:lnB w="12700" cap="flat" cmpd="sng" algn="ctr">
                      <a:solidFill>
                        <a:srgbClr val="D8E7EA"/>
                      </a:solidFill>
                      <a:prstDash val="solid"/>
                      <a:round/>
                      <a:headEnd type="none" w="med" len="med"/>
                      <a:tailEnd type="none" w="med" len="med"/>
                    </a:lnB>
                    <a:solidFill>
                      <a:srgbClr val="FFFFFF"/>
                    </a:solidFill>
                  </a:tcPr>
                </a:tc>
              </a:tr>
              <a:tr h="480060">
                <a:tc>
                  <a:txBody>
                    <a:bodyPr/>
                    <a:lstStyle/>
                    <a:p>
                      <a:pPr indent="0" marL="0">
                        <a:buNone/>
                      </a:pPr>
                      <a:r>
                        <a:rPr lang="en-US" sz="1200" dirty="0">
                          <a:solidFill>
                            <a:srgbClr val="22313F"/>
                          </a:solidFill>
                          <a:latin typeface="Aptos" pitchFamily="34" charset="0"/>
                          <a:ea typeface="Aptos" pitchFamily="34" charset="-122"/>
                          <a:cs typeface="Aptos" pitchFamily="34" charset="-120"/>
                        </a:rPr>
                        <a:t>_mean</a:t>
                      </a:r>
                      <a:endParaRPr lang="en-US" sz="1200" dirty="0">
                        <a:latin typeface="Aptos" charset="0"/>
                        <a:ea typeface="Aptos" charset="0"/>
                        <a:cs typeface="Aptos" charset="0"/>
                      </a:endParaRPr>
                    </a:p>
                  </a:txBody>
                  <a:tcPr marL="73152" marR="73152" marT="73152" marB="73152">
                    <a:lnL w="12700" cap="flat" cmpd="sng" algn="ctr">
                      <a:solidFill>
                        <a:srgbClr val="D8E7EA"/>
                      </a:solidFill>
                      <a:prstDash val="solid"/>
                      <a:round/>
                      <a:headEnd type="none" w="med" len="med"/>
                      <a:tailEnd type="none" w="med" len="med"/>
                    </a:lnL>
                    <a:lnR w="12700" cap="flat" cmpd="sng" algn="ctr">
                      <a:solidFill>
                        <a:srgbClr val="D8E7EA"/>
                      </a:solidFill>
                      <a:prstDash val="solid"/>
                      <a:round/>
                      <a:headEnd type="none" w="med" len="med"/>
                      <a:tailEnd type="none" w="med" len="med"/>
                    </a:lnR>
                    <a:lnT w="12700" cap="flat" cmpd="sng" algn="ctr">
                      <a:solidFill>
                        <a:srgbClr val="D8E7EA"/>
                      </a:solidFill>
                      <a:prstDash val="solid"/>
                      <a:round/>
                      <a:headEnd type="none" w="med" len="med"/>
                      <a:tailEnd type="none" w="med" len="med"/>
                    </a:lnT>
                    <a:lnB w="12700" cap="flat" cmpd="sng" algn="ctr">
                      <a:solidFill>
                        <a:srgbClr val="D8E7EA"/>
                      </a:solidFill>
                      <a:prstDash val="solid"/>
                      <a:round/>
                      <a:headEnd type="none" w="med" len="med"/>
                      <a:tailEnd type="none" w="med" len="med"/>
                    </a:lnB>
                    <a:solidFill>
                      <a:srgbClr val="FFFFFF"/>
                    </a:solidFill>
                  </a:tcPr>
                </a:tc>
                <a:tc>
                  <a:txBody>
                    <a:bodyPr/>
                    <a:lstStyle/>
                    <a:p>
                      <a:pPr indent="0" marL="0">
                        <a:buNone/>
                      </a:pPr>
                      <a:r>
                        <a:rPr lang="en-US" sz="1200" dirty="0">
                          <a:solidFill>
                            <a:srgbClr val="22313F"/>
                          </a:solidFill>
                          <a:latin typeface="Aptos" pitchFamily="34" charset="0"/>
                          <a:ea typeface="Aptos" pitchFamily="34" charset="-122"/>
                          <a:cs typeface="Aptos" pitchFamily="34" charset="-120"/>
                        </a:rPr>
                        <a:t>Valor promedio de la medición</a:t>
                      </a:r>
                      <a:endParaRPr lang="en-US" sz="1200" dirty="0">
                        <a:latin typeface="Aptos" charset="0"/>
                        <a:ea typeface="Aptos" charset="0"/>
                        <a:cs typeface="Aptos" charset="0"/>
                      </a:endParaRPr>
                    </a:p>
                  </a:txBody>
                  <a:tcPr marL="73152" marR="73152" marT="73152" marB="73152">
                    <a:lnL w="12700" cap="flat" cmpd="sng" algn="ctr">
                      <a:solidFill>
                        <a:srgbClr val="D8E7EA"/>
                      </a:solidFill>
                      <a:prstDash val="solid"/>
                      <a:round/>
                      <a:headEnd type="none" w="med" len="med"/>
                      <a:tailEnd type="none" w="med" len="med"/>
                    </a:lnL>
                    <a:lnR w="12700" cap="flat" cmpd="sng" algn="ctr">
                      <a:solidFill>
                        <a:srgbClr val="D8E7EA"/>
                      </a:solidFill>
                      <a:prstDash val="solid"/>
                      <a:round/>
                      <a:headEnd type="none" w="med" len="med"/>
                      <a:tailEnd type="none" w="med" len="med"/>
                    </a:lnR>
                    <a:lnT w="12700" cap="flat" cmpd="sng" algn="ctr">
                      <a:solidFill>
                        <a:srgbClr val="D8E7EA"/>
                      </a:solidFill>
                      <a:prstDash val="solid"/>
                      <a:round/>
                      <a:headEnd type="none" w="med" len="med"/>
                      <a:tailEnd type="none" w="med" len="med"/>
                    </a:lnT>
                    <a:lnB w="12700" cap="flat" cmpd="sng" algn="ctr">
                      <a:solidFill>
                        <a:srgbClr val="D8E7EA"/>
                      </a:solidFill>
                      <a:prstDash val="solid"/>
                      <a:round/>
                      <a:headEnd type="none" w="med" len="med"/>
                      <a:tailEnd type="none" w="med" len="med"/>
                    </a:lnB>
                    <a:solidFill>
                      <a:srgbClr val="FFFFFF"/>
                    </a:solidFill>
                  </a:tcPr>
                </a:tc>
                <a:tc>
                  <a:txBody>
                    <a:bodyPr/>
                    <a:lstStyle/>
                    <a:p>
                      <a:pPr indent="0" marL="0">
                        <a:buNone/>
                      </a:pPr>
                      <a:r>
                        <a:rPr lang="en-US" sz="1200" dirty="0">
                          <a:solidFill>
                            <a:srgbClr val="22313F"/>
                          </a:solidFill>
                          <a:latin typeface="Aptos" pitchFamily="34" charset="0"/>
                          <a:ea typeface="Aptos" pitchFamily="34" charset="-122"/>
                          <a:cs typeface="Aptos" pitchFamily="34" charset="-120"/>
                        </a:rPr>
                        <a:t>radius_mean</a:t>
                      </a:r>
                      <a:endParaRPr lang="en-US" sz="1200" dirty="0">
                        <a:latin typeface="Aptos" charset="0"/>
                        <a:ea typeface="Aptos" charset="0"/>
                        <a:cs typeface="Aptos" charset="0"/>
                      </a:endParaRPr>
                    </a:p>
                  </a:txBody>
                  <a:tcPr marL="73152" marR="73152" marT="73152" marB="73152">
                    <a:lnL w="12700" cap="flat" cmpd="sng" algn="ctr">
                      <a:solidFill>
                        <a:srgbClr val="D8E7EA"/>
                      </a:solidFill>
                      <a:prstDash val="solid"/>
                      <a:round/>
                      <a:headEnd type="none" w="med" len="med"/>
                      <a:tailEnd type="none" w="med" len="med"/>
                    </a:lnL>
                    <a:lnR w="12700" cap="flat" cmpd="sng" algn="ctr">
                      <a:solidFill>
                        <a:srgbClr val="D8E7EA"/>
                      </a:solidFill>
                      <a:prstDash val="solid"/>
                      <a:round/>
                      <a:headEnd type="none" w="med" len="med"/>
                      <a:tailEnd type="none" w="med" len="med"/>
                    </a:lnR>
                    <a:lnT w="12700" cap="flat" cmpd="sng" algn="ctr">
                      <a:solidFill>
                        <a:srgbClr val="D8E7EA"/>
                      </a:solidFill>
                      <a:prstDash val="solid"/>
                      <a:round/>
                      <a:headEnd type="none" w="med" len="med"/>
                      <a:tailEnd type="none" w="med" len="med"/>
                    </a:lnT>
                    <a:lnB w="12700" cap="flat" cmpd="sng" algn="ctr">
                      <a:solidFill>
                        <a:srgbClr val="D8E7EA"/>
                      </a:solidFill>
                      <a:prstDash val="solid"/>
                      <a:round/>
                      <a:headEnd type="none" w="med" len="med"/>
                      <a:tailEnd type="none" w="med" len="med"/>
                    </a:lnB>
                    <a:solidFill>
                      <a:srgbClr val="FFFFFF"/>
                    </a:solidFill>
                  </a:tcPr>
                </a:tc>
              </a:tr>
              <a:tr h="480060">
                <a:tc>
                  <a:txBody>
                    <a:bodyPr/>
                    <a:lstStyle/>
                    <a:p>
                      <a:pPr indent="0" marL="0">
                        <a:buNone/>
                      </a:pPr>
                      <a:r>
                        <a:rPr lang="en-US" sz="1200" dirty="0">
                          <a:solidFill>
                            <a:srgbClr val="22313F"/>
                          </a:solidFill>
                          <a:latin typeface="Aptos" pitchFamily="34" charset="0"/>
                          <a:ea typeface="Aptos" pitchFamily="34" charset="-122"/>
                          <a:cs typeface="Aptos" pitchFamily="34" charset="-120"/>
                        </a:rPr>
                        <a:t>_se</a:t>
                      </a:r>
                      <a:endParaRPr lang="en-US" sz="1200" dirty="0">
                        <a:latin typeface="Aptos" charset="0"/>
                        <a:ea typeface="Aptos" charset="0"/>
                        <a:cs typeface="Aptos" charset="0"/>
                      </a:endParaRPr>
                    </a:p>
                  </a:txBody>
                  <a:tcPr marL="73152" marR="73152" marT="73152" marB="73152">
                    <a:lnL w="12700" cap="flat" cmpd="sng" algn="ctr">
                      <a:solidFill>
                        <a:srgbClr val="D8E7EA"/>
                      </a:solidFill>
                      <a:prstDash val="solid"/>
                      <a:round/>
                      <a:headEnd type="none" w="med" len="med"/>
                      <a:tailEnd type="none" w="med" len="med"/>
                    </a:lnL>
                    <a:lnR w="12700" cap="flat" cmpd="sng" algn="ctr">
                      <a:solidFill>
                        <a:srgbClr val="D8E7EA"/>
                      </a:solidFill>
                      <a:prstDash val="solid"/>
                      <a:round/>
                      <a:headEnd type="none" w="med" len="med"/>
                      <a:tailEnd type="none" w="med" len="med"/>
                    </a:lnR>
                    <a:lnT w="12700" cap="flat" cmpd="sng" algn="ctr">
                      <a:solidFill>
                        <a:srgbClr val="D8E7EA"/>
                      </a:solidFill>
                      <a:prstDash val="solid"/>
                      <a:round/>
                      <a:headEnd type="none" w="med" len="med"/>
                      <a:tailEnd type="none" w="med" len="med"/>
                    </a:lnT>
                    <a:lnB w="12700" cap="flat" cmpd="sng" algn="ctr">
                      <a:solidFill>
                        <a:srgbClr val="D8E7EA"/>
                      </a:solidFill>
                      <a:prstDash val="solid"/>
                      <a:round/>
                      <a:headEnd type="none" w="med" len="med"/>
                      <a:tailEnd type="none" w="med" len="med"/>
                    </a:lnB>
                    <a:solidFill>
                      <a:srgbClr val="FFFFFF"/>
                    </a:solidFill>
                  </a:tcPr>
                </a:tc>
                <a:tc>
                  <a:txBody>
                    <a:bodyPr/>
                    <a:lstStyle/>
                    <a:p>
                      <a:pPr indent="0" marL="0">
                        <a:buNone/>
                      </a:pPr>
                      <a:r>
                        <a:rPr lang="en-US" sz="1200" dirty="0">
                          <a:solidFill>
                            <a:srgbClr val="22313F"/>
                          </a:solidFill>
                          <a:latin typeface="Aptos" pitchFamily="34" charset="0"/>
                          <a:ea typeface="Aptos" pitchFamily="34" charset="-122"/>
                          <a:cs typeface="Aptos" pitchFamily="34" charset="-120"/>
                        </a:rPr>
                        <a:t>Error estándar de la medición</a:t>
                      </a:r>
                      <a:endParaRPr lang="en-US" sz="1200" dirty="0">
                        <a:latin typeface="Aptos" charset="0"/>
                        <a:ea typeface="Aptos" charset="0"/>
                        <a:cs typeface="Aptos" charset="0"/>
                      </a:endParaRPr>
                    </a:p>
                  </a:txBody>
                  <a:tcPr marL="73152" marR="73152" marT="73152" marB="73152">
                    <a:lnL w="12700" cap="flat" cmpd="sng" algn="ctr">
                      <a:solidFill>
                        <a:srgbClr val="D8E7EA"/>
                      </a:solidFill>
                      <a:prstDash val="solid"/>
                      <a:round/>
                      <a:headEnd type="none" w="med" len="med"/>
                      <a:tailEnd type="none" w="med" len="med"/>
                    </a:lnL>
                    <a:lnR w="12700" cap="flat" cmpd="sng" algn="ctr">
                      <a:solidFill>
                        <a:srgbClr val="D8E7EA"/>
                      </a:solidFill>
                      <a:prstDash val="solid"/>
                      <a:round/>
                      <a:headEnd type="none" w="med" len="med"/>
                      <a:tailEnd type="none" w="med" len="med"/>
                    </a:lnR>
                    <a:lnT w="12700" cap="flat" cmpd="sng" algn="ctr">
                      <a:solidFill>
                        <a:srgbClr val="D8E7EA"/>
                      </a:solidFill>
                      <a:prstDash val="solid"/>
                      <a:round/>
                      <a:headEnd type="none" w="med" len="med"/>
                      <a:tailEnd type="none" w="med" len="med"/>
                    </a:lnT>
                    <a:lnB w="12700" cap="flat" cmpd="sng" algn="ctr">
                      <a:solidFill>
                        <a:srgbClr val="D8E7EA"/>
                      </a:solidFill>
                      <a:prstDash val="solid"/>
                      <a:round/>
                      <a:headEnd type="none" w="med" len="med"/>
                      <a:tailEnd type="none" w="med" len="med"/>
                    </a:lnB>
                    <a:solidFill>
                      <a:srgbClr val="FFFFFF"/>
                    </a:solidFill>
                  </a:tcPr>
                </a:tc>
                <a:tc>
                  <a:txBody>
                    <a:bodyPr/>
                    <a:lstStyle/>
                    <a:p>
                      <a:pPr indent="0" marL="0">
                        <a:buNone/>
                      </a:pPr>
                      <a:r>
                        <a:rPr lang="en-US" sz="1200" dirty="0">
                          <a:solidFill>
                            <a:srgbClr val="22313F"/>
                          </a:solidFill>
                          <a:latin typeface="Aptos" pitchFamily="34" charset="0"/>
                          <a:ea typeface="Aptos" pitchFamily="34" charset="-122"/>
                          <a:cs typeface="Aptos" pitchFamily="34" charset="-120"/>
                        </a:rPr>
                        <a:t>area_se</a:t>
                      </a:r>
                      <a:endParaRPr lang="en-US" sz="1200" dirty="0">
                        <a:latin typeface="Aptos" charset="0"/>
                        <a:ea typeface="Aptos" charset="0"/>
                        <a:cs typeface="Aptos" charset="0"/>
                      </a:endParaRPr>
                    </a:p>
                  </a:txBody>
                  <a:tcPr marL="73152" marR="73152" marT="73152" marB="73152">
                    <a:lnL w="12700" cap="flat" cmpd="sng" algn="ctr">
                      <a:solidFill>
                        <a:srgbClr val="D8E7EA"/>
                      </a:solidFill>
                      <a:prstDash val="solid"/>
                      <a:round/>
                      <a:headEnd type="none" w="med" len="med"/>
                      <a:tailEnd type="none" w="med" len="med"/>
                    </a:lnL>
                    <a:lnR w="12700" cap="flat" cmpd="sng" algn="ctr">
                      <a:solidFill>
                        <a:srgbClr val="D8E7EA"/>
                      </a:solidFill>
                      <a:prstDash val="solid"/>
                      <a:round/>
                      <a:headEnd type="none" w="med" len="med"/>
                      <a:tailEnd type="none" w="med" len="med"/>
                    </a:lnR>
                    <a:lnT w="12700" cap="flat" cmpd="sng" algn="ctr">
                      <a:solidFill>
                        <a:srgbClr val="D8E7EA"/>
                      </a:solidFill>
                      <a:prstDash val="solid"/>
                      <a:round/>
                      <a:headEnd type="none" w="med" len="med"/>
                      <a:tailEnd type="none" w="med" len="med"/>
                    </a:lnT>
                    <a:lnB w="12700" cap="flat" cmpd="sng" algn="ctr">
                      <a:solidFill>
                        <a:srgbClr val="D8E7EA"/>
                      </a:solidFill>
                      <a:prstDash val="solid"/>
                      <a:round/>
                      <a:headEnd type="none" w="med" len="med"/>
                      <a:tailEnd type="none" w="med" len="med"/>
                    </a:lnB>
                    <a:solidFill>
                      <a:srgbClr val="FFFFFF"/>
                    </a:solidFill>
                  </a:tcPr>
                </a:tc>
              </a:tr>
              <a:tr h="480060">
                <a:tc>
                  <a:txBody>
                    <a:bodyPr/>
                    <a:lstStyle/>
                    <a:p>
                      <a:pPr indent="0" marL="0">
                        <a:buNone/>
                      </a:pPr>
                      <a:r>
                        <a:rPr lang="en-US" sz="1200" dirty="0">
                          <a:solidFill>
                            <a:srgbClr val="22313F"/>
                          </a:solidFill>
                          <a:latin typeface="Aptos" pitchFamily="34" charset="0"/>
                          <a:ea typeface="Aptos" pitchFamily="34" charset="-122"/>
                          <a:cs typeface="Aptos" pitchFamily="34" charset="-120"/>
                        </a:rPr>
                        <a:t>_worst</a:t>
                      </a:r>
                      <a:endParaRPr lang="en-US" sz="1200" dirty="0">
                        <a:latin typeface="Aptos" charset="0"/>
                        <a:ea typeface="Aptos" charset="0"/>
                        <a:cs typeface="Aptos" charset="0"/>
                      </a:endParaRPr>
                    </a:p>
                  </a:txBody>
                  <a:tcPr marL="73152" marR="73152" marT="73152" marB="73152">
                    <a:lnL w="12700" cap="flat" cmpd="sng" algn="ctr">
                      <a:solidFill>
                        <a:srgbClr val="D8E7EA"/>
                      </a:solidFill>
                      <a:prstDash val="solid"/>
                      <a:round/>
                      <a:headEnd type="none" w="med" len="med"/>
                      <a:tailEnd type="none" w="med" len="med"/>
                    </a:lnL>
                    <a:lnR w="12700" cap="flat" cmpd="sng" algn="ctr">
                      <a:solidFill>
                        <a:srgbClr val="D8E7EA"/>
                      </a:solidFill>
                      <a:prstDash val="solid"/>
                      <a:round/>
                      <a:headEnd type="none" w="med" len="med"/>
                      <a:tailEnd type="none" w="med" len="med"/>
                    </a:lnR>
                    <a:lnT w="12700" cap="flat" cmpd="sng" algn="ctr">
                      <a:solidFill>
                        <a:srgbClr val="D8E7EA"/>
                      </a:solidFill>
                      <a:prstDash val="solid"/>
                      <a:round/>
                      <a:headEnd type="none" w="med" len="med"/>
                      <a:tailEnd type="none" w="med" len="med"/>
                    </a:lnT>
                    <a:lnB w="12700" cap="flat" cmpd="sng" algn="ctr">
                      <a:solidFill>
                        <a:srgbClr val="D8E7EA"/>
                      </a:solidFill>
                      <a:prstDash val="solid"/>
                      <a:round/>
                      <a:headEnd type="none" w="med" len="med"/>
                      <a:tailEnd type="none" w="med" len="med"/>
                    </a:lnB>
                    <a:solidFill>
                      <a:srgbClr val="FFFFFF"/>
                    </a:solidFill>
                  </a:tcPr>
                </a:tc>
                <a:tc>
                  <a:txBody>
                    <a:bodyPr/>
                    <a:lstStyle/>
                    <a:p>
                      <a:pPr indent="0" marL="0">
                        <a:buNone/>
                      </a:pPr>
                      <a:r>
                        <a:rPr lang="en-US" sz="1200" dirty="0">
                          <a:solidFill>
                            <a:srgbClr val="22313F"/>
                          </a:solidFill>
                          <a:latin typeface="Aptos" pitchFamily="34" charset="0"/>
                          <a:ea typeface="Aptos" pitchFamily="34" charset="-122"/>
                          <a:cs typeface="Aptos" pitchFamily="34" charset="-120"/>
                        </a:rPr>
                        <a:t>Valor más extremo observado</a:t>
                      </a:r>
                      <a:endParaRPr lang="en-US" sz="1200" dirty="0">
                        <a:latin typeface="Aptos" charset="0"/>
                        <a:ea typeface="Aptos" charset="0"/>
                        <a:cs typeface="Aptos" charset="0"/>
                      </a:endParaRPr>
                    </a:p>
                  </a:txBody>
                  <a:tcPr marL="73152" marR="73152" marT="73152" marB="73152">
                    <a:lnL w="12700" cap="flat" cmpd="sng" algn="ctr">
                      <a:solidFill>
                        <a:srgbClr val="D8E7EA"/>
                      </a:solidFill>
                      <a:prstDash val="solid"/>
                      <a:round/>
                      <a:headEnd type="none" w="med" len="med"/>
                      <a:tailEnd type="none" w="med" len="med"/>
                    </a:lnL>
                    <a:lnR w="12700" cap="flat" cmpd="sng" algn="ctr">
                      <a:solidFill>
                        <a:srgbClr val="D8E7EA"/>
                      </a:solidFill>
                      <a:prstDash val="solid"/>
                      <a:round/>
                      <a:headEnd type="none" w="med" len="med"/>
                      <a:tailEnd type="none" w="med" len="med"/>
                    </a:lnR>
                    <a:lnT w="12700" cap="flat" cmpd="sng" algn="ctr">
                      <a:solidFill>
                        <a:srgbClr val="D8E7EA"/>
                      </a:solidFill>
                      <a:prstDash val="solid"/>
                      <a:round/>
                      <a:headEnd type="none" w="med" len="med"/>
                      <a:tailEnd type="none" w="med" len="med"/>
                    </a:lnT>
                    <a:lnB w="12700" cap="flat" cmpd="sng" algn="ctr">
                      <a:solidFill>
                        <a:srgbClr val="D8E7EA"/>
                      </a:solidFill>
                      <a:prstDash val="solid"/>
                      <a:round/>
                      <a:headEnd type="none" w="med" len="med"/>
                      <a:tailEnd type="none" w="med" len="med"/>
                    </a:lnB>
                    <a:solidFill>
                      <a:srgbClr val="FFFFFF"/>
                    </a:solidFill>
                  </a:tcPr>
                </a:tc>
                <a:tc>
                  <a:txBody>
                    <a:bodyPr/>
                    <a:lstStyle/>
                    <a:p>
                      <a:pPr indent="0" marL="0">
                        <a:buNone/>
                      </a:pPr>
                      <a:r>
                        <a:rPr lang="en-US" sz="1200" dirty="0">
                          <a:solidFill>
                            <a:srgbClr val="22313F"/>
                          </a:solidFill>
                          <a:latin typeface="Aptos" pitchFamily="34" charset="0"/>
                          <a:ea typeface="Aptos" pitchFamily="34" charset="-122"/>
                          <a:cs typeface="Aptos" pitchFamily="34" charset="-120"/>
                        </a:rPr>
                        <a:t>concavity_worst</a:t>
                      </a:r>
                      <a:endParaRPr lang="en-US" sz="1200" dirty="0">
                        <a:latin typeface="Aptos" charset="0"/>
                        <a:ea typeface="Aptos" charset="0"/>
                        <a:cs typeface="Aptos" charset="0"/>
                      </a:endParaRPr>
                    </a:p>
                  </a:txBody>
                  <a:tcPr marL="73152" marR="73152" marT="73152" marB="73152">
                    <a:lnL w="12700" cap="flat" cmpd="sng" algn="ctr">
                      <a:solidFill>
                        <a:srgbClr val="D8E7EA"/>
                      </a:solidFill>
                      <a:prstDash val="solid"/>
                      <a:round/>
                      <a:headEnd type="none" w="med" len="med"/>
                      <a:tailEnd type="none" w="med" len="med"/>
                    </a:lnL>
                    <a:lnR w="12700" cap="flat" cmpd="sng" algn="ctr">
                      <a:solidFill>
                        <a:srgbClr val="D8E7EA"/>
                      </a:solidFill>
                      <a:prstDash val="solid"/>
                      <a:round/>
                      <a:headEnd type="none" w="med" len="med"/>
                      <a:tailEnd type="none" w="med" len="med"/>
                    </a:lnR>
                    <a:lnT w="12700" cap="flat" cmpd="sng" algn="ctr">
                      <a:solidFill>
                        <a:srgbClr val="D8E7EA"/>
                      </a:solidFill>
                      <a:prstDash val="solid"/>
                      <a:round/>
                      <a:headEnd type="none" w="med" len="med"/>
                      <a:tailEnd type="none" w="med" len="med"/>
                    </a:lnT>
                    <a:lnB w="12700" cap="flat" cmpd="sng" algn="ctr">
                      <a:solidFill>
                        <a:srgbClr val="D8E7EA"/>
                      </a:solidFill>
                      <a:prstDash val="solid"/>
                      <a:round/>
                      <a:headEnd type="none" w="med" len="med"/>
                      <a:tailEnd type="none" w="med" len="med"/>
                    </a:lnB>
                    <a:solidFill>
                      <a:srgbClr val="FFFFFF"/>
                    </a:solidFill>
                  </a:tcPr>
                </a:tc>
              </a:tr>
            </a:tbl>
          </a:graphicData>
        </a:graphic>
      </p:graphicFrame>
      <p:sp>
        <p:nvSpPr>
          <p:cNvPr id="7" name="Shape 4"/>
          <p:cNvSpPr/>
          <p:nvPr/>
        </p:nvSpPr>
        <p:spPr>
          <a:xfrm>
            <a:off x="6949440" y="1325880"/>
            <a:ext cx="4343400" cy="2103120"/>
          </a:xfrm>
          <a:prstGeom prst="roundRect">
            <a:avLst>
              <a:gd name="adj" fmla="val 3478"/>
            </a:avLst>
          </a:prstGeom>
          <a:solidFill>
            <a:srgbClr val="FFFFFF"/>
          </a:solidFill>
          <a:ln w="12700">
            <a:solidFill>
              <a:srgbClr val="D8E7EA"/>
            </a:solidFill>
            <a:prstDash val="solid"/>
          </a:ln>
        </p:spPr>
      </p:sp>
      <p:sp>
        <p:nvSpPr>
          <p:cNvPr id="8" name="Text 5"/>
          <p:cNvSpPr/>
          <p:nvPr/>
        </p:nvSpPr>
        <p:spPr>
          <a:xfrm>
            <a:off x="7150608" y="1463040"/>
            <a:ext cx="3941064" cy="256032"/>
          </a:xfrm>
          <a:prstGeom prst="rect">
            <a:avLst/>
          </a:prstGeom>
          <a:noFill/>
          <a:ln/>
        </p:spPr>
        <p:txBody>
          <a:bodyPr wrap="square" lIns="0" tIns="0" rIns="0" bIns="0" rtlCol="0" anchor="ctr"/>
          <a:lstStyle/>
          <a:p>
            <a:pPr indent="0" marL="0">
              <a:buNone/>
            </a:pPr>
            <a:r>
              <a:rPr lang="en-US" sz="1250" b="1" dirty="0">
                <a:solidFill>
                  <a:srgbClr val="0B1F33"/>
                </a:solidFill>
                <a:latin typeface="Aptos Display" pitchFamily="34" charset="0"/>
                <a:ea typeface="Aptos Display" pitchFamily="34" charset="-122"/>
                <a:cs typeface="Aptos Display" pitchFamily="34" charset="-120"/>
              </a:rPr>
              <a:t>Cómo leer una variable</a:t>
            </a:r>
            <a:endParaRPr lang="en-US" sz="1250" dirty="0"/>
          </a:p>
        </p:txBody>
      </p:sp>
      <p:sp>
        <p:nvSpPr>
          <p:cNvPr id="9" name="Text 6"/>
          <p:cNvSpPr/>
          <p:nvPr/>
        </p:nvSpPr>
        <p:spPr>
          <a:xfrm>
            <a:off x="7150608" y="1801368"/>
            <a:ext cx="3941064" cy="1481328"/>
          </a:xfrm>
          <a:prstGeom prst="rect">
            <a:avLst/>
          </a:prstGeom>
          <a:noFill/>
          <a:ln/>
        </p:spPr>
        <p:txBody>
          <a:bodyPr wrap="square" lIns="254" tIns="254" rIns="254" bIns="254" rtlCol="0" anchor="ctr">
            <a:normAutofit/>
          </a:bodyPr>
          <a:lstStyle/>
          <a:p>
            <a:pPr indent="0" marL="0">
              <a:buNone/>
            </a:pPr>
            <a:r>
              <a:rPr lang="en-US" sz="1250" dirty="0">
                <a:solidFill>
                  <a:srgbClr val="22313F"/>
                </a:solidFill>
                <a:latin typeface="Aptos" pitchFamily="34" charset="0"/>
                <a:ea typeface="Aptos" pitchFamily="34" charset="-122"/>
                <a:cs typeface="Aptos" pitchFamily="34" charset="-120"/>
              </a:rPr>
              <a:t>concave points_worst = cantidad de puntos cóncavos en el valor más extremo observado.</a:t>
            </a:r>
            <a:endParaRPr lang="en-US" sz="1250" dirty="0"/>
          </a:p>
          <a:p>
            <a:pPr indent="0" marL="0">
              <a:buNone/>
            </a:pPr>
            <a:endParaRPr lang="en-US" sz="1250" dirty="0"/>
          </a:p>
          <a:p>
            <a:pPr indent="0" marL="0">
              <a:buNone/>
            </a:pPr>
            <a:r>
              <a:rPr lang="en-US" sz="1250" dirty="0">
                <a:solidFill>
                  <a:srgbClr val="22313F"/>
                </a:solidFill>
                <a:latin typeface="Aptos" pitchFamily="34" charset="0"/>
                <a:ea typeface="Aptos" pitchFamily="34" charset="-122"/>
                <a:cs typeface="Aptos" pitchFamily="34" charset="-120"/>
              </a:rPr>
              <a:t>La estructura evita memorizar 30 columnas una por una.</a:t>
            </a:r>
            <a:endParaRPr lang="en-US" sz="1250" dirty="0"/>
          </a:p>
        </p:txBody>
      </p:sp>
      <p:sp>
        <p:nvSpPr>
          <p:cNvPr id="10" name="Shape 7"/>
          <p:cNvSpPr/>
          <p:nvPr/>
        </p:nvSpPr>
        <p:spPr>
          <a:xfrm>
            <a:off x="1188720" y="3886200"/>
            <a:ext cx="9692640" cy="1143000"/>
          </a:xfrm>
          <a:prstGeom prst="roundRect">
            <a:avLst>
              <a:gd name="adj" fmla="val 6400"/>
            </a:avLst>
          </a:prstGeom>
          <a:solidFill>
            <a:srgbClr val="DFF3F5"/>
          </a:solidFill>
          <a:ln w="12700">
            <a:solidFill>
              <a:srgbClr val="D8E7EA"/>
            </a:solidFill>
            <a:prstDash val="solid"/>
          </a:ln>
        </p:spPr>
      </p:sp>
      <p:sp>
        <p:nvSpPr>
          <p:cNvPr id="11" name="Text 8"/>
          <p:cNvSpPr/>
          <p:nvPr/>
        </p:nvSpPr>
        <p:spPr>
          <a:xfrm>
            <a:off x="1389888" y="4023360"/>
            <a:ext cx="9290304" cy="256032"/>
          </a:xfrm>
          <a:prstGeom prst="rect">
            <a:avLst/>
          </a:prstGeom>
          <a:noFill/>
          <a:ln/>
        </p:spPr>
        <p:txBody>
          <a:bodyPr wrap="square" lIns="0" tIns="0" rIns="0" bIns="0" rtlCol="0" anchor="ctr"/>
          <a:lstStyle/>
          <a:p>
            <a:pPr indent="0" marL="0">
              <a:buNone/>
            </a:pPr>
            <a:r>
              <a:rPr lang="en-US" sz="1250" b="1" dirty="0">
                <a:solidFill>
                  <a:srgbClr val="0E7C86"/>
                </a:solidFill>
                <a:latin typeface="Aptos Display" pitchFamily="34" charset="0"/>
                <a:ea typeface="Aptos Display" pitchFamily="34" charset="-122"/>
                <a:cs typeface="Aptos Display" pitchFamily="34" charset="-120"/>
              </a:rPr>
              <a:t>Idea clave</a:t>
            </a:r>
            <a:endParaRPr lang="en-US" sz="1250" dirty="0"/>
          </a:p>
        </p:txBody>
      </p:sp>
      <p:sp>
        <p:nvSpPr>
          <p:cNvPr id="12" name="Text 9"/>
          <p:cNvSpPr/>
          <p:nvPr/>
        </p:nvSpPr>
        <p:spPr>
          <a:xfrm>
            <a:off x="1389888" y="4361688"/>
            <a:ext cx="9290304" cy="521208"/>
          </a:xfrm>
          <a:prstGeom prst="rect">
            <a:avLst/>
          </a:prstGeom>
          <a:noFill/>
          <a:ln/>
        </p:spPr>
        <p:txBody>
          <a:bodyPr wrap="square" lIns="254" tIns="254" rIns="254" bIns="254" rtlCol="0" anchor="ctr">
            <a:normAutofit/>
          </a:bodyPr>
          <a:lstStyle/>
          <a:p>
            <a:pPr indent="0" marL="0">
              <a:buNone/>
            </a:pPr>
            <a:r>
              <a:rPr lang="en-US" sz="1300" dirty="0">
                <a:solidFill>
                  <a:srgbClr val="22313F"/>
                </a:solidFill>
                <a:latin typeface="Aptos" pitchFamily="34" charset="0"/>
                <a:ea typeface="Aptos" pitchFamily="34" charset="-122"/>
                <a:cs typeface="Aptos" pitchFamily="34" charset="-120"/>
              </a:rPr>
              <a:t>El dataset combina características clínicas con resúmenes estadísticos. Esto permite interpretar patrones antes de entrenar modelos.</a:t>
            </a:r>
            <a:endParaRPr lang="en-US" sz="1300" dirty="0"/>
          </a:p>
        </p:txBody>
      </p:sp>
      <p:sp>
        <p:nvSpPr>
          <p:cNvPr id="25" name="Slide Number Placeholder 0"/>
          <p:cNvSpPr>
            <a:spLocks noGrp="1"/>
          </p:cNvSpPr>
          <p:nvPr>
            <p:ph type="sldNum" sz="quarter" idx="4294967295"/>
          </p:nvPr>
        </p:nvSpPr>
        <p:spPr>
          <a:xfrm>
            <a:off x="11841480" y="6510528"/>
            <a:ext cx="800000" cy="300000"/>
          </a:xfrm>
          <a:prstGeom prst="rect">
            <a:avLst/>
          </a:prstGeom>
          <a:extLst>
            <a:ext uri="{C572A759-6A51-4108-AA02-DFA0A04FC94B}">
              <ma14:wrappingTextBoxFlag xmlns:ma14="http://schemas.microsoft.com/office/mac/drawingml/2011/main" val="0"/>
            </a:ext>
          </a:extLst>
        </p:spPr>
        <p:txBody>
          <a:bodyPr/>
          <a:lstStyle>
            <a:lvl1pPr>
              <a:defRPr sz="750">
                <a:solidFill>
                  <a:srgbClr val="607D86"/>
                </a:solidFill>
                <a:latin typeface="Aptos"/>
                <a:ea typeface="Aptos"/>
                <a:cs typeface="Aptos"/>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AFB"/>
        </a:solidFill>
      </p:bgPr>
    </p:bg>
    <p:spTree>
      <p:nvGrpSpPr>
        <p:cNvPr id="1" name=""/>
        <p:cNvGrpSpPr/>
        <p:nvPr/>
      </p:nvGrpSpPr>
      <p:grpSpPr>
        <a:xfrm>
          <a:off x="0" y="0"/>
          <a:ext cx="0" cy="0"/>
          <a:chOff x="0" y="0"/>
          <a:chExt cx="0" cy="0"/>
        </a:xfrm>
      </p:grpSpPr>
      <p:sp>
        <p:nvSpPr>
          <p:cNvPr id="2" name="Shape 0"/>
          <p:cNvSpPr/>
          <p:nvPr/>
        </p:nvSpPr>
        <p:spPr>
          <a:xfrm>
            <a:off x="10698480" y="-320040"/>
            <a:ext cx="2103120" cy="2103120"/>
          </a:xfrm>
          <a:prstGeom prst="arc">
            <a:avLst/>
          </a:prstGeom>
          <a:solidFill>
            <a:srgbClr val="DFF3F5">
              <a:alpha val="55000"/>
            </a:srgbClr>
          </a:solidFill>
          <a:ln w="12700">
            <a:solidFill>
              <a:srgbClr val="DFF3F5">
                <a:alpha val="40000"/>
              </a:srgbClr>
            </a:solidFill>
            <a:prstDash val="solid"/>
          </a:ln>
        </p:spPr>
      </p:sp>
      <p:sp>
        <p:nvSpPr>
          <p:cNvPr id="3" name="Shape 1"/>
          <p:cNvSpPr/>
          <p:nvPr/>
        </p:nvSpPr>
        <p:spPr>
          <a:xfrm rot="10800000">
            <a:off x="-822960" y="5257800"/>
            <a:ext cx="2011680" cy="2011680"/>
          </a:xfrm>
          <a:prstGeom prst="arc">
            <a:avLst/>
          </a:prstGeom>
          <a:solidFill>
            <a:srgbClr val="DDEFE7">
              <a:alpha val="55000"/>
            </a:srgbClr>
          </a:solidFill>
          <a:ln w="12700">
            <a:solidFill>
              <a:srgbClr val="DDEFE7">
                <a:alpha val="45000"/>
              </a:srgbClr>
            </a:solidFill>
            <a:prstDash val="solid"/>
          </a:ln>
        </p:spPr>
      </p:sp>
      <p:sp>
        <p:nvSpPr>
          <p:cNvPr id="4" name="Text 2"/>
          <p:cNvSpPr/>
          <p:nvPr/>
        </p:nvSpPr>
        <p:spPr>
          <a:xfrm>
            <a:off x="566928" y="384048"/>
            <a:ext cx="5029200" cy="228600"/>
          </a:xfrm>
          <a:prstGeom prst="rect">
            <a:avLst/>
          </a:prstGeom>
          <a:noFill/>
          <a:ln/>
        </p:spPr>
        <p:txBody>
          <a:bodyPr wrap="square" rtlCol="0" anchor="ctr"/>
          <a:lstStyle/>
          <a:p>
            <a:pPr indent="0" marL="0">
              <a:buNone/>
            </a:pPr>
            <a:r>
              <a:rPr lang="en-US" sz="850" b="1" dirty="0">
                <a:solidFill>
                  <a:srgbClr val="0E7C86"/>
                </a:solidFill>
                <a:latin typeface="Aptos" pitchFamily="34" charset="0"/>
                <a:ea typeface="Aptos" pitchFamily="34" charset="-122"/>
                <a:cs typeface="Aptos" pitchFamily="34" charset="-120"/>
              </a:rPr>
              <a:t>04 · PREPARACIÓN INICIAL</a:t>
            </a:r>
            <a:endParaRPr lang="en-US" sz="850" dirty="0"/>
          </a:p>
        </p:txBody>
      </p:sp>
      <p:sp>
        <p:nvSpPr>
          <p:cNvPr id="5" name="Text 3"/>
          <p:cNvSpPr/>
          <p:nvPr/>
        </p:nvSpPr>
        <p:spPr>
          <a:xfrm>
            <a:off x="548640" y="694944"/>
            <a:ext cx="10881360" cy="502920"/>
          </a:xfrm>
          <a:prstGeom prst="rect">
            <a:avLst/>
          </a:prstGeom>
          <a:noFill/>
          <a:ln/>
        </p:spPr>
        <p:txBody>
          <a:bodyPr wrap="square" lIns="0" tIns="0" rIns="0" bIns="0" rtlCol="0" anchor="ctr"/>
          <a:lstStyle/>
          <a:p>
            <a:pPr indent="0" marL="0">
              <a:buNone/>
            </a:pPr>
            <a:r>
              <a:rPr lang="en-US" sz="2500" b="1" dirty="0">
                <a:solidFill>
                  <a:srgbClr val="0B1F33"/>
                </a:solidFill>
                <a:latin typeface="Aptos Display" pitchFamily="34" charset="0"/>
                <a:ea typeface="Aptos Display" pitchFamily="34" charset="-122"/>
                <a:cs typeface="Aptos Display" pitchFamily="34" charset="-120"/>
              </a:rPr>
              <a:t>Calidad de datos y limpieza</a:t>
            </a:r>
            <a:endParaRPr lang="en-US" sz="2500" dirty="0"/>
          </a:p>
        </p:txBody>
      </p:sp>
      <p:sp>
        <p:nvSpPr>
          <p:cNvPr id="6" name="Shape 4"/>
          <p:cNvSpPr/>
          <p:nvPr/>
        </p:nvSpPr>
        <p:spPr>
          <a:xfrm>
            <a:off x="777240" y="1325880"/>
            <a:ext cx="2743200" cy="1417320"/>
          </a:xfrm>
          <a:prstGeom prst="roundRect">
            <a:avLst>
              <a:gd name="adj" fmla="val 5161"/>
            </a:avLst>
          </a:prstGeom>
          <a:solidFill>
            <a:srgbClr val="FFFFFF"/>
          </a:solidFill>
          <a:ln w="12700">
            <a:solidFill>
              <a:srgbClr val="D8E7EA"/>
            </a:solidFill>
            <a:prstDash val="solid"/>
          </a:ln>
        </p:spPr>
      </p:sp>
      <p:sp>
        <p:nvSpPr>
          <p:cNvPr id="7" name="Text 5"/>
          <p:cNvSpPr/>
          <p:nvPr/>
        </p:nvSpPr>
        <p:spPr>
          <a:xfrm>
            <a:off x="978408" y="1463040"/>
            <a:ext cx="2340864" cy="256032"/>
          </a:xfrm>
          <a:prstGeom prst="rect">
            <a:avLst/>
          </a:prstGeom>
          <a:noFill/>
          <a:ln/>
        </p:spPr>
        <p:txBody>
          <a:bodyPr wrap="square" lIns="0" tIns="0" rIns="0" bIns="0" rtlCol="0" anchor="ctr"/>
          <a:lstStyle/>
          <a:p>
            <a:pPr indent="0" marL="0">
              <a:buNone/>
            </a:pPr>
            <a:r>
              <a:rPr lang="en-US" sz="1250" b="1" dirty="0">
                <a:solidFill>
                  <a:srgbClr val="0B1F33"/>
                </a:solidFill>
                <a:latin typeface="Aptos Display" pitchFamily="34" charset="0"/>
                <a:ea typeface="Aptos Display" pitchFamily="34" charset="-122"/>
                <a:cs typeface="Aptos Display" pitchFamily="34" charset="-120"/>
              </a:rPr>
              <a:t>Columnas eliminadas</a:t>
            </a:r>
            <a:endParaRPr lang="en-US" sz="1250" dirty="0"/>
          </a:p>
        </p:txBody>
      </p:sp>
      <p:sp>
        <p:nvSpPr>
          <p:cNvPr id="8" name="Text 6"/>
          <p:cNvSpPr/>
          <p:nvPr/>
        </p:nvSpPr>
        <p:spPr>
          <a:xfrm>
            <a:off x="978408" y="1801368"/>
            <a:ext cx="2340864" cy="795528"/>
          </a:xfrm>
          <a:prstGeom prst="rect">
            <a:avLst/>
          </a:prstGeom>
          <a:noFill/>
          <a:ln/>
        </p:spPr>
        <p:txBody>
          <a:bodyPr wrap="square" lIns="254" tIns="254" rIns="254" bIns="254" rtlCol="0" anchor="ctr">
            <a:normAutofit/>
          </a:bodyPr>
          <a:lstStyle/>
          <a:p>
            <a:pPr indent="0" marL="0">
              <a:buNone/>
            </a:pPr>
            <a:r>
              <a:rPr lang="en-US" sz="1050" dirty="0">
                <a:solidFill>
                  <a:srgbClr val="22313F"/>
                </a:solidFill>
                <a:latin typeface="Aptos" pitchFamily="34" charset="0"/>
                <a:ea typeface="Aptos" pitchFamily="34" charset="-122"/>
                <a:cs typeface="Aptos" pitchFamily="34" charset="-120"/>
              </a:rPr>
              <a:t>id y Unnamed: 32 por ser identificador o columna vacía/irrelevante para modelar.</a:t>
            </a:r>
            <a:endParaRPr lang="en-US" sz="1050" dirty="0"/>
          </a:p>
        </p:txBody>
      </p:sp>
      <p:sp>
        <p:nvSpPr>
          <p:cNvPr id="9" name="Shape 7"/>
          <p:cNvSpPr/>
          <p:nvPr/>
        </p:nvSpPr>
        <p:spPr>
          <a:xfrm>
            <a:off x="3794760" y="1325880"/>
            <a:ext cx="2743200" cy="1417320"/>
          </a:xfrm>
          <a:prstGeom prst="roundRect">
            <a:avLst>
              <a:gd name="adj" fmla="val 5161"/>
            </a:avLst>
          </a:prstGeom>
          <a:solidFill>
            <a:srgbClr val="FFFFFF"/>
          </a:solidFill>
          <a:ln w="12700">
            <a:solidFill>
              <a:srgbClr val="D8E7EA"/>
            </a:solidFill>
            <a:prstDash val="solid"/>
          </a:ln>
        </p:spPr>
      </p:sp>
      <p:sp>
        <p:nvSpPr>
          <p:cNvPr id="10" name="Text 8"/>
          <p:cNvSpPr/>
          <p:nvPr/>
        </p:nvSpPr>
        <p:spPr>
          <a:xfrm>
            <a:off x="3995928" y="1463040"/>
            <a:ext cx="2340864" cy="256032"/>
          </a:xfrm>
          <a:prstGeom prst="rect">
            <a:avLst/>
          </a:prstGeom>
          <a:noFill/>
          <a:ln/>
        </p:spPr>
        <p:txBody>
          <a:bodyPr wrap="square" lIns="0" tIns="0" rIns="0" bIns="0" rtlCol="0" anchor="ctr"/>
          <a:lstStyle/>
          <a:p>
            <a:pPr indent="0" marL="0">
              <a:buNone/>
            </a:pPr>
            <a:r>
              <a:rPr lang="en-US" sz="1250" b="1" dirty="0">
                <a:solidFill>
                  <a:srgbClr val="0B1F33"/>
                </a:solidFill>
                <a:latin typeface="Aptos Display" pitchFamily="34" charset="0"/>
                <a:ea typeface="Aptos Display" pitchFamily="34" charset="-122"/>
                <a:cs typeface="Aptos Display" pitchFamily="34" charset="-120"/>
              </a:rPr>
              <a:t>Revisión de calidad</a:t>
            </a:r>
            <a:endParaRPr lang="en-US" sz="1250" dirty="0"/>
          </a:p>
        </p:txBody>
      </p:sp>
      <p:sp>
        <p:nvSpPr>
          <p:cNvPr id="11" name="Text 9"/>
          <p:cNvSpPr/>
          <p:nvPr/>
        </p:nvSpPr>
        <p:spPr>
          <a:xfrm>
            <a:off x="3995928" y="1801368"/>
            <a:ext cx="2340864" cy="795528"/>
          </a:xfrm>
          <a:prstGeom prst="rect">
            <a:avLst/>
          </a:prstGeom>
          <a:noFill/>
          <a:ln/>
        </p:spPr>
        <p:txBody>
          <a:bodyPr wrap="square" lIns="254" tIns="254" rIns="254" bIns="254" rtlCol="0" anchor="ctr">
            <a:normAutofit/>
          </a:bodyPr>
          <a:lstStyle/>
          <a:p>
            <a:pPr indent="0" marL="0">
              <a:buNone/>
            </a:pPr>
            <a:r>
              <a:rPr lang="en-US" sz="1050" dirty="0">
                <a:solidFill>
                  <a:srgbClr val="22313F"/>
                </a:solidFill>
                <a:latin typeface="Aptos" pitchFamily="34" charset="0"/>
                <a:ea typeface="Aptos" pitchFamily="34" charset="-122"/>
                <a:cs typeface="Aptos" pitchFamily="34" charset="-120"/>
              </a:rPr>
              <a:t>Nulos, duplicados, tipos de dato y consistencia de nombres/valores.</a:t>
            </a:r>
            <a:endParaRPr lang="en-US" sz="1050" dirty="0"/>
          </a:p>
        </p:txBody>
      </p:sp>
      <p:sp>
        <p:nvSpPr>
          <p:cNvPr id="12" name="Shape 10"/>
          <p:cNvSpPr/>
          <p:nvPr/>
        </p:nvSpPr>
        <p:spPr>
          <a:xfrm>
            <a:off x="6812280" y="1325880"/>
            <a:ext cx="2743200" cy="1417320"/>
          </a:xfrm>
          <a:prstGeom prst="roundRect">
            <a:avLst>
              <a:gd name="adj" fmla="val 5161"/>
            </a:avLst>
          </a:prstGeom>
          <a:solidFill>
            <a:srgbClr val="FFFFFF"/>
          </a:solidFill>
          <a:ln w="12700">
            <a:solidFill>
              <a:srgbClr val="D8E7EA"/>
            </a:solidFill>
            <a:prstDash val="solid"/>
          </a:ln>
        </p:spPr>
      </p:sp>
      <p:sp>
        <p:nvSpPr>
          <p:cNvPr id="13" name="Text 11"/>
          <p:cNvSpPr/>
          <p:nvPr/>
        </p:nvSpPr>
        <p:spPr>
          <a:xfrm>
            <a:off x="7013448" y="1463040"/>
            <a:ext cx="2340864" cy="256032"/>
          </a:xfrm>
          <a:prstGeom prst="rect">
            <a:avLst/>
          </a:prstGeom>
          <a:noFill/>
          <a:ln/>
        </p:spPr>
        <p:txBody>
          <a:bodyPr wrap="square" lIns="0" tIns="0" rIns="0" bIns="0" rtlCol="0" anchor="ctr"/>
          <a:lstStyle/>
          <a:p>
            <a:pPr indent="0" marL="0">
              <a:buNone/>
            </a:pPr>
            <a:r>
              <a:rPr lang="en-US" sz="1250" b="1" dirty="0">
                <a:solidFill>
                  <a:srgbClr val="0B1F33"/>
                </a:solidFill>
                <a:latin typeface="Aptos Display" pitchFamily="34" charset="0"/>
                <a:ea typeface="Aptos Display" pitchFamily="34" charset="-122"/>
                <a:cs typeface="Aptos Display" pitchFamily="34" charset="-120"/>
              </a:rPr>
              <a:t>Outliers</a:t>
            </a:r>
            <a:endParaRPr lang="en-US" sz="1250" dirty="0"/>
          </a:p>
        </p:txBody>
      </p:sp>
      <p:sp>
        <p:nvSpPr>
          <p:cNvPr id="14" name="Text 12"/>
          <p:cNvSpPr/>
          <p:nvPr/>
        </p:nvSpPr>
        <p:spPr>
          <a:xfrm>
            <a:off x="7013448" y="1801368"/>
            <a:ext cx="2340864" cy="795528"/>
          </a:xfrm>
          <a:prstGeom prst="rect">
            <a:avLst/>
          </a:prstGeom>
          <a:noFill/>
          <a:ln/>
        </p:spPr>
        <p:txBody>
          <a:bodyPr wrap="square" lIns="254" tIns="254" rIns="254" bIns="254" rtlCol="0" anchor="ctr">
            <a:normAutofit/>
          </a:bodyPr>
          <a:lstStyle/>
          <a:p>
            <a:pPr indent="0" marL="0">
              <a:buNone/>
            </a:pPr>
            <a:r>
              <a:rPr lang="en-US" sz="1050" dirty="0">
                <a:solidFill>
                  <a:srgbClr val="22313F"/>
                </a:solidFill>
                <a:latin typeface="Aptos" pitchFamily="34" charset="0"/>
                <a:ea typeface="Aptos" pitchFamily="34" charset="-122"/>
                <a:cs typeface="Aptos" pitchFamily="34" charset="-120"/>
              </a:rPr>
              <a:t>Detectados con IQR. No se eliminan automáticamente.</a:t>
            </a:r>
            <a:endParaRPr lang="en-US" sz="1050" dirty="0"/>
          </a:p>
        </p:txBody>
      </p:sp>
      <p:sp>
        <p:nvSpPr>
          <p:cNvPr id="15" name="Shape 13"/>
          <p:cNvSpPr/>
          <p:nvPr/>
        </p:nvSpPr>
        <p:spPr>
          <a:xfrm>
            <a:off x="777240" y="3337560"/>
            <a:ext cx="10149840" cy="1417320"/>
          </a:xfrm>
          <a:prstGeom prst="roundRect">
            <a:avLst>
              <a:gd name="adj" fmla="val 5161"/>
            </a:avLst>
          </a:prstGeom>
          <a:solidFill>
            <a:srgbClr val="DDEFE7"/>
          </a:solidFill>
          <a:ln w="12700">
            <a:solidFill>
              <a:srgbClr val="D8E7EA"/>
            </a:solidFill>
            <a:prstDash val="solid"/>
          </a:ln>
        </p:spPr>
      </p:sp>
      <p:sp>
        <p:nvSpPr>
          <p:cNvPr id="16" name="Text 14"/>
          <p:cNvSpPr/>
          <p:nvPr/>
        </p:nvSpPr>
        <p:spPr>
          <a:xfrm>
            <a:off x="978408" y="3474720"/>
            <a:ext cx="9747504" cy="256032"/>
          </a:xfrm>
          <a:prstGeom prst="rect">
            <a:avLst/>
          </a:prstGeom>
          <a:noFill/>
          <a:ln/>
        </p:spPr>
        <p:txBody>
          <a:bodyPr wrap="square" lIns="0" tIns="0" rIns="0" bIns="0" rtlCol="0" anchor="ctr"/>
          <a:lstStyle/>
          <a:p>
            <a:pPr indent="0" marL="0">
              <a:buNone/>
            </a:pPr>
            <a:r>
              <a:rPr lang="en-US" sz="1250" b="1" dirty="0">
                <a:solidFill>
                  <a:srgbClr val="2E7D59"/>
                </a:solidFill>
                <a:latin typeface="Aptos Display" pitchFamily="34" charset="0"/>
                <a:ea typeface="Aptos Display" pitchFamily="34" charset="-122"/>
                <a:cs typeface="Aptos Display" pitchFamily="34" charset="-120"/>
              </a:rPr>
              <a:t>Justificación técnica</a:t>
            </a:r>
            <a:endParaRPr lang="en-US" sz="1250" dirty="0"/>
          </a:p>
        </p:txBody>
      </p:sp>
      <p:sp>
        <p:nvSpPr>
          <p:cNvPr id="17" name="Text 15"/>
          <p:cNvSpPr/>
          <p:nvPr/>
        </p:nvSpPr>
        <p:spPr>
          <a:xfrm>
            <a:off x="978408" y="3813048"/>
            <a:ext cx="9747504" cy="795528"/>
          </a:xfrm>
          <a:prstGeom prst="rect">
            <a:avLst/>
          </a:prstGeom>
          <a:noFill/>
          <a:ln/>
        </p:spPr>
        <p:txBody>
          <a:bodyPr wrap="square" lIns="254" tIns="254" rIns="254" bIns="254" rtlCol="0" anchor="ctr">
            <a:normAutofit/>
          </a:bodyPr>
          <a:lstStyle/>
          <a:p>
            <a:pPr indent="0" marL="0">
              <a:buNone/>
            </a:pPr>
            <a:r>
              <a:rPr lang="en-US" sz="1400" dirty="0">
                <a:solidFill>
                  <a:srgbClr val="22313F"/>
                </a:solidFill>
                <a:latin typeface="Aptos" pitchFamily="34" charset="0"/>
                <a:ea typeface="Aptos" pitchFamily="34" charset="-122"/>
                <a:cs typeface="Aptos" pitchFamily="34" charset="-120"/>
              </a:rPr>
              <a:t>En datos médicos, un valor extremo puede representar un caso clínico real y relevante. Eliminarlo sin análisis puede borrar señal diagnóstica importante.</a:t>
            </a:r>
            <a:endParaRPr lang="en-US" sz="1400" dirty="0"/>
          </a:p>
        </p:txBody>
      </p:sp>
      <p:sp>
        <p:nvSpPr>
          <p:cNvPr id="18" name="Text 16"/>
          <p:cNvSpPr/>
          <p:nvPr/>
        </p:nvSpPr>
        <p:spPr>
          <a:xfrm>
            <a:off x="1143000" y="5230368"/>
            <a:ext cx="9235440" cy="411480"/>
          </a:xfrm>
          <a:prstGeom prst="rect">
            <a:avLst/>
          </a:prstGeom>
          <a:noFill/>
          <a:ln/>
        </p:spPr>
        <p:txBody>
          <a:bodyPr wrap="square" lIns="0" tIns="0" rIns="0" bIns="0" rtlCol="0" anchor="ctr"/>
          <a:lstStyle/>
          <a:p>
            <a:pPr algn="ctr" indent="0" marL="0">
              <a:buNone/>
            </a:pPr>
            <a:r>
              <a:rPr lang="en-US" sz="1900" b="1" dirty="0">
                <a:solidFill>
                  <a:srgbClr val="0B1F33"/>
                </a:solidFill>
                <a:latin typeface="Aptos Display" pitchFamily="34" charset="0"/>
                <a:ea typeface="Aptos Display" pitchFamily="34" charset="-122"/>
                <a:cs typeface="Aptos Display" pitchFamily="34" charset="-120"/>
              </a:rPr>
              <a:t>Decisión: limpiar lo irrelevante, conservar información clínica potencialmente útil.</a:t>
            </a:r>
            <a:endParaRPr lang="en-US" sz="1900" dirty="0"/>
          </a:p>
        </p:txBody>
      </p:sp>
      <p:sp>
        <p:nvSpPr>
          <p:cNvPr id="25" name="Slide Number Placeholder 0"/>
          <p:cNvSpPr>
            <a:spLocks noGrp="1"/>
          </p:cNvSpPr>
          <p:nvPr>
            <p:ph type="sldNum" sz="quarter" idx="4294967295"/>
          </p:nvPr>
        </p:nvSpPr>
        <p:spPr>
          <a:xfrm>
            <a:off x="11841480" y="6510528"/>
            <a:ext cx="800000" cy="300000"/>
          </a:xfrm>
          <a:prstGeom prst="rect">
            <a:avLst/>
          </a:prstGeom>
          <a:extLst>
            <a:ext uri="{C572A759-6A51-4108-AA02-DFA0A04FC94B}">
              <ma14:wrappingTextBoxFlag xmlns:ma14="http://schemas.microsoft.com/office/mac/drawingml/2011/main" val="0"/>
            </a:ext>
          </a:extLst>
        </p:spPr>
        <p:txBody>
          <a:bodyPr/>
          <a:lstStyle>
            <a:lvl1pPr>
              <a:defRPr sz="750">
                <a:solidFill>
                  <a:srgbClr val="607D86"/>
                </a:solidFill>
                <a:latin typeface="Aptos"/>
                <a:ea typeface="Aptos"/>
                <a:cs typeface="Aptos"/>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AFB"/>
        </a:solidFill>
      </p:bgPr>
    </p:bg>
    <p:spTree>
      <p:nvGrpSpPr>
        <p:cNvPr id="1" name=""/>
        <p:cNvGrpSpPr/>
        <p:nvPr/>
      </p:nvGrpSpPr>
      <p:grpSpPr>
        <a:xfrm>
          <a:off x="0" y="0"/>
          <a:ext cx="0" cy="0"/>
          <a:chOff x="0" y="0"/>
          <a:chExt cx="0" cy="0"/>
        </a:xfrm>
      </p:grpSpPr>
      <p:sp>
        <p:nvSpPr>
          <p:cNvPr id="2" name="Shape 0"/>
          <p:cNvSpPr/>
          <p:nvPr/>
        </p:nvSpPr>
        <p:spPr>
          <a:xfrm>
            <a:off x="10698480" y="-320040"/>
            <a:ext cx="2103120" cy="2103120"/>
          </a:xfrm>
          <a:prstGeom prst="arc">
            <a:avLst/>
          </a:prstGeom>
          <a:solidFill>
            <a:srgbClr val="DFF3F5">
              <a:alpha val="55000"/>
            </a:srgbClr>
          </a:solidFill>
          <a:ln w="12700">
            <a:solidFill>
              <a:srgbClr val="DFF3F5">
                <a:alpha val="40000"/>
              </a:srgbClr>
            </a:solidFill>
            <a:prstDash val="solid"/>
          </a:ln>
        </p:spPr>
      </p:sp>
      <p:sp>
        <p:nvSpPr>
          <p:cNvPr id="3" name="Shape 1"/>
          <p:cNvSpPr/>
          <p:nvPr/>
        </p:nvSpPr>
        <p:spPr>
          <a:xfrm rot="10800000">
            <a:off x="-822960" y="5257800"/>
            <a:ext cx="2011680" cy="2011680"/>
          </a:xfrm>
          <a:prstGeom prst="arc">
            <a:avLst/>
          </a:prstGeom>
          <a:solidFill>
            <a:srgbClr val="DDEFE7">
              <a:alpha val="55000"/>
            </a:srgbClr>
          </a:solidFill>
          <a:ln w="12700">
            <a:solidFill>
              <a:srgbClr val="DDEFE7">
                <a:alpha val="45000"/>
              </a:srgbClr>
            </a:solidFill>
            <a:prstDash val="solid"/>
          </a:ln>
        </p:spPr>
      </p:sp>
      <p:sp>
        <p:nvSpPr>
          <p:cNvPr id="4" name="Text 2"/>
          <p:cNvSpPr/>
          <p:nvPr/>
        </p:nvSpPr>
        <p:spPr>
          <a:xfrm>
            <a:off x="566928" y="384048"/>
            <a:ext cx="5029200" cy="228600"/>
          </a:xfrm>
          <a:prstGeom prst="rect">
            <a:avLst/>
          </a:prstGeom>
          <a:noFill/>
          <a:ln/>
        </p:spPr>
        <p:txBody>
          <a:bodyPr wrap="square" rtlCol="0" anchor="ctr"/>
          <a:lstStyle/>
          <a:p>
            <a:pPr indent="0" marL="0">
              <a:buNone/>
            </a:pPr>
            <a:r>
              <a:rPr lang="en-US" sz="850" b="1" dirty="0">
                <a:solidFill>
                  <a:srgbClr val="0E7C86"/>
                </a:solidFill>
                <a:latin typeface="Aptos" pitchFamily="34" charset="0"/>
                <a:ea typeface="Aptos" pitchFamily="34" charset="-122"/>
                <a:cs typeface="Aptos" pitchFamily="34" charset="-120"/>
              </a:rPr>
              <a:t>05 · PATRONES INICIALES</a:t>
            </a:r>
            <a:endParaRPr lang="en-US" sz="850" dirty="0"/>
          </a:p>
        </p:txBody>
      </p:sp>
      <p:sp>
        <p:nvSpPr>
          <p:cNvPr id="5" name="Text 3"/>
          <p:cNvSpPr/>
          <p:nvPr/>
        </p:nvSpPr>
        <p:spPr>
          <a:xfrm>
            <a:off x="548640" y="694944"/>
            <a:ext cx="10881360" cy="502920"/>
          </a:xfrm>
          <a:prstGeom prst="rect">
            <a:avLst/>
          </a:prstGeom>
          <a:noFill/>
          <a:ln/>
        </p:spPr>
        <p:txBody>
          <a:bodyPr wrap="square" lIns="0" tIns="0" rIns="0" bIns="0" rtlCol="0" anchor="ctr"/>
          <a:lstStyle/>
          <a:p>
            <a:pPr indent="0" marL="0">
              <a:buNone/>
            </a:pPr>
            <a:r>
              <a:rPr lang="en-US" sz="2500" b="1" dirty="0">
                <a:solidFill>
                  <a:srgbClr val="0B1F33"/>
                </a:solidFill>
                <a:latin typeface="Aptos Display" pitchFamily="34" charset="0"/>
                <a:ea typeface="Aptos Display" pitchFamily="34" charset="-122"/>
                <a:cs typeface="Aptos Display" pitchFamily="34" charset="-120"/>
              </a:rPr>
              <a:t>EDA: análisis exploratorio</a:t>
            </a:r>
            <a:endParaRPr lang="en-US" sz="2500" dirty="0"/>
          </a:p>
        </p:txBody>
      </p:sp>
      <p:pic>
        <p:nvPicPr>
          <p:cNvPr id="6" name="Image 0" descr="/mnt/data/ppt_assets/boxplots_key.png">    </p:cNvPr>
          <p:cNvPicPr>
            <a:picLocks noChangeAspect="1"/>
          </p:cNvPicPr>
          <p:nvPr/>
        </p:nvPicPr>
        <p:blipFill>
          <a:blip r:embed="rId1"/>
          <a:stretch>
            <a:fillRect/>
          </a:stretch>
        </p:blipFill>
        <p:spPr>
          <a:xfrm>
            <a:off x="594360" y="1143000"/>
            <a:ext cx="5806440" cy="3246120"/>
          </a:xfrm>
          <a:prstGeom prst="rect">
            <a:avLst/>
          </a:prstGeom>
        </p:spPr>
      </p:pic>
      <p:sp>
        <p:nvSpPr>
          <p:cNvPr id="7" name="Shape 4"/>
          <p:cNvSpPr/>
          <p:nvPr/>
        </p:nvSpPr>
        <p:spPr>
          <a:xfrm>
            <a:off x="6720840" y="1188720"/>
            <a:ext cx="4389120" cy="3063240"/>
          </a:xfrm>
          <a:prstGeom prst="roundRect">
            <a:avLst>
              <a:gd name="adj" fmla="val 2388"/>
            </a:avLst>
          </a:prstGeom>
          <a:solidFill>
            <a:srgbClr val="FFFFFF"/>
          </a:solidFill>
          <a:ln w="12700">
            <a:solidFill>
              <a:srgbClr val="D8E7EA"/>
            </a:solidFill>
            <a:prstDash val="solid"/>
          </a:ln>
        </p:spPr>
      </p:sp>
      <p:sp>
        <p:nvSpPr>
          <p:cNvPr id="8" name="Text 5"/>
          <p:cNvSpPr/>
          <p:nvPr/>
        </p:nvSpPr>
        <p:spPr>
          <a:xfrm>
            <a:off x="6922008" y="1325880"/>
            <a:ext cx="3986784" cy="256032"/>
          </a:xfrm>
          <a:prstGeom prst="rect">
            <a:avLst/>
          </a:prstGeom>
          <a:noFill/>
          <a:ln/>
        </p:spPr>
        <p:txBody>
          <a:bodyPr wrap="square" lIns="0" tIns="0" rIns="0" bIns="0" rtlCol="0" anchor="ctr"/>
          <a:lstStyle/>
          <a:p>
            <a:pPr indent="0" marL="0">
              <a:buNone/>
            </a:pPr>
            <a:r>
              <a:rPr lang="en-US" sz="1250" b="1" dirty="0">
                <a:solidFill>
                  <a:srgbClr val="0B1F33"/>
                </a:solidFill>
                <a:latin typeface="Aptos Display" pitchFamily="34" charset="0"/>
                <a:ea typeface="Aptos Display" pitchFamily="34" charset="-122"/>
                <a:cs typeface="Aptos Display" pitchFamily="34" charset="-120"/>
              </a:rPr>
              <a:t>Hallazgos principales</a:t>
            </a:r>
            <a:endParaRPr lang="en-US" sz="1250" dirty="0"/>
          </a:p>
        </p:txBody>
      </p:sp>
      <p:sp>
        <p:nvSpPr>
          <p:cNvPr id="9" name="Text 6"/>
          <p:cNvSpPr/>
          <p:nvPr/>
        </p:nvSpPr>
        <p:spPr>
          <a:xfrm>
            <a:off x="6922008" y="1664208"/>
            <a:ext cx="3986784" cy="2441448"/>
          </a:xfrm>
          <a:prstGeom prst="rect">
            <a:avLst/>
          </a:prstGeom>
          <a:noFill/>
          <a:ln/>
        </p:spPr>
        <p:txBody>
          <a:bodyPr wrap="square" lIns="254" tIns="254" rIns="254" bIns="254" rtlCol="0" anchor="ctr">
            <a:normAutofit/>
          </a:bodyPr>
          <a:lstStyle/>
          <a:p>
            <a:pPr indent="0" marL="0">
              <a:buNone/>
            </a:pPr>
            <a:r>
              <a:rPr lang="en-US" sz="1200" dirty="0">
                <a:solidFill>
                  <a:srgbClr val="22313F"/>
                </a:solidFill>
                <a:latin typeface="Aptos" pitchFamily="34" charset="0"/>
                <a:ea typeface="Aptos" pitchFamily="34" charset="-122"/>
                <a:cs typeface="Aptos" pitchFamily="34" charset="-120"/>
              </a:rPr>
              <a:t>• Se comparó la distribución de diagnosis.</a:t>
            </a:r>
            <a:endParaRPr lang="en-US" sz="1200" dirty="0"/>
          </a:p>
          <a:p>
            <a:pPr indent="0" marL="0">
              <a:buNone/>
            </a:pPr>
            <a:r>
              <a:rPr lang="en-US" sz="1200" dirty="0">
                <a:solidFill>
                  <a:srgbClr val="22313F"/>
                </a:solidFill>
                <a:latin typeface="Aptos" pitchFamily="34" charset="0"/>
                <a:ea typeface="Aptos" pitchFamily="34" charset="-122"/>
                <a:cs typeface="Aptos" pitchFamily="34" charset="-120"/>
              </a:rPr>
              <a:t>• Se revisaron histogramas y boxplots.</a:t>
            </a:r>
            <a:endParaRPr lang="en-US" sz="1200" dirty="0"/>
          </a:p>
          <a:p>
            <a:pPr indent="0" marL="0">
              <a:buNone/>
            </a:pPr>
            <a:r>
              <a:rPr lang="en-US" sz="1200" dirty="0">
                <a:solidFill>
                  <a:srgbClr val="22313F"/>
                </a:solidFill>
                <a:latin typeface="Aptos" pitchFamily="34" charset="0"/>
                <a:ea typeface="Aptos" pitchFamily="34" charset="-122"/>
                <a:cs typeface="Aptos" pitchFamily="34" charset="-120"/>
              </a:rPr>
              <a:t>• Variables de tamaño, área, perímetro, concavidad y puntos cóncavos muestran diferencias entre benignos y malignos.</a:t>
            </a:r>
            <a:endParaRPr lang="en-US" sz="1200" dirty="0"/>
          </a:p>
          <a:p>
            <a:pPr indent="0" marL="0">
              <a:buNone/>
            </a:pPr>
            <a:r>
              <a:rPr lang="en-US" sz="1200" dirty="0">
                <a:solidFill>
                  <a:srgbClr val="22313F"/>
                </a:solidFill>
                <a:latin typeface="Aptos" pitchFamily="34" charset="0"/>
                <a:ea typeface="Aptos" pitchFamily="34" charset="-122"/>
                <a:cs typeface="Aptos" pitchFamily="34" charset="-120"/>
              </a:rPr>
              <a:t>• El EDA guía qué señales pueden ser útiles para clasificación.</a:t>
            </a:r>
            <a:endParaRPr lang="en-US" sz="1200" dirty="0"/>
          </a:p>
        </p:txBody>
      </p:sp>
      <p:sp>
        <p:nvSpPr>
          <p:cNvPr id="10" name="Shape 7"/>
          <p:cNvSpPr/>
          <p:nvPr/>
        </p:nvSpPr>
        <p:spPr>
          <a:xfrm>
            <a:off x="1097280" y="4800600"/>
            <a:ext cx="9784080" cy="640080"/>
          </a:xfrm>
          <a:prstGeom prst="roundRect">
            <a:avLst>
              <a:gd name="adj" fmla="val 11429"/>
            </a:avLst>
          </a:prstGeom>
          <a:solidFill>
            <a:srgbClr val="DFF3F5"/>
          </a:solidFill>
          <a:ln w="12700">
            <a:solidFill>
              <a:srgbClr val="D8E7EA"/>
            </a:solidFill>
            <a:prstDash val="solid"/>
          </a:ln>
        </p:spPr>
      </p:sp>
      <p:sp>
        <p:nvSpPr>
          <p:cNvPr id="11" name="Text 8"/>
          <p:cNvSpPr/>
          <p:nvPr/>
        </p:nvSpPr>
        <p:spPr>
          <a:xfrm>
            <a:off x="1298448" y="4937760"/>
            <a:ext cx="9381744" cy="256032"/>
          </a:xfrm>
          <a:prstGeom prst="rect">
            <a:avLst/>
          </a:prstGeom>
          <a:noFill/>
          <a:ln/>
        </p:spPr>
        <p:txBody>
          <a:bodyPr wrap="square" lIns="0" tIns="0" rIns="0" bIns="0" rtlCol="0" anchor="ctr"/>
          <a:lstStyle/>
          <a:p>
            <a:pPr indent="0" marL="0">
              <a:buNone/>
            </a:pPr>
            <a:r>
              <a:rPr lang="en-US" sz="1250" b="1" dirty="0">
                <a:solidFill>
                  <a:srgbClr val="0E7C86"/>
                </a:solidFill>
                <a:latin typeface="Aptos Display" pitchFamily="34" charset="0"/>
                <a:ea typeface="Aptos Display" pitchFamily="34" charset="-122"/>
                <a:cs typeface="Aptos Display" pitchFamily="34" charset="-120"/>
              </a:rPr>
              <a:t>Interpretación</a:t>
            </a:r>
            <a:endParaRPr lang="en-US" sz="1250" dirty="0"/>
          </a:p>
        </p:txBody>
      </p:sp>
      <p:sp>
        <p:nvSpPr>
          <p:cNvPr id="12" name="Text 9"/>
          <p:cNvSpPr/>
          <p:nvPr/>
        </p:nvSpPr>
        <p:spPr>
          <a:xfrm>
            <a:off x="1298448" y="5276088"/>
            <a:ext cx="9381744" cy="18288"/>
          </a:xfrm>
          <a:prstGeom prst="rect">
            <a:avLst/>
          </a:prstGeom>
          <a:noFill/>
          <a:ln/>
        </p:spPr>
        <p:txBody>
          <a:bodyPr wrap="square" lIns="254" tIns="254" rIns="254" bIns="254" rtlCol="0" anchor="ctr">
            <a:normAutofit/>
          </a:bodyPr>
          <a:lstStyle/>
          <a:p>
            <a:pPr indent="0" marL="0">
              <a:buNone/>
            </a:pPr>
            <a:r>
              <a:rPr lang="en-US" sz="1300" dirty="0">
                <a:solidFill>
                  <a:srgbClr val="22313F"/>
                </a:solidFill>
                <a:latin typeface="Aptos" pitchFamily="34" charset="0"/>
                <a:ea typeface="Aptos" pitchFamily="34" charset="-122"/>
                <a:cs typeface="Aptos" pitchFamily="34" charset="-120"/>
              </a:rPr>
              <a:t>El análisis visual sugiere que existen patrones medibles entre clases antes de entrenar los modelos.</a:t>
            </a:r>
            <a:endParaRPr lang="en-US" sz="1300" dirty="0"/>
          </a:p>
        </p:txBody>
      </p:sp>
      <p:sp>
        <p:nvSpPr>
          <p:cNvPr id="25" name="Slide Number Placeholder 0"/>
          <p:cNvSpPr>
            <a:spLocks noGrp="1"/>
          </p:cNvSpPr>
          <p:nvPr>
            <p:ph type="sldNum" sz="quarter" idx="4294967295"/>
          </p:nvPr>
        </p:nvSpPr>
        <p:spPr>
          <a:xfrm>
            <a:off x="11841480" y="6510528"/>
            <a:ext cx="800000" cy="300000"/>
          </a:xfrm>
          <a:prstGeom prst="rect">
            <a:avLst/>
          </a:prstGeom>
          <a:extLst>
            <a:ext uri="{C572A759-6A51-4108-AA02-DFA0A04FC94B}">
              <ma14:wrappingTextBoxFlag xmlns:ma14="http://schemas.microsoft.com/office/mac/drawingml/2011/main" val="0"/>
            </a:ext>
          </a:extLst>
        </p:spPr>
        <p:txBody>
          <a:bodyPr/>
          <a:lstStyle>
            <a:lvl1pPr>
              <a:defRPr sz="750">
                <a:solidFill>
                  <a:srgbClr val="607D86"/>
                </a:solidFill>
                <a:latin typeface="Aptos"/>
                <a:ea typeface="Aptos"/>
                <a:cs typeface="Aptos"/>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AFB"/>
        </a:solidFill>
      </p:bgPr>
    </p:bg>
    <p:spTree>
      <p:nvGrpSpPr>
        <p:cNvPr id="1" name=""/>
        <p:cNvGrpSpPr/>
        <p:nvPr/>
      </p:nvGrpSpPr>
      <p:grpSpPr>
        <a:xfrm>
          <a:off x="0" y="0"/>
          <a:ext cx="0" cy="0"/>
          <a:chOff x="0" y="0"/>
          <a:chExt cx="0" cy="0"/>
        </a:xfrm>
      </p:grpSpPr>
      <p:sp>
        <p:nvSpPr>
          <p:cNvPr id="2" name="Shape 0"/>
          <p:cNvSpPr/>
          <p:nvPr/>
        </p:nvSpPr>
        <p:spPr>
          <a:xfrm>
            <a:off x="10698480" y="-320040"/>
            <a:ext cx="2103120" cy="2103120"/>
          </a:xfrm>
          <a:prstGeom prst="arc">
            <a:avLst/>
          </a:prstGeom>
          <a:solidFill>
            <a:srgbClr val="DFF3F5">
              <a:alpha val="55000"/>
            </a:srgbClr>
          </a:solidFill>
          <a:ln w="12700">
            <a:solidFill>
              <a:srgbClr val="DFF3F5">
                <a:alpha val="40000"/>
              </a:srgbClr>
            </a:solidFill>
            <a:prstDash val="solid"/>
          </a:ln>
        </p:spPr>
      </p:sp>
      <p:sp>
        <p:nvSpPr>
          <p:cNvPr id="3" name="Shape 1"/>
          <p:cNvSpPr/>
          <p:nvPr/>
        </p:nvSpPr>
        <p:spPr>
          <a:xfrm rot="10800000">
            <a:off x="-822960" y="5257800"/>
            <a:ext cx="2011680" cy="2011680"/>
          </a:xfrm>
          <a:prstGeom prst="arc">
            <a:avLst/>
          </a:prstGeom>
          <a:solidFill>
            <a:srgbClr val="DDEFE7">
              <a:alpha val="55000"/>
            </a:srgbClr>
          </a:solidFill>
          <a:ln w="12700">
            <a:solidFill>
              <a:srgbClr val="DDEFE7">
                <a:alpha val="45000"/>
              </a:srgbClr>
            </a:solidFill>
            <a:prstDash val="solid"/>
          </a:ln>
        </p:spPr>
      </p:sp>
      <p:sp>
        <p:nvSpPr>
          <p:cNvPr id="4" name="Text 2"/>
          <p:cNvSpPr/>
          <p:nvPr/>
        </p:nvSpPr>
        <p:spPr>
          <a:xfrm>
            <a:off x="566928" y="384048"/>
            <a:ext cx="5029200" cy="228600"/>
          </a:xfrm>
          <a:prstGeom prst="rect">
            <a:avLst/>
          </a:prstGeom>
          <a:noFill/>
          <a:ln/>
        </p:spPr>
        <p:txBody>
          <a:bodyPr wrap="square" rtlCol="0" anchor="ctr"/>
          <a:lstStyle/>
          <a:p>
            <a:pPr indent="0" marL="0">
              <a:buNone/>
            </a:pPr>
            <a:r>
              <a:rPr lang="en-US" sz="850" b="1" dirty="0">
                <a:solidFill>
                  <a:srgbClr val="0E7C86"/>
                </a:solidFill>
                <a:latin typeface="Aptos" pitchFamily="34" charset="0"/>
                <a:ea typeface="Aptos" pitchFamily="34" charset="-122"/>
                <a:cs typeface="Aptos" pitchFamily="34" charset="-120"/>
              </a:rPr>
              <a:t>06 · RELACIONES ENTRE VARIABLES</a:t>
            </a:r>
            <a:endParaRPr lang="en-US" sz="850" dirty="0"/>
          </a:p>
        </p:txBody>
      </p:sp>
      <p:sp>
        <p:nvSpPr>
          <p:cNvPr id="5" name="Text 3"/>
          <p:cNvSpPr/>
          <p:nvPr/>
        </p:nvSpPr>
        <p:spPr>
          <a:xfrm>
            <a:off x="548640" y="694944"/>
            <a:ext cx="10881360" cy="502920"/>
          </a:xfrm>
          <a:prstGeom prst="rect">
            <a:avLst/>
          </a:prstGeom>
          <a:noFill/>
          <a:ln/>
        </p:spPr>
        <p:txBody>
          <a:bodyPr wrap="square" lIns="0" tIns="0" rIns="0" bIns="0" rtlCol="0" anchor="ctr"/>
          <a:lstStyle/>
          <a:p>
            <a:pPr indent="0" marL="0">
              <a:buNone/>
            </a:pPr>
            <a:r>
              <a:rPr lang="en-US" sz="2500" b="1" dirty="0">
                <a:solidFill>
                  <a:srgbClr val="0B1F33"/>
                </a:solidFill>
                <a:latin typeface="Aptos Display" pitchFamily="34" charset="0"/>
                <a:ea typeface="Aptos Display" pitchFamily="34" charset="-122"/>
                <a:cs typeface="Aptos Display" pitchFamily="34" charset="-120"/>
              </a:rPr>
              <a:t>Correlaciones y análisis multivariado</a:t>
            </a:r>
            <a:endParaRPr lang="en-US" sz="2500" dirty="0"/>
          </a:p>
        </p:txBody>
      </p:sp>
      <p:pic>
        <p:nvPicPr>
          <p:cNvPr id="6" name="Image 0" descr="/mnt/data/ppt_assets/corr_matrix.png">    </p:cNvPr>
          <p:cNvPicPr>
            <a:picLocks noChangeAspect="1"/>
          </p:cNvPicPr>
          <p:nvPr/>
        </p:nvPicPr>
        <p:blipFill>
          <a:blip r:embed="rId1"/>
          <a:stretch>
            <a:fillRect/>
          </a:stretch>
        </p:blipFill>
        <p:spPr>
          <a:xfrm>
            <a:off x="731520" y="1051560"/>
            <a:ext cx="5166360" cy="4251960"/>
          </a:xfrm>
          <a:prstGeom prst="rect">
            <a:avLst/>
          </a:prstGeom>
        </p:spPr>
      </p:pic>
      <p:sp>
        <p:nvSpPr>
          <p:cNvPr id="7" name="Shape 4"/>
          <p:cNvSpPr/>
          <p:nvPr/>
        </p:nvSpPr>
        <p:spPr>
          <a:xfrm>
            <a:off x="6400800" y="1143000"/>
            <a:ext cx="4663440" cy="1828800"/>
          </a:xfrm>
          <a:prstGeom prst="roundRect">
            <a:avLst>
              <a:gd name="adj" fmla="val 4000"/>
            </a:avLst>
          </a:prstGeom>
          <a:solidFill>
            <a:srgbClr val="FFFFFF"/>
          </a:solidFill>
          <a:ln w="12700">
            <a:solidFill>
              <a:srgbClr val="D8E7EA"/>
            </a:solidFill>
            <a:prstDash val="solid"/>
          </a:ln>
        </p:spPr>
      </p:sp>
      <p:sp>
        <p:nvSpPr>
          <p:cNvPr id="8" name="Text 5"/>
          <p:cNvSpPr/>
          <p:nvPr/>
        </p:nvSpPr>
        <p:spPr>
          <a:xfrm>
            <a:off x="6601968" y="1280160"/>
            <a:ext cx="4261104" cy="256032"/>
          </a:xfrm>
          <a:prstGeom prst="rect">
            <a:avLst/>
          </a:prstGeom>
          <a:noFill/>
          <a:ln/>
        </p:spPr>
        <p:txBody>
          <a:bodyPr wrap="square" lIns="0" tIns="0" rIns="0" bIns="0" rtlCol="0" anchor="ctr"/>
          <a:lstStyle/>
          <a:p>
            <a:pPr indent="0" marL="0">
              <a:buNone/>
            </a:pPr>
            <a:r>
              <a:rPr lang="en-US" sz="1250" b="1" dirty="0">
                <a:solidFill>
                  <a:srgbClr val="0B1F33"/>
                </a:solidFill>
                <a:latin typeface="Aptos Display" pitchFamily="34" charset="0"/>
                <a:ea typeface="Aptos Display" pitchFamily="34" charset="-122"/>
                <a:cs typeface="Aptos Display" pitchFamily="34" charset="-120"/>
              </a:rPr>
              <a:t>Correlaciones fuertes</a:t>
            </a:r>
            <a:endParaRPr lang="en-US" sz="1250" dirty="0"/>
          </a:p>
        </p:txBody>
      </p:sp>
      <p:sp>
        <p:nvSpPr>
          <p:cNvPr id="9" name="Text 6"/>
          <p:cNvSpPr/>
          <p:nvPr/>
        </p:nvSpPr>
        <p:spPr>
          <a:xfrm>
            <a:off x="6601968" y="1618488"/>
            <a:ext cx="4261104" cy="1207008"/>
          </a:xfrm>
          <a:prstGeom prst="rect">
            <a:avLst/>
          </a:prstGeom>
          <a:noFill/>
          <a:ln/>
        </p:spPr>
        <p:txBody>
          <a:bodyPr wrap="square" lIns="254" tIns="254" rIns="254" bIns="254" rtlCol="0" anchor="ctr">
            <a:normAutofit/>
          </a:bodyPr>
          <a:lstStyle/>
          <a:p>
            <a:pPr indent="0" marL="0">
              <a:buNone/>
            </a:pPr>
            <a:r>
              <a:rPr lang="en-US" sz="1250" dirty="0">
                <a:solidFill>
                  <a:srgbClr val="22313F"/>
                </a:solidFill>
                <a:latin typeface="Aptos" pitchFamily="34" charset="0"/>
                <a:ea typeface="Aptos" pitchFamily="34" charset="-122"/>
                <a:cs typeface="Aptos" pitchFamily="34" charset="-120"/>
              </a:rPr>
              <a:t>Radio, perímetro y área tienden a estar altamente relacionados. Esto es esperable porque describen dimensiones del tumor desde medidas conectadas.</a:t>
            </a:r>
            <a:endParaRPr lang="en-US" sz="1250" dirty="0"/>
          </a:p>
        </p:txBody>
      </p:sp>
      <p:sp>
        <p:nvSpPr>
          <p:cNvPr id="10" name="Shape 7"/>
          <p:cNvSpPr/>
          <p:nvPr/>
        </p:nvSpPr>
        <p:spPr>
          <a:xfrm>
            <a:off x="6400800" y="3429000"/>
            <a:ext cx="4663440" cy="1508760"/>
          </a:xfrm>
          <a:prstGeom prst="roundRect">
            <a:avLst>
              <a:gd name="adj" fmla="val 4848"/>
            </a:avLst>
          </a:prstGeom>
          <a:solidFill>
            <a:srgbClr val="FFFFFF"/>
          </a:solidFill>
          <a:ln w="12700">
            <a:solidFill>
              <a:srgbClr val="D8E7EA"/>
            </a:solidFill>
            <a:prstDash val="solid"/>
          </a:ln>
        </p:spPr>
      </p:sp>
      <p:sp>
        <p:nvSpPr>
          <p:cNvPr id="11" name="Text 8"/>
          <p:cNvSpPr/>
          <p:nvPr/>
        </p:nvSpPr>
        <p:spPr>
          <a:xfrm>
            <a:off x="6601968" y="3566160"/>
            <a:ext cx="4261104" cy="256032"/>
          </a:xfrm>
          <a:prstGeom prst="rect">
            <a:avLst/>
          </a:prstGeom>
          <a:noFill/>
          <a:ln/>
        </p:spPr>
        <p:txBody>
          <a:bodyPr wrap="square" lIns="0" tIns="0" rIns="0" bIns="0" rtlCol="0" anchor="ctr"/>
          <a:lstStyle/>
          <a:p>
            <a:pPr indent="0" marL="0">
              <a:buNone/>
            </a:pPr>
            <a:r>
              <a:rPr lang="en-US" sz="1250" b="1" dirty="0">
                <a:solidFill>
                  <a:srgbClr val="0B1F33"/>
                </a:solidFill>
                <a:latin typeface="Aptos Display" pitchFamily="34" charset="0"/>
                <a:ea typeface="Aptos Display" pitchFamily="34" charset="-122"/>
                <a:cs typeface="Aptos Display" pitchFamily="34" charset="-120"/>
              </a:rPr>
              <a:t>Uso en modelado</a:t>
            </a:r>
            <a:endParaRPr lang="en-US" sz="1250" dirty="0"/>
          </a:p>
        </p:txBody>
      </p:sp>
      <p:sp>
        <p:nvSpPr>
          <p:cNvPr id="12" name="Text 9"/>
          <p:cNvSpPr/>
          <p:nvPr/>
        </p:nvSpPr>
        <p:spPr>
          <a:xfrm>
            <a:off x="6601968" y="3904488"/>
            <a:ext cx="4261104" cy="886968"/>
          </a:xfrm>
          <a:prstGeom prst="rect">
            <a:avLst/>
          </a:prstGeom>
          <a:noFill/>
          <a:ln/>
        </p:spPr>
        <p:txBody>
          <a:bodyPr wrap="square" lIns="254" tIns="254" rIns="254" bIns="254" rtlCol="0" anchor="ctr">
            <a:normAutofit/>
          </a:bodyPr>
          <a:lstStyle/>
          <a:p>
            <a:pPr indent="0" marL="0">
              <a:buNone/>
            </a:pPr>
            <a:r>
              <a:rPr lang="en-US" sz="1250" dirty="0">
                <a:solidFill>
                  <a:srgbClr val="22313F"/>
                </a:solidFill>
                <a:latin typeface="Aptos" pitchFamily="34" charset="0"/>
                <a:ea typeface="Aptos" pitchFamily="34" charset="-122"/>
                <a:cs typeface="Aptos" pitchFamily="34" charset="-120"/>
              </a:rPr>
              <a:t>Estas relaciones ayudan a identificar redundancia y a justificar PCA como técnica de reducción de dimensionalidad.</a:t>
            </a:r>
            <a:endParaRPr lang="en-US" sz="1250" dirty="0"/>
          </a:p>
        </p:txBody>
      </p:sp>
      <p:sp>
        <p:nvSpPr>
          <p:cNvPr id="13" name="Shape 10"/>
          <p:cNvSpPr/>
          <p:nvPr/>
        </p:nvSpPr>
        <p:spPr>
          <a:xfrm>
            <a:off x="6400800" y="5257800"/>
            <a:ext cx="4663440" cy="594360"/>
          </a:xfrm>
          <a:prstGeom prst="roundRect">
            <a:avLst>
              <a:gd name="adj" fmla="val 12308"/>
            </a:avLst>
          </a:prstGeom>
          <a:solidFill>
            <a:srgbClr val="EBF5F6"/>
          </a:solidFill>
          <a:ln w="12700">
            <a:solidFill>
              <a:srgbClr val="D8E7EA"/>
            </a:solidFill>
            <a:prstDash val="solid"/>
          </a:ln>
        </p:spPr>
      </p:sp>
      <p:sp>
        <p:nvSpPr>
          <p:cNvPr id="14" name="Text 11"/>
          <p:cNvSpPr/>
          <p:nvPr/>
        </p:nvSpPr>
        <p:spPr>
          <a:xfrm>
            <a:off x="6601968" y="5394960"/>
            <a:ext cx="4261104" cy="256032"/>
          </a:xfrm>
          <a:prstGeom prst="rect">
            <a:avLst/>
          </a:prstGeom>
          <a:noFill/>
          <a:ln/>
        </p:spPr>
        <p:txBody>
          <a:bodyPr wrap="square" lIns="0" tIns="0" rIns="0" bIns="0" rtlCol="0" anchor="ctr"/>
          <a:lstStyle/>
          <a:p>
            <a:pPr indent="0" marL="0">
              <a:buNone/>
            </a:pPr>
            <a:r>
              <a:rPr lang="en-US" sz="1250" b="1" dirty="0">
                <a:solidFill>
                  <a:srgbClr val="0E7C86"/>
                </a:solidFill>
                <a:latin typeface="Aptos Display" pitchFamily="34" charset="0"/>
                <a:ea typeface="Aptos Display" pitchFamily="34" charset="-122"/>
                <a:cs typeface="Aptos Display" pitchFamily="34" charset="-120"/>
              </a:rPr>
              <a:t>Lectura</a:t>
            </a:r>
            <a:endParaRPr lang="en-US" sz="1250" dirty="0"/>
          </a:p>
        </p:txBody>
      </p:sp>
      <p:sp>
        <p:nvSpPr>
          <p:cNvPr id="15" name="Text 12"/>
          <p:cNvSpPr/>
          <p:nvPr/>
        </p:nvSpPr>
        <p:spPr>
          <a:xfrm>
            <a:off x="6601968" y="5733288"/>
            <a:ext cx="4261104" cy="-27432"/>
          </a:xfrm>
          <a:prstGeom prst="rect">
            <a:avLst/>
          </a:prstGeom>
          <a:noFill/>
          <a:ln/>
        </p:spPr>
        <p:txBody>
          <a:bodyPr wrap="square" lIns="254" tIns="254" rIns="254" bIns="254" rtlCol="0" anchor="ctr">
            <a:normAutofit/>
          </a:bodyPr>
          <a:lstStyle/>
          <a:p>
            <a:pPr indent="0" marL="0">
              <a:buNone/>
            </a:pPr>
            <a:r>
              <a:rPr lang="en-US" sz="1150" dirty="0">
                <a:solidFill>
                  <a:srgbClr val="22313F"/>
                </a:solidFill>
                <a:latin typeface="Aptos" pitchFamily="34" charset="0"/>
                <a:ea typeface="Aptos" pitchFamily="34" charset="-122"/>
                <a:cs typeface="Aptos" pitchFamily="34" charset="-120"/>
              </a:rPr>
              <a:t>El análisis multivariado muestra señales compartidas entre variables clínicas.</a:t>
            </a:r>
            <a:endParaRPr lang="en-US" sz="1150" dirty="0"/>
          </a:p>
        </p:txBody>
      </p:sp>
      <p:sp>
        <p:nvSpPr>
          <p:cNvPr id="25" name="Slide Number Placeholder 0"/>
          <p:cNvSpPr>
            <a:spLocks noGrp="1"/>
          </p:cNvSpPr>
          <p:nvPr>
            <p:ph type="sldNum" sz="quarter" idx="4294967295"/>
          </p:nvPr>
        </p:nvSpPr>
        <p:spPr>
          <a:xfrm>
            <a:off x="11841480" y="6510528"/>
            <a:ext cx="800000" cy="300000"/>
          </a:xfrm>
          <a:prstGeom prst="rect">
            <a:avLst/>
          </a:prstGeom>
          <a:extLst>
            <a:ext uri="{C572A759-6A51-4108-AA02-DFA0A04FC94B}">
              <ma14:wrappingTextBoxFlag xmlns:ma14="http://schemas.microsoft.com/office/mac/drawingml/2011/main" val="0"/>
            </a:ext>
          </a:extLst>
        </p:spPr>
        <p:txBody>
          <a:bodyPr/>
          <a:lstStyle>
            <a:lvl1pPr>
              <a:defRPr sz="750">
                <a:solidFill>
                  <a:srgbClr val="607D86"/>
                </a:solidFill>
                <a:latin typeface="Aptos"/>
                <a:ea typeface="Aptos"/>
                <a:cs typeface="Aptos"/>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AFB"/>
        </a:solidFill>
      </p:bgPr>
    </p:bg>
    <p:spTree>
      <p:nvGrpSpPr>
        <p:cNvPr id="1" name=""/>
        <p:cNvGrpSpPr/>
        <p:nvPr/>
      </p:nvGrpSpPr>
      <p:grpSpPr>
        <a:xfrm>
          <a:off x="0" y="0"/>
          <a:ext cx="0" cy="0"/>
          <a:chOff x="0" y="0"/>
          <a:chExt cx="0" cy="0"/>
        </a:xfrm>
      </p:grpSpPr>
      <p:sp>
        <p:nvSpPr>
          <p:cNvPr id="2" name="Shape 0"/>
          <p:cNvSpPr/>
          <p:nvPr/>
        </p:nvSpPr>
        <p:spPr>
          <a:xfrm>
            <a:off x="10698480" y="-320040"/>
            <a:ext cx="2103120" cy="2103120"/>
          </a:xfrm>
          <a:prstGeom prst="arc">
            <a:avLst/>
          </a:prstGeom>
          <a:solidFill>
            <a:srgbClr val="DFF3F5">
              <a:alpha val="55000"/>
            </a:srgbClr>
          </a:solidFill>
          <a:ln w="12700">
            <a:solidFill>
              <a:srgbClr val="DFF3F5">
                <a:alpha val="40000"/>
              </a:srgbClr>
            </a:solidFill>
            <a:prstDash val="solid"/>
          </a:ln>
        </p:spPr>
      </p:sp>
      <p:sp>
        <p:nvSpPr>
          <p:cNvPr id="3" name="Shape 1"/>
          <p:cNvSpPr/>
          <p:nvPr/>
        </p:nvSpPr>
        <p:spPr>
          <a:xfrm rot="10800000">
            <a:off x="-822960" y="5257800"/>
            <a:ext cx="2011680" cy="2011680"/>
          </a:xfrm>
          <a:prstGeom prst="arc">
            <a:avLst/>
          </a:prstGeom>
          <a:solidFill>
            <a:srgbClr val="DDEFE7">
              <a:alpha val="55000"/>
            </a:srgbClr>
          </a:solidFill>
          <a:ln w="12700">
            <a:solidFill>
              <a:srgbClr val="DDEFE7">
                <a:alpha val="45000"/>
              </a:srgbClr>
            </a:solidFill>
            <a:prstDash val="solid"/>
          </a:ln>
        </p:spPr>
      </p:sp>
      <p:sp>
        <p:nvSpPr>
          <p:cNvPr id="4" name="Text 2"/>
          <p:cNvSpPr/>
          <p:nvPr/>
        </p:nvSpPr>
        <p:spPr>
          <a:xfrm>
            <a:off x="566928" y="384048"/>
            <a:ext cx="5029200" cy="228600"/>
          </a:xfrm>
          <a:prstGeom prst="rect">
            <a:avLst/>
          </a:prstGeom>
          <a:noFill/>
          <a:ln/>
        </p:spPr>
        <p:txBody>
          <a:bodyPr wrap="square" rtlCol="0" anchor="ctr"/>
          <a:lstStyle/>
          <a:p>
            <a:pPr indent="0" marL="0">
              <a:buNone/>
            </a:pPr>
            <a:r>
              <a:rPr lang="en-US" sz="850" b="1" dirty="0">
                <a:solidFill>
                  <a:srgbClr val="0E7C86"/>
                </a:solidFill>
                <a:latin typeface="Aptos" pitchFamily="34" charset="0"/>
                <a:ea typeface="Aptos" pitchFamily="34" charset="-122"/>
                <a:cs typeface="Aptos" pitchFamily="34" charset="-120"/>
              </a:rPr>
              <a:t>07 · PIPELINE</a:t>
            </a:r>
            <a:endParaRPr lang="en-US" sz="850" dirty="0"/>
          </a:p>
        </p:txBody>
      </p:sp>
      <p:sp>
        <p:nvSpPr>
          <p:cNvPr id="5" name="Text 3"/>
          <p:cNvSpPr/>
          <p:nvPr/>
        </p:nvSpPr>
        <p:spPr>
          <a:xfrm>
            <a:off x="548640" y="694944"/>
            <a:ext cx="10881360" cy="502920"/>
          </a:xfrm>
          <a:prstGeom prst="rect">
            <a:avLst/>
          </a:prstGeom>
          <a:noFill/>
          <a:ln/>
        </p:spPr>
        <p:txBody>
          <a:bodyPr wrap="square" lIns="0" tIns="0" rIns="0" bIns="0" rtlCol="0" anchor="ctr"/>
          <a:lstStyle/>
          <a:p>
            <a:pPr indent="0" marL="0">
              <a:buNone/>
            </a:pPr>
            <a:r>
              <a:rPr lang="en-US" sz="2500" b="1" dirty="0">
                <a:solidFill>
                  <a:srgbClr val="0B1F33"/>
                </a:solidFill>
                <a:latin typeface="Aptos Display" pitchFamily="34" charset="0"/>
                <a:ea typeface="Aptos Display" pitchFamily="34" charset="-122"/>
                <a:cs typeface="Aptos Display" pitchFamily="34" charset="-120"/>
              </a:rPr>
              <a:t>Preparación de datos</a:t>
            </a:r>
            <a:endParaRPr lang="en-US" sz="2500" dirty="0"/>
          </a:p>
        </p:txBody>
      </p:sp>
      <p:sp>
        <p:nvSpPr>
          <p:cNvPr id="6" name="Shape 4"/>
          <p:cNvSpPr/>
          <p:nvPr/>
        </p:nvSpPr>
        <p:spPr>
          <a:xfrm>
            <a:off x="777240" y="1463040"/>
            <a:ext cx="1691640" cy="1005840"/>
          </a:xfrm>
          <a:prstGeom prst="roundRect">
            <a:avLst>
              <a:gd name="adj" fmla="val 7273"/>
            </a:avLst>
          </a:prstGeom>
          <a:solidFill>
            <a:srgbClr val="FFFFFF"/>
          </a:solidFill>
          <a:ln w="12700">
            <a:solidFill>
              <a:srgbClr val="D8E7EA"/>
            </a:solidFill>
            <a:prstDash val="solid"/>
          </a:ln>
        </p:spPr>
      </p:sp>
      <p:sp>
        <p:nvSpPr>
          <p:cNvPr id="7" name="Text 5"/>
          <p:cNvSpPr/>
          <p:nvPr/>
        </p:nvSpPr>
        <p:spPr>
          <a:xfrm>
            <a:off x="868680" y="1609344"/>
            <a:ext cx="347472" cy="256032"/>
          </a:xfrm>
          <a:prstGeom prst="rect">
            <a:avLst/>
          </a:prstGeom>
          <a:noFill/>
          <a:ln/>
        </p:spPr>
        <p:txBody>
          <a:bodyPr wrap="square" lIns="0" tIns="0" rIns="0" bIns="0" rtlCol="0" anchor="ctr"/>
          <a:lstStyle/>
          <a:p>
            <a:pPr algn="ctr" indent="0" marL="0">
              <a:buNone/>
            </a:pPr>
            <a:r>
              <a:rPr lang="en-US" sz="1800" b="1" dirty="0">
                <a:solidFill>
                  <a:srgbClr val="0E7C86"/>
                </a:solidFill>
                <a:latin typeface="Aptos Display" pitchFamily="34" charset="0"/>
                <a:ea typeface="Aptos Display" pitchFamily="34" charset="-122"/>
                <a:cs typeface="Aptos Display" pitchFamily="34" charset="-120"/>
              </a:rPr>
              <a:t>1</a:t>
            </a:r>
            <a:endParaRPr lang="en-US" sz="1800" dirty="0"/>
          </a:p>
        </p:txBody>
      </p:sp>
      <p:sp>
        <p:nvSpPr>
          <p:cNvPr id="8" name="Text 6"/>
          <p:cNvSpPr/>
          <p:nvPr/>
        </p:nvSpPr>
        <p:spPr>
          <a:xfrm>
            <a:off x="1216152" y="1572768"/>
            <a:ext cx="1051560" cy="201168"/>
          </a:xfrm>
          <a:prstGeom prst="rect">
            <a:avLst/>
          </a:prstGeom>
          <a:noFill/>
          <a:ln/>
        </p:spPr>
        <p:txBody>
          <a:bodyPr wrap="square" lIns="0" tIns="0" rIns="0" bIns="0" rtlCol="0" anchor="ctr"/>
          <a:lstStyle/>
          <a:p>
            <a:pPr algn="l" indent="0" marL="0">
              <a:buNone/>
            </a:pPr>
            <a:r>
              <a:rPr lang="en-US" sz="1150" b="1" dirty="0">
                <a:solidFill>
                  <a:srgbClr val="0B1F33"/>
                </a:solidFill>
                <a:latin typeface="Aptos Display" pitchFamily="34" charset="0"/>
                <a:ea typeface="Aptos Display" pitchFamily="34" charset="-122"/>
                <a:cs typeface="Aptos Display" pitchFamily="34" charset="-120"/>
              </a:rPr>
              <a:t>Encoding</a:t>
            </a:r>
            <a:endParaRPr lang="en-US" sz="1150" dirty="0"/>
          </a:p>
        </p:txBody>
      </p:sp>
      <p:sp>
        <p:nvSpPr>
          <p:cNvPr id="9" name="Text 7"/>
          <p:cNvSpPr/>
          <p:nvPr/>
        </p:nvSpPr>
        <p:spPr>
          <a:xfrm>
            <a:off x="1216152" y="1847088"/>
            <a:ext cx="1051560" cy="347472"/>
          </a:xfrm>
          <a:prstGeom prst="rect">
            <a:avLst/>
          </a:prstGeom>
          <a:noFill/>
          <a:ln/>
        </p:spPr>
        <p:txBody>
          <a:bodyPr wrap="square" lIns="0" tIns="0" rIns="0" bIns="0" rtlCol="0" anchor="ctr">
            <a:normAutofit/>
          </a:bodyPr>
          <a:lstStyle/>
          <a:p>
            <a:pPr indent="0" marL="0">
              <a:buNone/>
            </a:pPr>
            <a:r>
              <a:rPr lang="en-US" sz="850" dirty="0">
                <a:solidFill>
                  <a:srgbClr val="5C6970"/>
                </a:solidFill>
                <a:latin typeface="Aptos" pitchFamily="34" charset="0"/>
                <a:ea typeface="Aptos" pitchFamily="34" charset="-122"/>
                <a:cs typeface="Aptos" pitchFamily="34" charset="-120"/>
              </a:rPr>
              <a:t>diagnosis: M=1, B=0</a:t>
            </a:r>
            <a:endParaRPr lang="en-US" sz="850" dirty="0"/>
          </a:p>
        </p:txBody>
      </p:sp>
      <p:sp>
        <p:nvSpPr>
          <p:cNvPr id="10" name="Shape 8"/>
          <p:cNvSpPr/>
          <p:nvPr/>
        </p:nvSpPr>
        <p:spPr>
          <a:xfrm>
            <a:off x="3017520" y="1463040"/>
            <a:ext cx="1691640" cy="1005840"/>
          </a:xfrm>
          <a:prstGeom prst="roundRect">
            <a:avLst>
              <a:gd name="adj" fmla="val 7273"/>
            </a:avLst>
          </a:prstGeom>
          <a:solidFill>
            <a:srgbClr val="EBF5F6"/>
          </a:solidFill>
          <a:ln w="12700">
            <a:solidFill>
              <a:srgbClr val="D8E7EA"/>
            </a:solidFill>
            <a:prstDash val="solid"/>
          </a:ln>
        </p:spPr>
      </p:sp>
      <p:sp>
        <p:nvSpPr>
          <p:cNvPr id="11" name="Text 9"/>
          <p:cNvSpPr/>
          <p:nvPr/>
        </p:nvSpPr>
        <p:spPr>
          <a:xfrm>
            <a:off x="3108960" y="1609344"/>
            <a:ext cx="347472" cy="256032"/>
          </a:xfrm>
          <a:prstGeom prst="rect">
            <a:avLst/>
          </a:prstGeom>
          <a:noFill/>
          <a:ln/>
        </p:spPr>
        <p:txBody>
          <a:bodyPr wrap="square" lIns="0" tIns="0" rIns="0" bIns="0" rtlCol="0" anchor="ctr"/>
          <a:lstStyle/>
          <a:p>
            <a:pPr algn="ctr" indent="0" marL="0">
              <a:buNone/>
            </a:pPr>
            <a:r>
              <a:rPr lang="en-US" sz="1800" b="1" dirty="0">
                <a:solidFill>
                  <a:srgbClr val="0E7C86"/>
                </a:solidFill>
                <a:latin typeface="Aptos Display" pitchFamily="34" charset="0"/>
                <a:ea typeface="Aptos Display" pitchFamily="34" charset="-122"/>
                <a:cs typeface="Aptos Display" pitchFamily="34" charset="-120"/>
              </a:rPr>
              <a:t>2</a:t>
            </a:r>
            <a:endParaRPr lang="en-US" sz="1800" dirty="0"/>
          </a:p>
        </p:txBody>
      </p:sp>
      <p:sp>
        <p:nvSpPr>
          <p:cNvPr id="12" name="Text 10"/>
          <p:cNvSpPr/>
          <p:nvPr/>
        </p:nvSpPr>
        <p:spPr>
          <a:xfrm>
            <a:off x="3456432" y="1572768"/>
            <a:ext cx="1051560" cy="201168"/>
          </a:xfrm>
          <a:prstGeom prst="rect">
            <a:avLst/>
          </a:prstGeom>
          <a:noFill/>
          <a:ln/>
        </p:spPr>
        <p:txBody>
          <a:bodyPr wrap="square" lIns="0" tIns="0" rIns="0" bIns="0" rtlCol="0" anchor="ctr"/>
          <a:lstStyle/>
          <a:p>
            <a:pPr algn="l" indent="0" marL="0">
              <a:buNone/>
            </a:pPr>
            <a:r>
              <a:rPr lang="en-US" sz="1150" b="1" dirty="0">
                <a:solidFill>
                  <a:srgbClr val="0B1F33"/>
                </a:solidFill>
                <a:latin typeface="Aptos Display" pitchFamily="34" charset="0"/>
                <a:ea typeface="Aptos Display" pitchFamily="34" charset="-122"/>
                <a:cs typeface="Aptos Display" pitchFamily="34" charset="-120"/>
              </a:rPr>
              <a:t>Separación</a:t>
            </a:r>
            <a:endParaRPr lang="en-US" sz="1150" dirty="0"/>
          </a:p>
        </p:txBody>
      </p:sp>
      <p:sp>
        <p:nvSpPr>
          <p:cNvPr id="13" name="Text 11"/>
          <p:cNvSpPr/>
          <p:nvPr/>
        </p:nvSpPr>
        <p:spPr>
          <a:xfrm>
            <a:off x="3456432" y="1847088"/>
            <a:ext cx="1051560" cy="347472"/>
          </a:xfrm>
          <a:prstGeom prst="rect">
            <a:avLst/>
          </a:prstGeom>
          <a:noFill/>
          <a:ln/>
        </p:spPr>
        <p:txBody>
          <a:bodyPr wrap="square" lIns="0" tIns="0" rIns="0" bIns="0" rtlCol="0" anchor="ctr">
            <a:normAutofit/>
          </a:bodyPr>
          <a:lstStyle/>
          <a:p>
            <a:pPr indent="0" marL="0">
              <a:buNone/>
            </a:pPr>
            <a:r>
              <a:rPr lang="en-US" sz="850" dirty="0">
                <a:solidFill>
                  <a:srgbClr val="5C6970"/>
                </a:solidFill>
                <a:latin typeface="Aptos" pitchFamily="34" charset="0"/>
                <a:ea typeface="Aptos" pitchFamily="34" charset="-122"/>
                <a:cs typeface="Aptos" pitchFamily="34" charset="-120"/>
              </a:rPr>
              <a:t>X predictoras / y objetivo</a:t>
            </a:r>
            <a:endParaRPr lang="en-US" sz="850" dirty="0"/>
          </a:p>
        </p:txBody>
      </p:sp>
      <p:sp>
        <p:nvSpPr>
          <p:cNvPr id="14" name="Shape 12"/>
          <p:cNvSpPr/>
          <p:nvPr/>
        </p:nvSpPr>
        <p:spPr>
          <a:xfrm>
            <a:off x="5257800" y="1463040"/>
            <a:ext cx="1691640" cy="1005840"/>
          </a:xfrm>
          <a:prstGeom prst="roundRect">
            <a:avLst>
              <a:gd name="adj" fmla="val 7273"/>
            </a:avLst>
          </a:prstGeom>
          <a:solidFill>
            <a:srgbClr val="FFFFFF"/>
          </a:solidFill>
          <a:ln w="12700">
            <a:solidFill>
              <a:srgbClr val="D8E7EA"/>
            </a:solidFill>
            <a:prstDash val="solid"/>
          </a:ln>
        </p:spPr>
      </p:sp>
      <p:sp>
        <p:nvSpPr>
          <p:cNvPr id="15" name="Text 13"/>
          <p:cNvSpPr/>
          <p:nvPr/>
        </p:nvSpPr>
        <p:spPr>
          <a:xfrm>
            <a:off x="5349240" y="1609344"/>
            <a:ext cx="347472" cy="256032"/>
          </a:xfrm>
          <a:prstGeom prst="rect">
            <a:avLst/>
          </a:prstGeom>
          <a:noFill/>
          <a:ln/>
        </p:spPr>
        <p:txBody>
          <a:bodyPr wrap="square" lIns="0" tIns="0" rIns="0" bIns="0" rtlCol="0" anchor="ctr"/>
          <a:lstStyle/>
          <a:p>
            <a:pPr algn="ctr" indent="0" marL="0">
              <a:buNone/>
            </a:pPr>
            <a:r>
              <a:rPr lang="en-US" sz="1800" b="1" dirty="0">
                <a:solidFill>
                  <a:srgbClr val="0E7C86"/>
                </a:solidFill>
                <a:latin typeface="Aptos Display" pitchFamily="34" charset="0"/>
                <a:ea typeface="Aptos Display" pitchFamily="34" charset="-122"/>
                <a:cs typeface="Aptos Display" pitchFamily="34" charset="-120"/>
              </a:rPr>
              <a:t>3</a:t>
            </a:r>
            <a:endParaRPr lang="en-US" sz="1800" dirty="0"/>
          </a:p>
        </p:txBody>
      </p:sp>
      <p:sp>
        <p:nvSpPr>
          <p:cNvPr id="16" name="Text 14"/>
          <p:cNvSpPr/>
          <p:nvPr/>
        </p:nvSpPr>
        <p:spPr>
          <a:xfrm>
            <a:off x="5696712" y="1572768"/>
            <a:ext cx="1051560" cy="201168"/>
          </a:xfrm>
          <a:prstGeom prst="rect">
            <a:avLst/>
          </a:prstGeom>
          <a:noFill/>
          <a:ln/>
        </p:spPr>
        <p:txBody>
          <a:bodyPr wrap="square" lIns="0" tIns="0" rIns="0" bIns="0" rtlCol="0" anchor="ctr"/>
          <a:lstStyle/>
          <a:p>
            <a:pPr algn="l" indent="0" marL="0">
              <a:buNone/>
            </a:pPr>
            <a:r>
              <a:rPr lang="en-US" sz="1150" b="1" dirty="0">
                <a:solidFill>
                  <a:srgbClr val="0B1F33"/>
                </a:solidFill>
                <a:latin typeface="Aptos Display" pitchFamily="34" charset="0"/>
                <a:ea typeface="Aptos Display" pitchFamily="34" charset="-122"/>
                <a:cs typeface="Aptos Display" pitchFamily="34" charset="-120"/>
              </a:rPr>
              <a:t>Escalado</a:t>
            </a:r>
            <a:endParaRPr lang="en-US" sz="1150" dirty="0"/>
          </a:p>
        </p:txBody>
      </p:sp>
      <p:sp>
        <p:nvSpPr>
          <p:cNvPr id="17" name="Text 15"/>
          <p:cNvSpPr/>
          <p:nvPr/>
        </p:nvSpPr>
        <p:spPr>
          <a:xfrm>
            <a:off x="5696712" y="1847088"/>
            <a:ext cx="1051560" cy="347472"/>
          </a:xfrm>
          <a:prstGeom prst="rect">
            <a:avLst/>
          </a:prstGeom>
          <a:noFill/>
          <a:ln/>
        </p:spPr>
        <p:txBody>
          <a:bodyPr wrap="square" lIns="0" tIns="0" rIns="0" bIns="0" rtlCol="0" anchor="ctr">
            <a:normAutofit/>
          </a:bodyPr>
          <a:lstStyle/>
          <a:p>
            <a:pPr indent="0" marL="0">
              <a:buNone/>
            </a:pPr>
            <a:r>
              <a:rPr lang="en-US" sz="850" dirty="0">
                <a:solidFill>
                  <a:srgbClr val="5C6970"/>
                </a:solidFill>
                <a:latin typeface="Aptos" pitchFamily="34" charset="0"/>
                <a:ea typeface="Aptos" pitchFamily="34" charset="-122"/>
                <a:cs typeface="Aptos" pitchFamily="34" charset="-120"/>
              </a:rPr>
              <a:t>StandardScaler para KNN, SVM y PCA</a:t>
            </a:r>
            <a:endParaRPr lang="en-US" sz="850" dirty="0"/>
          </a:p>
        </p:txBody>
      </p:sp>
      <p:sp>
        <p:nvSpPr>
          <p:cNvPr id="18" name="Shape 16"/>
          <p:cNvSpPr/>
          <p:nvPr/>
        </p:nvSpPr>
        <p:spPr>
          <a:xfrm>
            <a:off x="7498080" y="1463040"/>
            <a:ext cx="1691640" cy="1005840"/>
          </a:xfrm>
          <a:prstGeom prst="roundRect">
            <a:avLst>
              <a:gd name="adj" fmla="val 7273"/>
            </a:avLst>
          </a:prstGeom>
          <a:solidFill>
            <a:srgbClr val="EBF5F6"/>
          </a:solidFill>
          <a:ln w="12700">
            <a:solidFill>
              <a:srgbClr val="D8E7EA"/>
            </a:solidFill>
            <a:prstDash val="solid"/>
          </a:ln>
        </p:spPr>
      </p:sp>
      <p:sp>
        <p:nvSpPr>
          <p:cNvPr id="19" name="Text 17"/>
          <p:cNvSpPr/>
          <p:nvPr/>
        </p:nvSpPr>
        <p:spPr>
          <a:xfrm>
            <a:off x="7589520" y="1609344"/>
            <a:ext cx="347472" cy="256032"/>
          </a:xfrm>
          <a:prstGeom prst="rect">
            <a:avLst/>
          </a:prstGeom>
          <a:noFill/>
          <a:ln/>
        </p:spPr>
        <p:txBody>
          <a:bodyPr wrap="square" lIns="0" tIns="0" rIns="0" bIns="0" rtlCol="0" anchor="ctr"/>
          <a:lstStyle/>
          <a:p>
            <a:pPr algn="ctr" indent="0" marL="0">
              <a:buNone/>
            </a:pPr>
            <a:r>
              <a:rPr lang="en-US" sz="1800" b="1" dirty="0">
                <a:solidFill>
                  <a:srgbClr val="0E7C86"/>
                </a:solidFill>
                <a:latin typeface="Aptos Display" pitchFamily="34" charset="0"/>
                <a:ea typeface="Aptos Display" pitchFamily="34" charset="-122"/>
                <a:cs typeface="Aptos Display" pitchFamily="34" charset="-120"/>
              </a:rPr>
              <a:t>4</a:t>
            </a:r>
            <a:endParaRPr lang="en-US" sz="1800" dirty="0"/>
          </a:p>
        </p:txBody>
      </p:sp>
      <p:sp>
        <p:nvSpPr>
          <p:cNvPr id="20" name="Text 18"/>
          <p:cNvSpPr/>
          <p:nvPr/>
        </p:nvSpPr>
        <p:spPr>
          <a:xfrm>
            <a:off x="7936992" y="1572768"/>
            <a:ext cx="1051560" cy="201168"/>
          </a:xfrm>
          <a:prstGeom prst="rect">
            <a:avLst/>
          </a:prstGeom>
          <a:noFill/>
          <a:ln/>
        </p:spPr>
        <p:txBody>
          <a:bodyPr wrap="square" lIns="0" tIns="0" rIns="0" bIns="0" rtlCol="0" anchor="ctr"/>
          <a:lstStyle/>
          <a:p>
            <a:pPr algn="l" indent="0" marL="0">
              <a:buNone/>
            </a:pPr>
            <a:r>
              <a:rPr lang="en-US" sz="1150" b="1" dirty="0">
                <a:solidFill>
                  <a:srgbClr val="0B1F33"/>
                </a:solidFill>
                <a:latin typeface="Aptos Display" pitchFamily="34" charset="0"/>
                <a:ea typeface="Aptos Display" pitchFamily="34" charset="-122"/>
                <a:cs typeface="Aptos Display" pitchFamily="34" charset="-120"/>
              </a:rPr>
              <a:t>Train/Test</a:t>
            </a:r>
            <a:endParaRPr lang="en-US" sz="1150" dirty="0"/>
          </a:p>
        </p:txBody>
      </p:sp>
      <p:sp>
        <p:nvSpPr>
          <p:cNvPr id="21" name="Text 19"/>
          <p:cNvSpPr/>
          <p:nvPr/>
        </p:nvSpPr>
        <p:spPr>
          <a:xfrm>
            <a:off x="7936992" y="1847088"/>
            <a:ext cx="1051560" cy="347472"/>
          </a:xfrm>
          <a:prstGeom prst="rect">
            <a:avLst/>
          </a:prstGeom>
          <a:noFill/>
          <a:ln/>
        </p:spPr>
        <p:txBody>
          <a:bodyPr wrap="square" lIns="0" tIns="0" rIns="0" bIns="0" rtlCol="0" anchor="ctr">
            <a:normAutofit/>
          </a:bodyPr>
          <a:lstStyle/>
          <a:p>
            <a:pPr indent="0" marL="0">
              <a:buNone/>
            </a:pPr>
            <a:r>
              <a:rPr lang="en-US" sz="850" dirty="0">
                <a:solidFill>
                  <a:srgbClr val="5C6970"/>
                </a:solidFill>
                <a:latin typeface="Aptos" pitchFamily="34" charset="0"/>
                <a:ea typeface="Aptos" pitchFamily="34" charset="-122"/>
                <a:cs typeface="Aptos" pitchFamily="34" charset="-120"/>
              </a:rPr>
              <a:t>Comparación justa entre modelos</a:t>
            </a:r>
            <a:endParaRPr lang="en-US" sz="850" dirty="0"/>
          </a:p>
        </p:txBody>
      </p:sp>
      <p:sp>
        <p:nvSpPr>
          <p:cNvPr id="22" name="Shape 20"/>
          <p:cNvSpPr/>
          <p:nvPr/>
        </p:nvSpPr>
        <p:spPr>
          <a:xfrm>
            <a:off x="9738360" y="1463040"/>
            <a:ext cx="1691640" cy="1005840"/>
          </a:xfrm>
          <a:prstGeom prst="roundRect">
            <a:avLst>
              <a:gd name="adj" fmla="val 7273"/>
            </a:avLst>
          </a:prstGeom>
          <a:solidFill>
            <a:srgbClr val="FFFFFF"/>
          </a:solidFill>
          <a:ln w="12700">
            <a:solidFill>
              <a:srgbClr val="D8E7EA"/>
            </a:solidFill>
            <a:prstDash val="solid"/>
          </a:ln>
        </p:spPr>
      </p:sp>
      <p:sp>
        <p:nvSpPr>
          <p:cNvPr id="23" name="Text 21"/>
          <p:cNvSpPr/>
          <p:nvPr/>
        </p:nvSpPr>
        <p:spPr>
          <a:xfrm>
            <a:off x="9829800" y="1609344"/>
            <a:ext cx="347472" cy="256032"/>
          </a:xfrm>
          <a:prstGeom prst="rect">
            <a:avLst/>
          </a:prstGeom>
          <a:noFill/>
          <a:ln/>
        </p:spPr>
        <p:txBody>
          <a:bodyPr wrap="square" lIns="0" tIns="0" rIns="0" bIns="0" rtlCol="0" anchor="ctr"/>
          <a:lstStyle/>
          <a:p>
            <a:pPr algn="ctr" indent="0" marL="0">
              <a:buNone/>
            </a:pPr>
            <a:r>
              <a:rPr lang="en-US" sz="1800" b="1" dirty="0">
                <a:solidFill>
                  <a:srgbClr val="0E7C86"/>
                </a:solidFill>
                <a:latin typeface="Aptos Display" pitchFamily="34" charset="0"/>
                <a:ea typeface="Aptos Display" pitchFamily="34" charset="-122"/>
                <a:cs typeface="Aptos Display" pitchFamily="34" charset="-120"/>
              </a:rPr>
              <a:t>5</a:t>
            </a:r>
            <a:endParaRPr lang="en-US" sz="1800" dirty="0"/>
          </a:p>
        </p:txBody>
      </p:sp>
      <p:sp>
        <p:nvSpPr>
          <p:cNvPr id="24" name="Text 22"/>
          <p:cNvSpPr/>
          <p:nvPr/>
        </p:nvSpPr>
        <p:spPr>
          <a:xfrm>
            <a:off x="10177272" y="1572768"/>
            <a:ext cx="1051560" cy="201168"/>
          </a:xfrm>
          <a:prstGeom prst="rect">
            <a:avLst/>
          </a:prstGeom>
          <a:noFill/>
          <a:ln/>
        </p:spPr>
        <p:txBody>
          <a:bodyPr wrap="square" lIns="0" tIns="0" rIns="0" bIns="0" rtlCol="0" anchor="ctr"/>
          <a:lstStyle/>
          <a:p>
            <a:pPr algn="l" indent="0" marL="0">
              <a:buNone/>
            </a:pPr>
            <a:r>
              <a:rPr lang="en-US" sz="1150" b="1" dirty="0">
                <a:solidFill>
                  <a:srgbClr val="0B1F33"/>
                </a:solidFill>
                <a:latin typeface="Aptos Display" pitchFamily="34" charset="0"/>
                <a:ea typeface="Aptos Display" pitchFamily="34" charset="-122"/>
                <a:cs typeface="Aptos Display" pitchFamily="34" charset="-120"/>
              </a:rPr>
              <a:t>PCA</a:t>
            </a:r>
            <a:endParaRPr lang="en-US" sz="1150" dirty="0"/>
          </a:p>
        </p:txBody>
      </p:sp>
      <p:sp>
        <p:nvSpPr>
          <p:cNvPr id="25" name="Text 23"/>
          <p:cNvSpPr/>
          <p:nvPr/>
        </p:nvSpPr>
        <p:spPr>
          <a:xfrm>
            <a:off x="10177272" y="1847088"/>
            <a:ext cx="1051560" cy="347472"/>
          </a:xfrm>
          <a:prstGeom prst="rect">
            <a:avLst/>
          </a:prstGeom>
          <a:noFill/>
          <a:ln/>
        </p:spPr>
        <p:txBody>
          <a:bodyPr wrap="square" lIns="0" tIns="0" rIns="0" bIns="0" rtlCol="0" anchor="ctr">
            <a:normAutofit/>
          </a:bodyPr>
          <a:lstStyle/>
          <a:p>
            <a:pPr indent="0" marL="0">
              <a:buNone/>
            </a:pPr>
            <a:r>
              <a:rPr lang="en-US" sz="850" dirty="0">
                <a:solidFill>
                  <a:srgbClr val="5C6970"/>
                </a:solidFill>
                <a:latin typeface="Aptos" pitchFamily="34" charset="0"/>
                <a:ea typeface="Aptos" pitchFamily="34" charset="-122"/>
                <a:cs typeface="Aptos" pitchFamily="34" charset="-120"/>
              </a:rPr>
              <a:t>Reducción de dimensionalidad cuando corresponde</a:t>
            </a:r>
            <a:endParaRPr lang="en-US" sz="850" dirty="0"/>
          </a:p>
        </p:txBody>
      </p:sp>
      <p:sp>
        <p:nvSpPr>
          <p:cNvPr id="26" name="Shape 24"/>
          <p:cNvSpPr/>
          <p:nvPr/>
        </p:nvSpPr>
        <p:spPr>
          <a:xfrm>
            <a:off x="960120" y="3657600"/>
            <a:ext cx="10149840" cy="1325880"/>
          </a:xfrm>
          <a:prstGeom prst="roundRect">
            <a:avLst>
              <a:gd name="adj" fmla="val 5517"/>
            </a:avLst>
          </a:prstGeom>
          <a:solidFill>
            <a:srgbClr val="FFFFFF"/>
          </a:solidFill>
          <a:ln w="12700">
            <a:solidFill>
              <a:srgbClr val="D8E7EA"/>
            </a:solidFill>
            <a:prstDash val="solid"/>
          </a:ln>
        </p:spPr>
      </p:sp>
      <p:sp>
        <p:nvSpPr>
          <p:cNvPr id="27" name="Text 25"/>
          <p:cNvSpPr/>
          <p:nvPr/>
        </p:nvSpPr>
        <p:spPr>
          <a:xfrm>
            <a:off x="1161288" y="3794760"/>
            <a:ext cx="9747504" cy="256032"/>
          </a:xfrm>
          <a:prstGeom prst="rect">
            <a:avLst/>
          </a:prstGeom>
          <a:noFill/>
          <a:ln/>
        </p:spPr>
        <p:txBody>
          <a:bodyPr wrap="square" lIns="0" tIns="0" rIns="0" bIns="0" rtlCol="0" anchor="ctr"/>
          <a:lstStyle/>
          <a:p>
            <a:pPr indent="0" marL="0">
              <a:buNone/>
            </a:pPr>
            <a:r>
              <a:rPr lang="en-US" sz="1250" b="1" dirty="0">
                <a:solidFill>
                  <a:srgbClr val="0B1F33"/>
                </a:solidFill>
                <a:latin typeface="Aptos Display" pitchFamily="34" charset="0"/>
                <a:ea typeface="Aptos Display" pitchFamily="34" charset="-122"/>
                <a:cs typeface="Aptos Display" pitchFamily="34" charset="-120"/>
              </a:rPr>
              <a:t>Justificación</a:t>
            </a:r>
            <a:endParaRPr lang="en-US" sz="1250" dirty="0"/>
          </a:p>
        </p:txBody>
      </p:sp>
      <p:sp>
        <p:nvSpPr>
          <p:cNvPr id="28" name="Text 26"/>
          <p:cNvSpPr/>
          <p:nvPr/>
        </p:nvSpPr>
        <p:spPr>
          <a:xfrm>
            <a:off x="1161288" y="4133088"/>
            <a:ext cx="9747504" cy="704088"/>
          </a:xfrm>
          <a:prstGeom prst="rect">
            <a:avLst/>
          </a:prstGeom>
          <a:noFill/>
          <a:ln/>
        </p:spPr>
        <p:txBody>
          <a:bodyPr wrap="square" lIns="254" tIns="254" rIns="254" bIns="254" rtlCol="0" anchor="ctr">
            <a:normAutofit/>
          </a:bodyPr>
          <a:lstStyle/>
          <a:p>
            <a:pPr indent="0" marL="0">
              <a:buNone/>
            </a:pPr>
            <a:r>
              <a:rPr lang="en-US" sz="1300" dirty="0">
                <a:solidFill>
                  <a:srgbClr val="22313F"/>
                </a:solidFill>
                <a:latin typeface="Aptos" pitchFamily="34" charset="0"/>
                <a:ea typeface="Aptos" pitchFamily="34" charset="-122"/>
                <a:cs typeface="Aptos" pitchFamily="34" charset="-120"/>
              </a:rPr>
              <a:t>El escalado evita que variables con rangos más grandes dominen modelos basados en distancia o magnitud. PCA se usa para resumir información y evaluar si una representación compacta conserva capacidad predictiva.</a:t>
            </a:r>
            <a:endParaRPr lang="en-US" sz="1300" dirty="0"/>
          </a:p>
        </p:txBody>
      </p:sp>
      <p:sp>
        <p:nvSpPr>
          <p:cNvPr id="25" name="Slide Number Placeholder 0"/>
          <p:cNvSpPr>
            <a:spLocks noGrp="1"/>
          </p:cNvSpPr>
          <p:nvPr>
            <p:ph type="sldNum" sz="quarter" idx="4294967295"/>
          </p:nvPr>
        </p:nvSpPr>
        <p:spPr>
          <a:xfrm>
            <a:off x="11841480" y="6510528"/>
            <a:ext cx="800000" cy="300000"/>
          </a:xfrm>
          <a:prstGeom prst="rect">
            <a:avLst/>
          </a:prstGeom>
          <a:extLst>
            <a:ext uri="{C572A759-6A51-4108-AA02-DFA0A04FC94B}">
              <ma14:wrappingTextBoxFlag xmlns:ma14="http://schemas.microsoft.com/office/mac/drawingml/2011/main" val="0"/>
            </a:ext>
          </a:extLst>
        </p:spPr>
        <p:txBody>
          <a:bodyPr/>
          <a:lstStyle>
            <a:lvl1pPr>
              <a:defRPr sz="750">
                <a:solidFill>
                  <a:srgbClr val="607D86"/>
                </a:solidFill>
                <a:latin typeface="Aptos"/>
                <a:ea typeface="Aptos"/>
                <a:cs typeface="Aptos"/>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AFB"/>
        </a:solidFill>
      </p:bgPr>
    </p:bg>
    <p:spTree>
      <p:nvGrpSpPr>
        <p:cNvPr id="1" name=""/>
        <p:cNvGrpSpPr/>
        <p:nvPr/>
      </p:nvGrpSpPr>
      <p:grpSpPr>
        <a:xfrm>
          <a:off x="0" y="0"/>
          <a:ext cx="0" cy="0"/>
          <a:chOff x="0" y="0"/>
          <a:chExt cx="0" cy="0"/>
        </a:xfrm>
      </p:grpSpPr>
      <p:sp>
        <p:nvSpPr>
          <p:cNvPr id="2" name="Shape 0"/>
          <p:cNvSpPr/>
          <p:nvPr/>
        </p:nvSpPr>
        <p:spPr>
          <a:xfrm>
            <a:off x="10698480" y="-320040"/>
            <a:ext cx="2103120" cy="2103120"/>
          </a:xfrm>
          <a:prstGeom prst="arc">
            <a:avLst/>
          </a:prstGeom>
          <a:solidFill>
            <a:srgbClr val="DFF3F5">
              <a:alpha val="55000"/>
            </a:srgbClr>
          </a:solidFill>
          <a:ln w="12700">
            <a:solidFill>
              <a:srgbClr val="DFF3F5">
                <a:alpha val="40000"/>
              </a:srgbClr>
            </a:solidFill>
            <a:prstDash val="solid"/>
          </a:ln>
        </p:spPr>
      </p:sp>
      <p:sp>
        <p:nvSpPr>
          <p:cNvPr id="3" name="Shape 1"/>
          <p:cNvSpPr/>
          <p:nvPr/>
        </p:nvSpPr>
        <p:spPr>
          <a:xfrm rot="10800000">
            <a:off x="-822960" y="5257800"/>
            <a:ext cx="2011680" cy="2011680"/>
          </a:xfrm>
          <a:prstGeom prst="arc">
            <a:avLst/>
          </a:prstGeom>
          <a:solidFill>
            <a:srgbClr val="DDEFE7">
              <a:alpha val="55000"/>
            </a:srgbClr>
          </a:solidFill>
          <a:ln w="12700">
            <a:solidFill>
              <a:srgbClr val="DDEFE7">
                <a:alpha val="45000"/>
              </a:srgbClr>
            </a:solidFill>
            <a:prstDash val="solid"/>
          </a:ln>
        </p:spPr>
      </p:sp>
      <p:sp>
        <p:nvSpPr>
          <p:cNvPr id="4" name="Text 2"/>
          <p:cNvSpPr/>
          <p:nvPr/>
        </p:nvSpPr>
        <p:spPr>
          <a:xfrm>
            <a:off x="566928" y="384048"/>
            <a:ext cx="5029200" cy="228600"/>
          </a:xfrm>
          <a:prstGeom prst="rect">
            <a:avLst/>
          </a:prstGeom>
          <a:noFill/>
          <a:ln/>
        </p:spPr>
        <p:txBody>
          <a:bodyPr wrap="square" rtlCol="0" anchor="ctr"/>
          <a:lstStyle/>
          <a:p>
            <a:pPr indent="0" marL="0">
              <a:buNone/>
            </a:pPr>
            <a:r>
              <a:rPr lang="en-US" sz="850" b="1" dirty="0">
                <a:solidFill>
                  <a:srgbClr val="0E7C86"/>
                </a:solidFill>
                <a:latin typeface="Aptos" pitchFamily="34" charset="0"/>
                <a:ea typeface="Aptos" pitchFamily="34" charset="-122"/>
                <a:cs typeface="Aptos" pitchFamily="34" charset="-120"/>
              </a:rPr>
              <a:t>08 · SUPERVISADOS Y NO SUPERVISADOS</a:t>
            </a:r>
            <a:endParaRPr lang="en-US" sz="850" dirty="0"/>
          </a:p>
        </p:txBody>
      </p:sp>
      <p:sp>
        <p:nvSpPr>
          <p:cNvPr id="5" name="Text 3"/>
          <p:cNvSpPr/>
          <p:nvPr/>
        </p:nvSpPr>
        <p:spPr>
          <a:xfrm>
            <a:off x="548640" y="694944"/>
            <a:ext cx="10881360" cy="502920"/>
          </a:xfrm>
          <a:prstGeom prst="rect">
            <a:avLst/>
          </a:prstGeom>
          <a:noFill/>
          <a:ln/>
        </p:spPr>
        <p:txBody>
          <a:bodyPr wrap="square" lIns="0" tIns="0" rIns="0" bIns="0" rtlCol="0" anchor="ctr"/>
          <a:lstStyle/>
          <a:p>
            <a:pPr indent="0" marL="0">
              <a:buNone/>
            </a:pPr>
            <a:r>
              <a:rPr lang="en-US" sz="2500" b="1" dirty="0">
                <a:solidFill>
                  <a:srgbClr val="0B1F33"/>
                </a:solidFill>
                <a:latin typeface="Aptos Display" pitchFamily="34" charset="0"/>
                <a:ea typeface="Aptos Display" pitchFamily="34" charset="-122"/>
                <a:cs typeface="Aptos Display" pitchFamily="34" charset="-120"/>
              </a:rPr>
              <a:t>Modelos aplicados</a:t>
            </a:r>
            <a:endParaRPr lang="en-US" sz="2500" dirty="0"/>
          </a:p>
        </p:txBody>
      </p:sp>
      <p:sp>
        <p:nvSpPr>
          <p:cNvPr id="6" name="Shape 4"/>
          <p:cNvSpPr/>
          <p:nvPr/>
        </p:nvSpPr>
        <p:spPr>
          <a:xfrm>
            <a:off x="685800" y="1234440"/>
            <a:ext cx="3520440" cy="3337560"/>
          </a:xfrm>
          <a:prstGeom prst="roundRect">
            <a:avLst>
              <a:gd name="adj" fmla="val 2192"/>
            </a:avLst>
          </a:prstGeom>
          <a:solidFill>
            <a:srgbClr val="FFFFFF"/>
          </a:solidFill>
          <a:ln w="12700">
            <a:solidFill>
              <a:srgbClr val="D8E7EA"/>
            </a:solidFill>
            <a:prstDash val="solid"/>
          </a:ln>
        </p:spPr>
      </p:sp>
      <p:sp>
        <p:nvSpPr>
          <p:cNvPr id="7" name="Text 5"/>
          <p:cNvSpPr/>
          <p:nvPr/>
        </p:nvSpPr>
        <p:spPr>
          <a:xfrm>
            <a:off x="886968" y="1371600"/>
            <a:ext cx="3118104" cy="256032"/>
          </a:xfrm>
          <a:prstGeom prst="rect">
            <a:avLst/>
          </a:prstGeom>
          <a:noFill/>
          <a:ln/>
        </p:spPr>
        <p:txBody>
          <a:bodyPr wrap="square" lIns="0" tIns="0" rIns="0" bIns="0" rtlCol="0" anchor="ctr"/>
          <a:lstStyle/>
          <a:p>
            <a:pPr indent="0" marL="0">
              <a:buNone/>
            </a:pPr>
            <a:r>
              <a:rPr lang="en-US" sz="1250" b="1" dirty="0">
                <a:solidFill>
                  <a:srgbClr val="0B1F33"/>
                </a:solidFill>
                <a:latin typeface="Aptos Display" pitchFamily="34" charset="0"/>
                <a:ea typeface="Aptos Display" pitchFamily="34" charset="-122"/>
                <a:cs typeface="Aptos Display" pitchFamily="34" charset="-120"/>
              </a:rPr>
              <a:t>Clasificación</a:t>
            </a:r>
            <a:endParaRPr lang="en-US" sz="1250" dirty="0"/>
          </a:p>
        </p:txBody>
      </p:sp>
      <p:sp>
        <p:nvSpPr>
          <p:cNvPr id="8" name="Text 6"/>
          <p:cNvSpPr/>
          <p:nvPr/>
        </p:nvSpPr>
        <p:spPr>
          <a:xfrm>
            <a:off x="886968" y="1709928"/>
            <a:ext cx="3118104" cy="2715768"/>
          </a:xfrm>
          <a:prstGeom prst="rect">
            <a:avLst/>
          </a:prstGeom>
          <a:noFill/>
          <a:ln/>
        </p:spPr>
        <p:txBody>
          <a:bodyPr wrap="square" lIns="254" tIns="254" rIns="254" bIns="254" rtlCol="0" anchor="ctr">
            <a:normAutofit/>
          </a:bodyPr>
          <a:lstStyle/>
          <a:p>
            <a:pPr indent="0" marL="0">
              <a:buNone/>
            </a:pPr>
            <a:r>
              <a:rPr lang="en-US" sz="1300" dirty="0">
                <a:solidFill>
                  <a:srgbClr val="22313F"/>
                </a:solidFill>
                <a:latin typeface="Aptos" pitchFamily="34" charset="0"/>
                <a:ea typeface="Aptos" pitchFamily="34" charset="-122"/>
                <a:cs typeface="Aptos" pitchFamily="34" charset="-120"/>
              </a:rPr>
              <a:t>• Regresión logística</a:t>
            </a:r>
            <a:endParaRPr lang="en-US" sz="1300" dirty="0"/>
          </a:p>
          <a:p>
            <a:pPr indent="0" marL="0">
              <a:buNone/>
            </a:pPr>
            <a:r>
              <a:rPr lang="en-US" sz="1300" dirty="0">
                <a:solidFill>
                  <a:srgbClr val="22313F"/>
                </a:solidFill>
                <a:latin typeface="Aptos" pitchFamily="34" charset="0"/>
                <a:ea typeface="Aptos" pitchFamily="34" charset="-122"/>
                <a:cs typeface="Aptos" pitchFamily="34" charset="-120"/>
              </a:rPr>
              <a:t>• KNN</a:t>
            </a:r>
            <a:endParaRPr lang="en-US" sz="1300" dirty="0"/>
          </a:p>
          <a:p>
            <a:pPr indent="0" marL="0">
              <a:buNone/>
            </a:pPr>
            <a:r>
              <a:rPr lang="en-US" sz="1300" dirty="0">
                <a:solidFill>
                  <a:srgbClr val="22313F"/>
                </a:solidFill>
                <a:latin typeface="Aptos" pitchFamily="34" charset="0"/>
                <a:ea typeface="Aptos" pitchFamily="34" charset="-122"/>
                <a:cs typeface="Aptos" pitchFamily="34" charset="-120"/>
              </a:rPr>
              <a:t>• Árbol de decisión</a:t>
            </a:r>
            <a:endParaRPr lang="en-US" sz="1300" dirty="0"/>
          </a:p>
          <a:p>
            <a:pPr indent="0" marL="0">
              <a:buNone/>
            </a:pPr>
            <a:r>
              <a:rPr lang="en-US" sz="1300" dirty="0">
                <a:solidFill>
                  <a:srgbClr val="22313F"/>
                </a:solidFill>
                <a:latin typeface="Aptos" pitchFamily="34" charset="0"/>
                <a:ea typeface="Aptos" pitchFamily="34" charset="-122"/>
                <a:cs typeface="Aptos" pitchFamily="34" charset="-120"/>
              </a:rPr>
              <a:t>• Random Forest</a:t>
            </a:r>
            <a:endParaRPr lang="en-US" sz="1300" dirty="0"/>
          </a:p>
          <a:p>
            <a:pPr indent="0" marL="0">
              <a:buNone/>
            </a:pPr>
            <a:r>
              <a:rPr lang="en-US" sz="1300" dirty="0">
                <a:solidFill>
                  <a:srgbClr val="22313F"/>
                </a:solidFill>
                <a:latin typeface="Aptos" pitchFamily="34" charset="0"/>
                <a:ea typeface="Aptos" pitchFamily="34" charset="-122"/>
                <a:cs typeface="Aptos" pitchFamily="34" charset="-120"/>
              </a:rPr>
              <a:t>• SVM</a:t>
            </a:r>
            <a:endParaRPr lang="en-US" sz="1300" dirty="0"/>
          </a:p>
          <a:p>
            <a:pPr indent="0" marL="0">
              <a:buNone/>
            </a:pPr>
            <a:r>
              <a:rPr lang="en-US" sz="1300" dirty="0">
                <a:solidFill>
                  <a:srgbClr val="22313F"/>
                </a:solidFill>
                <a:latin typeface="Aptos" pitchFamily="34" charset="0"/>
                <a:ea typeface="Aptos" pitchFamily="34" charset="-122"/>
                <a:cs typeface="Aptos" pitchFamily="34" charset="-120"/>
              </a:rPr>
              <a:t>• Gaussian Naive Bayes</a:t>
            </a:r>
            <a:endParaRPr lang="en-US" sz="1300" dirty="0"/>
          </a:p>
        </p:txBody>
      </p:sp>
      <p:sp>
        <p:nvSpPr>
          <p:cNvPr id="9" name="Shape 7"/>
          <p:cNvSpPr/>
          <p:nvPr/>
        </p:nvSpPr>
        <p:spPr>
          <a:xfrm>
            <a:off x="4389120" y="1234440"/>
            <a:ext cx="3520440" cy="3337560"/>
          </a:xfrm>
          <a:prstGeom prst="roundRect">
            <a:avLst>
              <a:gd name="adj" fmla="val 2192"/>
            </a:avLst>
          </a:prstGeom>
          <a:solidFill>
            <a:srgbClr val="FFFFFF"/>
          </a:solidFill>
          <a:ln w="12700">
            <a:solidFill>
              <a:srgbClr val="D8E7EA"/>
            </a:solidFill>
            <a:prstDash val="solid"/>
          </a:ln>
        </p:spPr>
      </p:sp>
      <p:sp>
        <p:nvSpPr>
          <p:cNvPr id="10" name="Text 8"/>
          <p:cNvSpPr/>
          <p:nvPr/>
        </p:nvSpPr>
        <p:spPr>
          <a:xfrm>
            <a:off x="4590288" y="1371600"/>
            <a:ext cx="3118104" cy="256032"/>
          </a:xfrm>
          <a:prstGeom prst="rect">
            <a:avLst/>
          </a:prstGeom>
          <a:noFill/>
          <a:ln/>
        </p:spPr>
        <p:txBody>
          <a:bodyPr wrap="square" lIns="0" tIns="0" rIns="0" bIns="0" rtlCol="0" anchor="ctr"/>
          <a:lstStyle/>
          <a:p>
            <a:pPr indent="0" marL="0">
              <a:buNone/>
            </a:pPr>
            <a:r>
              <a:rPr lang="en-US" sz="1250" b="1" dirty="0">
                <a:solidFill>
                  <a:srgbClr val="0B1F33"/>
                </a:solidFill>
                <a:latin typeface="Aptos Display" pitchFamily="34" charset="0"/>
                <a:ea typeface="Aptos Display" pitchFamily="34" charset="-122"/>
                <a:cs typeface="Aptos Display" pitchFamily="34" charset="-120"/>
              </a:rPr>
              <a:t>Regresión</a:t>
            </a:r>
            <a:endParaRPr lang="en-US" sz="1250" dirty="0"/>
          </a:p>
        </p:txBody>
      </p:sp>
      <p:sp>
        <p:nvSpPr>
          <p:cNvPr id="11" name="Text 9"/>
          <p:cNvSpPr/>
          <p:nvPr/>
        </p:nvSpPr>
        <p:spPr>
          <a:xfrm>
            <a:off x="4590288" y="1709928"/>
            <a:ext cx="3118104" cy="2715768"/>
          </a:xfrm>
          <a:prstGeom prst="rect">
            <a:avLst/>
          </a:prstGeom>
          <a:noFill/>
          <a:ln/>
        </p:spPr>
        <p:txBody>
          <a:bodyPr wrap="square" lIns="254" tIns="254" rIns="254" bIns="254" rtlCol="0" anchor="ctr">
            <a:normAutofit/>
          </a:bodyPr>
          <a:lstStyle/>
          <a:p>
            <a:pPr indent="0" marL="0">
              <a:buNone/>
            </a:pPr>
            <a:r>
              <a:rPr lang="en-US" sz="1300" dirty="0">
                <a:solidFill>
                  <a:srgbClr val="22313F"/>
                </a:solidFill>
                <a:latin typeface="Aptos" pitchFamily="34" charset="0"/>
                <a:ea typeface="Aptos" pitchFamily="34" charset="-122"/>
                <a:cs typeface="Aptos" pitchFamily="34" charset="-120"/>
              </a:rPr>
              <a:t>• Regresión lineal</a:t>
            </a:r>
            <a:endParaRPr lang="en-US" sz="1300" dirty="0"/>
          </a:p>
          <a:p>
            <a:pPr indent="0" marL="0">
              <a:buNone/>
            </a:pPr>
            <a:r>
              <a:rPr lang="en-US" sz="1300" dirty="0">
                <a:solidFill>
                  <a:srgbClr val="22313F"/>
                </a:solidFill>
                <a:latin typeface="Aptos" pitchFamily="34" charset="0"/>
                <a:ea typeface="Aptos" pitchFamily="34" charset="-122"/>
                <a:cs typeface="Aptos" pitchFamily="34" charset="-120"/>
              </a:rPr>
              <a:t>• Ridge</a:t>
            </a:r>
            <a:endParaRPr lang="en-US" sz="1300" dirty="0"/>
          </a:p>
          <a:p>
            <a:pPr indent="0" marL="0">
              <a:buNone/>
            </a:pPr>
            <a:r>
              <a:rPr lang="en-US" sz="1300" dirty="0">
                <a:solidFill>
                  <a:srgbClr val="22313F"/>
                </a:solidFill>
                <a:latin typeface="Aptos" pitchFamily="34" charset="0"/>
                <a:ea typeface="Aptos" pitchFamily="34" charset="-122"/>
                <a:cs typeface="Aptos" pitchFamily="34" charset="-120"/>
              </a:rPr>
              <a:t>• Lasso</a:t>
            </a:r>
            <a:endParaRPr lang="en-US" sz="1300" dirty="0"/>
          </a:p>
          <a:p>
            <a:pPr indent="0" marL="0">
              <a:buNone/>
            </a:pPr>
            <a:r>
              <a:rPr lang="en-US" sz="1300" dirty="0">
                <a:solidFill>
                  <a:srgbClr val="22313F"/>
                </a:solidFill>
                <a:latin typeface="Aptos" pitchFamily="34" charset="0"/>
                <a:ea typeface="Aptos" pitchFamily="34" charset="-122"/>
                <a:cs typeface="Aptos" pitchFamily="34" charset="-120"/>
              </a:rPr>
              <a:t>• Árbol regresor</a:t>
            </a:r>
            <a:endParaRPr lang="en-US" sz="1300" dirty="0"/>
          </a:p>
          <a:p>
            <a:pPr indent="0" marL="0">
              <a:buNone/>
            </a:pPr>
            <a:r>
              <a:rPr lang="en-US" sz="1300" dirty="0">
                <a:solidFill>
                  <a:srgbClr val="22313F"/>
                </a:solidFill>
                <a:latin typeface="Aptos" pitchFamily="34" charset="0"/>
                <a:ea typeface="Aptos" pitchFamily="34" charset="-122"/>
                <a:cs typeface="Aptos" pitchFamily="34" charset="-120"/>
              </a:rPr>
              <a:t>• Random Forest Regressor</a:t>
            </a:r>
            <a:endParaRPr lang="en-US" sz="1300" dirty="0"/>
          </a:p>
        </p:txBody>
      </p:sp>
      <p:sp>
        <p:nvSpPr>
          <p:cNvPr id="12" name="Shape 10"/>
          <p:cNvSpPr/>
          <p:nvPr/>
        </p:nvSpPr>
        <p:spPr>
          <a:xfrm>
            <a:off x="8092440" y="1234440"/>
            <a:ext cx="3520440" cy="3337560"/>
          </a:xfrm>
          <a:prstGeom prst="roundRect">
            <a:avLst>
              <a:gd name="adj" fmla="val 2192"/>
            </a:avLst>
          </a:prstGeom>
          <a:solidFill>
            <a:srgbClr val="FFFFFF"/>
          </a:solidFill>
          <a:ln w="12700">
            <a:solidFill>
              <a:srgbClr val="D8E7EA"/>
            </a:solidFill>
            <a:prstDash val="solid"/>
          </a:ln>
        </p:spPr>
      </p:sp>
      <p:sp>
        <p:nvSpPr>
          <p:cNvPr id="13" name="Text 11"/>
          <p:cNvSpPr/>
          <p:nvPr/>
        </p:nvSpPr>
        <p:spPr>
          <a:xfrm>
            <a:off x="8293608" y="1371600"/>
            <a:ext cx="3118104" cy="256032"/>
          </a:xfrm>
          <a:prstGeom prst="rect">
            <a:avLst/>
          </a:prstGeom>
          <a:noFill/>
          <a:ln/>
        </p:spPr>
        <p:txBody>
          <a:bodyPr wrap="square" lIns="0" tIns="0" rIns="0" bIns="0" rtlCol="0" anchor="ctr"/>
          <a:lstStyle/>
          <a:p>
            <a:pPr indent="0" marL="0">
              <a:buNone/>
            </a:pPr>
            <a:r>
              <a:rPr lang="en-US" sz="1250" b="1" dirty="0">
                <a:solidFill>
                  <a:srgbClr val="0B1F33"/>
                </a:solidFill>
                <a:latin typeface="Aptos Display" pitchFamily="34" charset="0"/>
                <a:ea typeface="Aptos Display" pitchFamily="34" charset="-122"/>
                <a:cs typeface="Aptos Display" pitchFamily="34" charset="-120"/>
              </a:rPr>
              <a:t>No supervisados</a:t>
            </a:r>
            <a:endParaRPr lang="en-US" sz="1250" dirty="0"/>
          </a:p>
        </p:txBody>
      </p:sp>
      <p:sp>
        <p:nvSpPr>
          <p:cNvPr id="14" name="Text 12"/>
          <p:cNvSpPr/>
          <p:nvPr/>
        </p:nvSpPr>
        <p:spPr>
          <a:xfrm>
            <a:off x="8293608" y="1709928"/>
            <a:ext cx="3118104" cy="2715768"/>
          </a:xfrm>
          <a:prstGeom prst="rect">
            <a:avLst/>
          </a:prstGeom>
          <a:noFill/>
          <a:ln/>
        </p:spPr>
        <p:txBody>
          <a:bodyPr wrap="square" lIns="254" tIns="254" rIns="254" bIns="254" rtlCol="0" anchor="ctr">
            <a:normAutofit/>
          </a:bodyPr>
          <a:lstStyle/>
          <a:p>
            <a:pPr indent="0" marL="0">
              <a:buNone/>
            </a:pPr>
            <a:r>
              <a:rPr lang="en-US" sz="1300" dirty="0">
                <a:solidFill>
                  <a:srgbClr val="22313F"/>
                </a:solidFill>
                <a:latin typeface="Aptos" pitchFamily="34" charset="0"/>
                <a:ea typeface="Aptos" pitchFamily="34" charset="-122"/>
                <a:cs typeface="Aptos" pitchFamily="34" charset="-120"/>
              </a:rPr>
              <a:t>• PCA</a:t>
            </a:r>
            <a:endParaRPr lang="en-US" sz="1300" dirty="0"/>
          </a:p>
          <a:p>
            <a:pPr indent="0" marL="0">
              <a:buNone/>
            </a:pPr>
            <a:r>
              <a:rPr lang="en-US" sz="1300" dirty="0">
                <a:solidFill>
                  <a:srgbClr val="22313F"/>
                </a:solidFill>
                <a:latin typeface="Aptos" pitchFamily="34" charset="0"/>
                <a:ea typeface="Aptos" pitchFamily="34" charset="-122"/>
                <a:cs typeface="Aptos" pitchFamily="34" charset="-120"/>
              </a:rPr>
              <a:t>• KMeans</a:t>
            </a:r>
            <a:endParaRPr lang="en-US" sz="1300" dirty="0"/>
          </a:p>
          <a:p>
            <a:pPr indent="0" marL="0">
              <a:buNone/>
            </a:pPr>
            <a:r>
              <a:rPr lang="en-US" sz="1300" dirty="0">
                <a:solidFill>
                  <a:srgbClr val="22313F"/>
                </a:solidFill>
                <a:latin typeface="Aptos" pitchFamily="34" charset="0"/>
                <a:ea typeface="Aptos" pitchFamily="34" charset="-122"/>
                <a:cs typeface="Aptos" pitchFamily="34" charset="-120"/>
              </a:rPr>
              <a:t>• Jerárquico</a:t>
            </a:r>
            <a:endParaRPr lang="en-US" sz="1300" dirty="0"/>
          </a:p>
          <a:p>
            <a:pPr indent="0" marL="0">
              <a:buNone/>
            </a:pPr>
            <a:r>
              <a:rPr lang="en-US" sz="1300" dirty="0">
                <a:solidFill>
                  <a:srgbClr val="22313F"/>
                </a:solidFill>
                <a:latin typeface="Aptos" pitchFamily="34" charset="0"/>
                <a:ea typeface="Aptos" pitchFamily="34" charset="-122"/>
                <a:cs typeface="Aptos" pitchFamily="34" charset="-120"/>
              </a:rPr>
              <a:t>• DBSCAN</a:t>
            </a:r>
            <a:endParaRPr lang="en-US" sz="1300" dirty="0"/>
          </a:p>
        </p:txBody>
      </p:sp>
      <p:sp>
        <p:nvSpPr>
          <p:cNvPr id="15" name="Shape 13"/>
          <p:cNvSpPr/>
          <p:nvPr/>
        </p:nvSpPr>
        <p:spPr>
          <a:xfrm>
            <a:off x="1005840" y="5074920"/>
            <a:ext cx="10149840" cy="685800"/>
          </a:xfrm>
          <a:prstGeom prst="roundRect">
            <a:avLst>
              <a:gd name="adj" fmla="val 10667"/>
            </a:avLst>
          </a:prstGeom>
          <a:solidFill>
            <a:srgbClr val="DFF3F5"/>
          </a:solidFill>
          <a:ln w="12700">
            <a:solidFill>
              <a:srgbClr val="D8E7EA"/>
            </a:solidFill>
            <a:prstDash val="solid"/>
          </a:ln>
        </p:spPr>
      </p:sp>
      <p:sp>
        <p:nvSpPr>
          <p:cNvPr id="16" name="Text 14"/>
          <p:cNvSpPr/>
          <p:nvPr/>
        </p:nvSpPr>
        <p:spPr>
          <a:xfrm>
            <a:off x="1207008" y="5212080"/>
            <a:ext cx="9747504" cy="256032"/>
          </a:xfrm>
          <a:prstGeom prst="rect">
            <a:avLst/>
          </a:prstGeom>
          <a:noFill/>
          <a:ln/>
        </p:spPr>
        <p:txBody>
          <a:bodyPr wrap="square" lIns="0" tIns="0" rIns="0" bIns="0" rtlCol="0" anchor="ctr"/>
          <a:lstStyle/>
          <a:p>
            <a:pPr indent="0" marL="0">
              <a:buNone/>
            </a:pPr>
            <a:r>
              <a:rPr lang="en-US" sz="1250" b="1" dirty="0">
                <a:solidFill>
                  <a:srgbClr val="0E7C86"/>
                </a:solidFill>
                <a:latin typeface="Aptos Display" pitchFamily="34" charset="0"/>
                <a:ea typeface="Aptos Display" pitchFamily="34" charset="-122"/>
                <a:cs typeface="Aptos Display" pitchFamily="34" charset="-120"/>
              </a:rPr>
              <a:t>Lectura</a:t>
            </a:r>
            <a:endParaRPr lang="en-US" sz="1250" dirty="0"/>
          </a:p>
        </p:txBody>
      </p:sp>
      <p:sp>
        <p:nvSpPr>
          <p:cNvPr id="17" name="Text 15"/>
          <p:cNvSpPr/>
          <p:nvPr/>
        </p:nvSpPr>
        <p:spPr>
          <a:xfrm>
            <a:off x="1207008" y="5550408"/>
            <a:ext cx="9747504" cy="64008"/>
          </a:xfrm>
          <a:prstGeom prst="rect">
            <a:avLst/>
          </a:prstGeom>
          <a:noFill/>
          <a:ln/>
        </p:spPr>
        <p:txBody>
          <a:bodyPr wrap="square" lIns="254" tIns="254" rIns="254" bIns="254" rtlCol="0" anchor="ctr">
            <a:normAutofit/>
          </a:bodyPr>
          <a:lstStyle/>
          <a:p>
            <a:pPr indent="0" marL="0">
              <a:buNone/>
            </a:pPr>
            <a:r>
              <a:rPr lang="en-US" sz="1250" dirty="0">
                <a:solidFill>
                  <a:srgbClr val="22313F"/>
                </a:solidFill>
                <a:latin typeface="Aptos" pitchFamily="34" charset="0"/>
                <a:ea typeface="Aptos" pitchFamily="34" charset="-122"/>
                <a:cs typeface="Aptos" pitchFamily="34" charset="-120"/>
              </a:rPr>
              <a:t>La comparación permite evaluar no solo predicción, sino interpretabilidad, robustez y ajuste al contexto del problema.</a:t>
            </a:r>
            <a:endParaRPr lang="en-US" sz="1250" dirty="0"/>
          </a:p>
        </p:txBody>
      </p:sp>
      <p:sp>
        <p:nvSpPr>
          <p:cNvPr id="25" name="Slide Number Placeholder 0"/>
          <p:cNvSpPr>
            <a:spLocks noGrp="1"/>
          </p:cNvSpPr>
          <p:nvPr>
            <p:ph type="sldNum" sz="quarter" idx="4294967295"/>
          </p:nvPr>
        </p:nvSpPr>
        <p:spPr>
          <a:xfrm>
            <a:off x="11841480" y="6510528"/>
            <a:ext cx="800000" cy="300000"/>
          </a:xfrm>
          <a:prstGeom prst="rect">
            <a:avLst/>
          </a:prstGeom>
          <a:extLst>
            <a:ext uri="{C572A759-6A51-4108-AA02-DFA0A04FC94B}">
              <ma14:wrappingTextBoxFlag xmlns:ma14="http://schemas.microsoft.com/office/mac/drawingml/2011/main" val="0"/>
            </a:ext>
          </a:extLst>
        </p:spPr>
        <p:txBody>
          <a:bodyPr/>
          <a:lstStyle>
            <a:lvl1pPr>
              <a:defRPr sz="750">
                <a:solidFill>
                  <a:srgbClr val="607D86"/>
                </a:solidFill>
                <a:latin typeface="Aptos"/>
                <a:ea typeface="Aptos"/>
                <a:cs typeface="Aptos"/>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AFB"/>
        </a:solidFill>
      </p:bgPr>
    </p:bg>
    <p:spTree>
      <p:nvGrpSpPr>
        <p:cNvPr id="1" name=""/>
        <p:cNvGrpSpPr/>
        <p:nvPr/>
      </p:nvGrpSpPr>
      <p:grpSpPr>
        <a:xfrm>
          <a:off x="0" y="0"/>
          <a:ext cx="0" cy="0"/>
          <a:chOff x="0" y="0"/>
          <a:chExt cx="0" cy="0"/>
        </a:xfrm>
      </p:grpSpPr>
      <p:sp>
        <p:nvSpPr>
          <p:cNvPr id="2" name="Shape 0"/>
          <p:cNvSpPr/>
          <p:nvPr/>
        </p:nvSpPr>
        <p:spPr>
          <a:xfrm>
            <a:off x="10698480" y="-320040"/>
            <a:ext cx="2103120" cy="2103120"/>
          </a:xfrm>
          <a:prstGeom prst="arc">
            <a:avLst/>
          </a:prstGeom>
          <a:solidFill>
            <a:srgbClr val="DFF3F5">
              <a:alpha val="55000"/>
            </a:srgbClr>
          </a:solidFill>
          <a:ln w="12700">
            <a:solidFill>
              <a:srgbClr val="DFF3F5">
                <a:alpha val="40000"/>
              </a:srgbClr>
            </a:solidFill>
            <a:prstDash val="solid"/>
          </a:ln>
        </p:spPr>
      </p:sp>
      <p:sp>
        <p:nvSpPr>
          <p:cNvPr id="3" name="Shape 1"/>
          <p:cNvSpPr/>
          <p:nvPr/>
        </p:nvSpPr>
        <p:spPr>
          <a:xfrm rot="10800000">
            <a:off x="-822960" y="5257800"/>
            <a:ext cx="2011680" cy="2011680"/>
          </a:xfrm>
          <a:prstGeom prst="arc">
            <a:avLst/>
          </a:prstGeom>
          <a:solidFill>
            <a:srgbClr val="DDEFE7">
              <a:alpha val="55000"/>
            </a:srgbClr>
          </a:solidFill>
          <a:ln w="12700">
            <a:solidFill>
              <a:srgbClr val="DDEFE7">
                <a:alpha val="45000"/>
              </a:srgbClr>
            </a:solidFill>
            <a:prstDash val="solid"/>
          </a:ln>
        </p:spPr>
      </p:sp>
      <p:sp>
        <p:nvSpPr>
          <p:cNvPr id="4" name="Text 2"/>
          <p:cNvSpPr/>
          <p:nvPr/>
        </p:nvSpPr>
        <p:spPr>
          <a:xfrm>
            <a:off x="566928" y="384048"/>
            <a:ext cx="5029200" cy="228600"/>
          </a:xfrm>
          <a:prstGeom prst="rect">
            <a:avLst/>
          </a:prstGeom>
          <a:noFill/>
          <a:ln/>
        </p:spPr>
        <p:txBody>
          <a:bodyPr wrap="square" rtlCol="0" anchor="ctr"/>
          <a:lstStyle/>
          <a:p>
            <a:pPr indent="0" marL="0">
              <a:buNone/>
            </a:pPr>
            <a:r>
              <a:rPr lang="en-US" sz="850" b="1" dirty="0">
                <a:solidFill>
                  <a:srgbClr val="0E7C86"/>
                </a:solidFill>
                <a:latin typeface="Aptos" pitchFamily="34" charset="0"/>
                <a:ea typeface="Aptos" pitchFamily="34" charset="-122"/>
                <a:cs typeface="Aptos" pitchFamily="34" charset="-120"/>
              </a:rPr>
              <a:t>09 · RESULTADOS COMPLEMENTARIOS</a:t>
            </a:r>
            <a:endParaRPr lang="en-US" sz="850" dirty="0"/>
          </a:p>
        </p:txBody>
      </p:sp>
      <p:sp>
        <p:nvSpPr>
          <p:cNvPr id="5" name="Text 3"/>
          <p:cNvSpPr/>
          <p:nvPr/>
        </p:nvSpPr>
        <p:spPr>
          <a:xfrm>
            <a:off x="548640" y="694944"/>
            <a:ext cx="10881360" cy="502920"/>
          </a:xfrm>
          <a:prstGeom prst="rect">
            <a:avLst/>
          </a:prstGeom>
          <a:noFill/>
          <a:ln/>
        </p:spPr>
        <p:txBody>
          <a:bodyPr wrap="square" lIns="0" tIns="0" rIns="0" bIns="0" rtlCol="0" anchor="ctr"/>
          <a:lstStyle/>
          <a:p>
            <a:pPr indent="0" marL="0">
              <a:buNone/>
            </a:pPr>
            <a:r>
              <a:rPr lang="en-US" sz="2500" b="1" dirty="0">
                <a:solidFill>
                  <a:srgbClr val="0B1F33"/>
                </a:solidFill>
                <a:latin typeface="Aptos Display" pitchFamily="34" charset="0"/>
                <a:ea typeface="Aptos Display" pitchFamily="34" charset="-122"/>
                <a:cs typeface="Aptos Display" pitchFamily="34" charset="-120"/>
              </a:rPr>
              <a:t>Resultados de regresión y clustering</a:t>
            </a:r>
            <a:endParaRPr lang="en-US" sz="2500" dirty="0"/>
          </a:p>
        </p:txBody>
      </p:sp>
      <p:pic>
        <p:nvPicPr>
          <p:cNvPr id="6" name="Image 0" descr="/mnt/data/ppt_assets/regression_rmse.png">    </p:cNvPr>
          <p:cNvPicPr>
            <a:picLocks noChangeAspect="1"/>
          </p:cNvPicPr>
          <p:nvPr/>
        </p:nvPicPr>
        <p:blipFill>
          <a:blip r:embed="rId1"/>
          <a:stretch>
            <a:fillRect/>
          </a:stretch>
        </p:blipFill>
        <p:spPr>
          <a:xfrm>
            <a:off x="658368" y="1115568"/>
            <a:ext cx="5349240" cy="3063240"/>
          </a:xfrm>
          <a:prstGeom prst="rect">
            <a:avLst/>
          </a:prstGeom>
        </p:spPr>
      </p:pic>
      <p:pic>
        <p:nvPicPr>
          <p:cNvPr id="7" name="Image 1" descr="/mnt/data/ppt_assets/pca_kmeans.png">    </p:cNvPr>
          <p:cNvPicPr>
            <a:picLocks noChangeAspect="1"/>
          </p:cNvPicPr>
          <p:nvPr/>
        </p:nvPicPr>
        <p:blipFill>
          <a:blip r:embed="rId2"/>
          <a:stretch>
            <a:fillRect/>
          </a:stretch>
        </p:blipFill>
        <p:spPr>
          <a:xfrm>
            <a:off x="6446520" y="1115568"/>
            <a:ext cx="4892040" cy="3063240"/>
          </a:xfrm>
          <a:prstGeom prst="rect">
            <a:avLst/>
          </a:prstGeom>
        </p:spPr>
      </p:pic>
      <p:sp>
        <p:nvSpPr>
          <p:cNvPr id="8" name="Shape 4"/>
          <p:cNvSpPr/>
          <p:nvPr/>
        </p:nvSpPr>
        <p:spPr>
          <a:xfrm>
            <a:off x="868680" y="4572000"/>
            <a:ext cx="5074920" cy="914400"/>
          </a:xfrm>
          <a:prstGeom prst="roundRect">
            <a:avLst>
              <a:gd name="adj" fmla="val 8000"/>
            </a:avLst>
          </a:prstGeom>
          <a:solidFill>
            <a:srgbClr val="FFFFFF"/>
          </a:solidFill>
          <a:ln w="12700">
            <a:solidFill>
              <a:srgbClr val="D8E7EA"/>
            </a:solidFill>
            <a:prstDash val="solid"/>
          </a:ln>
        </p:spPr>
      </p:sp>
      <p:sp>
        <p:nvSpPr>
          <p:cNvPr id="9" name="Text 5"/>
          <p:cNvSpPr/>
          <p:nvPr/>
        </p:nvSpPr>
        <p:spPr>
          <a:xfrm>
            <a:off x="1069848" y="4709160"/>
            <a:ext cx="4672584" cy="256032"/>
          </a:xfrm>
          <a:prstGeom prst="rect">
            <a:avLst/>
          </a:prstGeom>
          <a:noFill/>
          <a:ln/>
        </p:spPr>
        <p:txBody>
          <a:bodyPr wrap="square" lIns="0" tIns="0" rIns="0" bIns="0" rtlCol="0" anchor="ctr"/>
          <a:lstStyle/>
          <a:p>
            <a:pPr indent="0" marL="0">
              <a:buNone/>
            </a:pPr>
            <a:r>
              <a:rPr lang="en-US" sz="1250" b="1" dirty="0">
                <a:solidFill>
                  <a:srgbClr val="0B1F33"/>
                </a:solidFill>
                <a:latin typeface="Aptos Display" pitchFamily="34" charset="0"/>
                <a:ea typeface="Aptos Display" pitchFamily="34" charset="-122"/>
                <a:cs typeface="Aptos Display" pitchFamily="34" charset="-120"/>
              </a:rPr>
              <a:t>Regresión</a:t>
            </a:r>
            <a:endParaRPr lang="en-US" sz="1250" dirty="0"/>
          </a:p>
        </p:txBody>
      </p:sp>
      <p:sp>
        <p:nvSpPr>
          <p:cNvPr id="10" name="Text 6"/>
          <p:cNvSpPr/>
          <p:nvPr/>
        </p:nvSpPr>
        <p:spPr>
          <a:xfrm>
            <a:off x="1069848" y="5047488"/>
            <a:ext cx="4672584" cy="292608"/>
          </a:xfrm>
          <a:prstGeom prst="rect">
            <a:avLst/>
          </a:prstGeom>
          <a:noFill/>
          <a:ln/>
        </p:spPr>
        <p:txBody>
          <a:bodyPr wrap="square" lIns="254" tIns="254" rIns="254" bIns="254" rtlCol="0" anchor="ctr">
            <a:normAutofit/>
          </a:bodyPr>
          <a:lstStyle/>
          <a:p>
            <a:pPr indent="0" marL="0">
              <a:buNone/>
            </a:pPr>
            <a:r>
              <a:rPr lang="en-US" sz="1200" dirty="0">
                <a:solidFill>
                  <a:srgbClr val="22313F"/>
                </a:solidFill>
                <a:latin typeface="Aptos" pitchFamily="34" charset="0"/>
                <a:ea typeface="Aptos" pitchFamily="34" charset="-122"/>
                <a:cs typeface="Aptos" pitchFamily="34" charset="-120"/>
              </a:rPr>
              <a:t>Mejor resultado: Ridge alpha=0.01 con RMSE ≈ 0.0697 y R² ≈ 0.9996.</a:t>
            </a:r>
            <a:endParaRPr lang="en-US" sz="1200" dirty="0"/>
          </a:p>
        </p:txBody>
      </p:sp>
      <p:sp>
        <p:nvSpPr>
          <p:cNvPr id="11" name="Shape 7"/>
          <p:cNvSpPr/>
          <p:nvPr/>
        </p:nvSpPr>
        <p:spPr>
          <a:xfrm>
            <a:off x="6446520" y="4572000"/>
            <a:ext cx="4892040" cy="914400"/>
          </a:xfrm>
          <a:prstGeom prst="roundRect">
            <a:avLst>
              <a:gd name="adj" fmla="val 8000"/>
            </a:avLst>
          </a:prstGeom>
          <a:solidFill>
            <a:srgbClr val="FFFFFF"/>
          </a:solidFill>
          <a:ln w="12700">
            <a:solidFill>
              <a:srgbClr val="D8E7EA"/>
            </a:solidFill>
            <a:prstDash val="solid"/>
          </a:ln>
        </p:spPr>
      </p:sp>
      <p:sp>
        <p:nvSpPr>
          <p:cNvPr id="12" name="Text 8"/>
          <p:cNvSpPr/>
          <p:nvPr/>
        </p:nvSpPr>
        <p:spPr>
          <a:xfrm>
            <a:off x="6647688" y="4709160"/>
            <a:ext cx="4489704" cy="256032"/>
          </a:xfrm>
          <a:prstGeom prst="rect">
            <a:avLst/>
          </a:prstGeom>
          <a:noFill/>
          <a:ln/>
        </p:spPr>
        <p:txBody>
          <a:bodyPr wrap="square" lIns="0" tIns="0" rIns="0" bIns="0" rtlCol="0" anchor="ctr"/>
          <a:lstStyle/>
          <a:p>
            <a:pPr indent="0" marL="0">
              <a:buNone/>
            </a:pPr>
            <a:r>
              <a:rPr lang="en-US" sz="1250" b="1" dirty="0">
                <a:solidFill>
                  <a:srgbClr val="0B1F33"/>
                </a:solidFill>
                <a:latin typeface="Aptos Display" pitchFamily="34" charset="0"/>
                <a:ea typeface="Aptos Display" pitchFamily="34" charset="-122"/>
                <a:cs typeface="Aptos Display" pitchFamily="34" charset="-120"/>
              </a:rPr>
              <a:t>Clustering</a:t>
            </a:r>
            <a:endParaRPr lang="en-US" sz="1250" dirty="0"/>
          </a:p>
        </p:txBody>
      </p:sp>
      <p:sp>
        <p:nvSpPr>
          <p:cNvPr id="13" name="Text 9"/>
          <p:cNvSpPr/>
          <p:nvPr/>
        </p:nvSpPr>
        <p:spPr>
          <a:xfrm>
            <a:off x="6647688" y="5047488"/>
            <a:ext cx="4489704" cy="292608"/>
          </a:xfrm>
          <a:prstGeom prst="rect">
            <a:avLst/>
          </a:prstGeom>
          <a:noFill/>
          <a:ln/>
        </p:spPr>
        <p:txBody>
          <a:bodyPr wrap="square" lIns="254" tIns="254" rIns="254" bIns="254" rtlCol="0" anchor="ctr">
            <a:normAutofit/>
          </a:bodyPr>
          <a:lstStyle/>
          <a:p>
            <a:pPr indent="0" marL="0">
              <a:buNone/>
            </a:pPr>
            <a:r>
              <a:rPr lang="en-US" sz="1200" dirty="0">
                <a:solidFill>
                  <a:srgbClr val="22313F"/>
                </a:solidFill>
                <a:latin typeface="Aptos" pitchFamily="34" charset="0"/>
                <a:ea typeface="Aptos" pitchFamily="34" charset="-122"/>
                <a:cs typeface="Aptos" pitchFamily="34" charset="-120"/>
              </a:rPr>
              <a:t>Mejor agrupamiento: KMeans k=2 con Silhouette ≈ 0.3450 y ARI ≈ 0.6707.</a:t>
            </a:r>
            <a:endParaRPr lang="en-US" sz="1200" dirty="0"/>
          </a:p>
        </p:txBody>
      </p:sp>
      <p:sp>
        <p:nvSpPr>
          <p:cNvPr id="25" name="Slide Number Placeholder 0"/>
          <p:cNvSpPr>
            <a:spLocks noGrp="1"/>
          </p:cNvSpPr>
          <p:nvPr>
            <p:ph type="sldNum" sz="quarter" idx="4294967295"/>
          </p:nvPr>
        </p:nvSpPr>
        <p:spPr>
          <a:xfrm>
            <a:off x="11841480" y="6510528"/>
            <a:ext cx="800000" cy="300000"/>
          </a:xfrm>
          <a:prstGeom prst="rect">
            <a:avLst/>
          </a:prstGeom>
          <a:extLst>
            <a:ext uri="{C572A759-6A51-4108-AA02-DFA0A04FC94B}">
              <ma14:wrappingTextBoxFlag xmlns:ma14="http://schemas.microsoft.com/office/mac/drawingml/2011/main" val="0"/>
            </a:ext>
          </a:extLst>
        </p:spPr>
        <p:txBody>
          <a:bodyPr/>
          <a:lstStyle>
            <a:lvl1pPr>
              <a:defRPr sz="750">
                <a:solidFill>
                  <a:srgbClr val="607D86"/>
                </a:solidFill>
                <a:latin typeface="Aptos"/>
                <a:ea typeface="Aptos"/>
                <a:cs typeface="Aptos"/>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AFB"/>
        </a:solidFill>
      </p:bgPr>
    </p:bg>
    <p:spTree>
      <p:nvGrpSpPr>
        <p:cNvPr id="1" name=""/>
        <p:cNvGrpSpPr/>
        <p:nvPr/>
      </p:nvGrpSpPr>
      <p:grpSpPr>
        <a:xfrm>
          <a:off x="0" y="0"/>
          <a:ext cx="0" cy="0"/>
          <a:chOff x="0" y="0"/>
          <a:chExt cx="0" cy="0"/>
        </a:xfrm>
      </p:grpSpPr>
      <p:sp>
        <p:nvSpPr>
          <p:cNvPr id="2" name="Shape 0"/>
          <p:cNvSpPr/>
          <p:nvPr/>
        </p:nvSpPr>
        <p:spPr>
          <a:xfrm>
            <a:off x="10698480" y="-320040"/>
            <a:ext cx="2103120" cy="2103120"/>
          </a:xfrm>
          <a:prstGeom prst="arc">
            <a:avLst/>
          </a:prstGeom>
          <a:solidFill>
            <a:srgbClr val="DFF3F5">
              <a:alpha val="55000"/>
            </a:srgbClr>
          </a:solidFill>
          <a:ln w="12700">
            <a:solidFill>
              <a:srgbClr val="DFF3F5">
                <a:alpha val="40000"/>
              </a:srgbClr>
            </a:solidFill>
            <a:prstDash val="solid"/>
          </a:ln>
        </p:spPr>
      </p:sp>
      <p:sp>
        <p:nvSpPr>
          <p:cNvPr id="3" name="Shape 1"/>
          <p:cNvSpPr/>
          <p:nvPr/>
        </p:nvSpPr>
        <p:spPr>
          <a:xfrm rot="10800000">
            <a:off x="-822960" y="5257800"/>
            <a:ext cx="2011680" cy="2011680"/>
          </a:xfrm>
          <a:prstGeom prst="arc">
            <a:avLst/>
          </a:prstGeom>
          <a:solidFill>
            <a:srgbClr val="DDEFE7">
              <a:alpha val="55000"/>
            </a:srgbClr>
          </a:solidFill>
          <a:ln w="12700">
            <a:solidFill>
              <a:srgbClr val="DDEFE7">
                <a:alpha val="45000"/>
              </a:srgbClr>
            </a:solidFill>
            <a:prstDash val="solid"/>
          </a:ln>
        </p:spPr>
      </p:sp>
      <p:sp>
        <p:nvSpPr>
          <p:cNvPr id="4" name="Text 2"/>
          <p:cNvSpPr/>
          <p:nvPr/>
        </p:nvSpPr>
        <p:spPr>
          <a:xfrm>
            <a:off x="566928" y="384048"/>
            <a:ext cx="5029200" cy="228600"/>
          </a:xfrm>
          <a:prstGeom prst="rect">
            <a:avLst/>
          </a:prstGeom>
          <a:noFill/>
          <a:ln/>
        </p:spPr>
        <p:txBody>
          <a:bodyPr wrap="square" rtlCol="0" anchor="ctr"/>
          <a:lstStyle/>
          <a:p>
            <a:pPr indent="0" marL="0">
              <a:buNone/>
            </a:pPr>
            <a:r>
              <a:rPr lang="en-US" sz="850" b="1" dirty="0">
                <a:solidFill>
                  <a:srgbClr val="0E7C86"/>
                </a:solidFill>
                <a:latin typeface="Aptos" pitchFamily="34" charset="0"/>
                <a:ea typeface="Aptos" pitchFamily="34" charset="-122"/>
                <a:cs typeface="Aptos" pitchFamily="34" charset="-120"/>
              </a:rPr>
              <a:t>10 · MÉTRICAS FINALES</a:t>
            </a:r>
            <a:endParaRPr lang="en-US" sz="850" dirty="0"/>
          </a:p>
        </p:txBody>
      </p:sp>
      <p:sp>
        <p:nvSpPr>
          <p:cNvPr id="5" name="Text 3"/>
          <p:cNvSpPr/>
          <p:nvPr/>
        </p:nvSpPr>
        <p:spPr>
          <a:xfrm>
            <a:off x="548640" y="694944"/>
            <a:ext cx="10881360" cy="502920"/>
          </a:xfrm>
          <a:prstGeom prst="rect">
            <a:avLst/>
          </a:prstGeom>
          <a:noFill/>
          <a:ln/>
        </p:spPr>
        <p:txBody>
          <a:bodyPr wrap="square" lIns="0" tIns="0" rIns="0" bIns="0" rtlCol="0" anchor="ctr"/>
          <a:lstStyle/>
          <a:p>
            <a:pPr indent="0" marL="0">
              <a:buNone/>
            </a:pPr>
            <a:r>
              <a:rPr lang="en-US" sz="2500" b="1" dirty="0">
                <a:solidFill>
                  <a:srgbClr val="0B1F33"/>
                </a:solidFill>
                <a:latin typeface="Aptos Display" pitchFamily="34" charset="0"/>
                <a:ea typeface="Aptos Display" pitchFamily="34" charset="-122"/>
                <a:cs typeface="Aptos Display" pitchFamily="34" charset="-120"/>
              </a:rPr>
              <a:t>Comparación de modelos supervisados</a:t>
            </a:r>
            <a:endParaRPr lang="en-US" sz="25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02920" y="1143000"/>
          <a:ext cx="6492240" cy="2926080"/>
        </p:xfrm>
        <a:graphic>
          <a:graphicData uri="http://schemas.openxmlformats.org/drawingml/2006/table">
            <a:tbl>
              <a:tblPr/>
              <a:tblGrid>
                <a:gridCol w="2331720"/>
                <a:gridCol w="1005840"/>
                <a:gridCol w="1005840"/>
                <a:gridCol w="1005840"/>
                <a:gridCol w="1005840"/>
              </a:tblGrid>
              <a:tr h="487680">
                <a:tc>
                  <a:txBody>
                    <a:bodyPr/>
                    <a:lstStyle/>
                    <a:p>
                      <a:pPr indent="0" marL="0">
                        <a:buNone/>
                      </a:pPr>
                      <a:r>
                        <a:rPr lang="en-US" sz="1050" b="1" dirty="0">
                          <a:solidFill>
                            <a:srgbClr val="FFFFFF"/>
                          </a:solidFill>
                          <a:latin typeface="Aptos" pitchFamily="34" charset="0"/>
                          <a:ea typeface="Aptos" pitchFamily="34" charset="-122"/>
                          <a:cs typeface="Aptos" pitchFamily="34" charset="-120"/>
                        </a:rPr>
                        <a:t>Modelo</a:t>
                      </a:r>
                      <a:endParaRPr lang="en-US" sz="1050" dirty="0">
                        <a:latin typeface="Aptos" charset="0"/>
                        <a:ea typeface="Aptos" charset="0"/>
                        <a:cs typeface="Aptos" charset="0"/>
                      </a:endParaRPr>
                    </a:p>
                  </a:txBody>
                  <a:tcPr marL="36576" marR="36576" marT="36576" marB="36576">
                    <a:lnL w="12700" cap="flat" cmpd="sng" algn="ctr">
                      <a:solidFill>
                        <a:srgbClr val="D8E7EA"/>
                      </a:solidFill>
                      <a:prstDash val="solid"/>
                      <a:round/>
                      <a:headEnd type="none" w="med" len="med"/>
                      <a:tailEnd type="none" w="med" len="med"/>
                    </a:lnL>
                    <a:lnR w="12700" cap="flat" cmpd="sng" algn="ctr">
                      <a:solidFill>
                        <a:srgbClr val="D8E7EA"/>
                      </a:solidFill>
                      <a:prstDash val="solid"/>
                      <a:round/>
                      <a:headEnd type="none" w="med" len="med"/>
                      <a:tailEnd type="none" w="med" len="med"/>
                    </a:lnR>
                    <a:lnT w="12700" cap="flat" cmpd="sng" algn="ctr">
                      <a:solidFill>
                        <a:srgbClr val="D8E7EA"/>
                      </a:solidFill>
                      <a:prstDash val="solid"/>
                      <a:round/>
                      <a:headEnd type="none" w="med" len="med"/>
                      <a:tailEnd type="none" w="med" len="med"/>
                    </a:lnT>
                    <a:lnB w="12700" cap="flat" cmpd="sng" algn="ctr">
                      <a:solidFill>
                        <a:srgbClr val="D8E7EA"/>
                      </a:solidFill>
                      <a:prstDash val="solid"/>
                      <a:round/>
                      <a:headEnd type="none" w="med" len="med"/>
                      <a:tailEnd type="none" w="med" len="med"/>
                    </a:lnB>
                    <a:solidFill>
                      <a:srgbClr val="FFFFFF"/>
                    </a:solidFill>
                  </a:tcPr>
                </a:tc>
                <a:tc>
                  <a:txBody>
                    <a:bodyPr/>
                    <a:lstStyle/>
                    <a:p>
                      <a:pPr indent="0" marL="0">
                        <a:buNone/>
                      </a:pPr>
                      <a:r>
                        <a:rPr lang="en-US" sz="1050" b="1" dirty="0">
                          <a:solidFill>
                            <a:srgbClr val="FFFFFF"/>
                          </a:solidFill>
                          <a:latin typeface="Aptos" pitchFamily="34" charset="0"/>
                          <a:ea typeface="Aptos" pitchFamily="34" charset="-122"/>
                          <a:cs typeface="Aptos" pitchFamily="34" charset="-120"/>
                        </a:rPr>
                        <a:t>Accuracy</a:t>
                      </a:r>
                      <a:endParaRPr lang="en-US" sz="1050" dirty="0">
                        <a:latin typeface="Aptos" charset="0"/>
                        <a:ea typeface="Aptos" charset="0"/>
                        <a:cs typeface="Aptos" charset="0"/>
                      </a:endParaRPr>
                    </a:p>
                  </a:txBody>
                  <a:tcPr marL="36576" marR="36576" marT="36576" marB="36576">
                    <a:lnL w="12700" cap="flat" cmpd="sng" algn="ctr">
                      <a:solidFill>
                        <a:srgbClr val="D8E7EA"/>
                      </a:solidFill>
                      <a:prstDash val="solid"/>
                      <a:round/>
                      <a:headEnd type="none" w="med" len="med"/>
                      <a:tailEnd type="none" w="med" len="med"/>
                    </a:lnL>
                    <a:lnR w="12700" cap="flat" cmpd="sng" algn="ctr">
                      <a:solidFill>
                        <a:srgbClr val="D8E7EA"/>
                      </a:solidFill>
                      <a:prstDash val="solid"/>
                      <a:round/>
                      <a:headEnd type="none" w="med" len="med"/>
                      <a:tailEnd type="none" w="med" len="med"/>
                    </a:lnR>
                    <a:lnT w="12700" cap="flat" cmpd="sng" algn="ctr">
                      <a:solidFill>
                        <a:srgbClr val="D8E7EA"/>
                      </a:solidFill>
                      <a:prstDash val="solid"/>
                      <a:round/>
                      <a:headEnd type="none" w="med" len="med"/>
                      <a:tailEnd type="none" w="med" len="med"/>
                    </a:lnT>
                    <a:lnB w="12700" cap="flat" cmpd="sng" algn="ctr">
                      <a:solidFill>
                        <a:srgbClr val="D8E7EA"/>
                      </a:solidFill>
                      <a:prstDash val="solid"/>
                      <a:round/>
                      <a:headEnd type="none" w="med" len="med"/>
                      <a:tailEnd type="none" w="med" len="med"/>
                    </a:lnB>
                    <a:solidFill>
                      <a:srgbClr val="FFFFFF"/>
                    </a:solidFill>
                  </a:tcPr>
                </a:tc>
                <a:tc>
                  <a:txBody>
                    <a:bodyPr/>
                    <a:lstStyle/>
                    <a:p>
                      <a:pPr indent="0" marL="0">
                        <a:buNone/>
                      </a:pPr>
                      <a:r>
                        <a:rPr lang="en-US" sz="1050" b="1" dirty="0">
                          <a:solidFill>
                            <a:srgbClr val="FFFFFF"/>
                          </a:solidFill>
                          <a:latin typeface="Aptos" pitchFamily="34" charset="0"/>
                          <a:ea typeface="Aptos" pitchFamily="34" charset="-122"/>
                          <a:cs typeface="Aptos" pitchFamily="34" charset="-120"/>
                        </a:rPr>
                        <a:t>Precision</a:t>
                      </a:r>
                      <a:endParaRPr lang="en-US" sz="1050" dirty="0">
                        <a:latin typeface="Aptos" charset="0"/>
                        <a:ea typeface="Aptos" charset="0"/>
                        <a:cs typeface="Aptos" charset="0"/>
                      </a:endParaRPr>
                    </a:p>
                  </a:txBody>
                  <a:tcPr marL="36576" marR="36576" marT="36576" marB="36576">
                    <a:lnL w="12700" cap="flat" cmpd="sng" algn="ctr">
                      <a:solidFill>
                        <a:srgbClr val="D8E7EA"/>
                      </a:solidFill>
                      <a:prstDash val="solid"/>
                      <a:round/>
                      <a:headEnd type="none" w="med" len="med"/>
                      <a:tailEnd type="none" w="med" len="med"/>
                    </a:lnL>
                    <a:lnR w="12700" cap="flat" cmpd="sng" algn="ctr">
                      <a:solidFill>
                        <a:srgbClr val="D8E7EA"/>
                      </a:solidFill>
                      <a:prstDash val="solid"/>
                      <a:round/>
                      <a:headEnd type="none" w="med" len="med"/>
                      <a:tailEnd type="none" w="med" len="med"/>
                    </a:lnR>
                    <a:lnT w="12700" cap="flat" cmpd="sng" algn="ctr">
                      <a:solidFill>
                        <a:srgbClr val="D8E7EA"/>
                      </a:solidFill>
                      <a:prstDash val="solid"/>
                      <a:round/>
                      <a:headEnd type="none" w="med" len="med"/>
                      <a:tailEnd type="none" w="med" len="med"/>
                    </a:lnT>
                    <a:lnB w="12700" cap="flat" cmpd="sng" algn="ctr">
                      <a:solidFill>
                        <a:srgbClr val="D8E7EA"/>
                      </a:solidFill>
                      <a:prstDash val="solid"/>
                      <a:round/>
                      <a:headEnd type="none" w="med" len="med"/>
                      <a:tailEnd type="none" w="med" len="med"/>
                    </a:lnB>
                    <a:solidFill>
                      <a:srgbClr val="FFFFFF"/>
                    </a:solidFill>
                  </a:tcPr>
                </a:tc>
                <a:tc>
                  <a:txBody>
                    <a:bodyPr/>
                    <a:lstStyle/>
                    <a:p>
                      <a:pPr indent="0" marL="0">
                        <a:buNone/>
                      </a:pPr>
                      <a:r>
                        <a:rPr lang="en-US" sz="1050" b="1" dirty="0">
                          <a:solidFill>
                            <a:srgbClr val="FFFFFF"/>
                          </a:solidFill>
                          <a:latin typeface="Aptos" pitchFamily="34" charset="0"/>
                          <a:ea typeface="Aptos" pitchFamily="34" charset="-122"/>
                          <a:cs typeface="Aptos" pitchFamily="34" charset="-120"/>
                        </a:rPr>
                        <a:t>Recall</a:t>
                      </a:r>
                      <a:endParaRPr lang="en-US" sz="1050" dirty="0">
                        <a:latin typeface="Aptos" charset="0"/>
                        <a:ea typeface="Aptos" charset="0"/>
                        <a:cs typeface="Aptos" charset="0"/>
                      </a:endParaRPr>
                    </a:p>
                  </a:txBody>
                  <a:tcPr marL="36576" marR="36576" marT="36576" marB="36576">
                    <a:lnL w="12700" cap="flat" cmpd="sng" algn="ctr">
                      <a:solidFill>
                        <a:srgbClr val="D8E7EA"/>
                      </a:solidFill>
                      <a:prstDash val="solid"/>
                      <a:round/>
                      <a:headEnd type="none" w="med" len="med"/>
                      <a:tailEnd type="none" w="med" len="med"/>
                    </a:lnL>
                    <a:lnR w="12700" cap="flat" cmpd="sng" algn="ctr">
                      <a:solidFill>
                        <a:srgbClr val="D8E7EA"/>
                      </a:solidFill>
                      <a:prstDash val="solid"/>
                      <a:round/>
                      <a:headEnd type="none" w="med" len="med"/>
                      <a:tailEnd type="none" w="med" len="med"/>
                    </a:lnR>
                    <a:lnT w="12700" cap="flat" cmpd="sng" algn="ctr">
                      <a:solidFill>
                        <a:srgbClr val="D8E7EA"/>
                      </a:solidFill>
                      <a:prstDash val="solid"/>
                      <a:round/>
                      <a:headEnd type="none" w="med" len="med"/>
                      <a:tailEnd type="none" w="med" len="med"/>
                    </a:lnT>
                    <a:lnB w="12700" cap="flat" cmpd="sng" algn="ctr">
                      <a:solidFill>
                        <a:srgbClr val="D8E7EA"/>
                      </a:solidFill>
                      <a:prstDash val="solid"/>
                      <a:round/>
                      <a:headEnd type="none" w="med" len="med"/>
                      <a:tailEnd type="none" w="med" len="med"/>
                    </a:lnB>
                    <a:solidFill>
                      <a:srgbClr val="FFFFFF"/>
                    </a:solidFill>
                  </a:tcPr>
                </a:tc>
                <a:tc>
                  <a:txBody>
                    <a:bodyPr/>
                    <a:lstStyle/>
                    <a:p>
                      <a:pPr indent="0" marL="0">
                        <a:buNone/>
                      </a:pPr>
                      <a:r>
                        <a:rPr lang="en-US" sz="1050" b="1" dirty="0">
                          <a:solidFill>
                            <a:srgbClr val="FFFFFF"/>
                          </a:solidFill>
                          <a:latin typeface="Aptos" pitchFamily="34" charset="0"/>
                          <a:ea typeface="Aptos" pitchFamily="34" charset="-122"/>
                          <a:cs typeface="Aptos" pitchFamily="34" charset="-120"/>
                        </a:rPr>
                        <a:t>F1-score</a:t>
                      </a:r>
                      <a:endParaRPr lang="en-US" sz="1050" dirty="0">
                        <a:latin typeface="Aptos" charset="0"/>
                        <a:ea typeface="Aptos" charset="0"/>
                        <a:cs typeface="Aptos" charset="0"/>
                      </a:endParaRPr>
                    </a:p>
                  </a:txBody>
                  <a:tcPr marL="36576" marR="36576" marT="36576" marB="36576">
                    <a:lnL w="12700" cap="flat" cmpd="sng" algn="ctr">
                      <a:solidFill>
                        <a:srgbClr val="D8E7EA"/>
                      </a:solidFill>
                      <a:prstDash val="solid"/>
                      <a:round/>
                      <a:headEnd type="none" w="med" len="med"/>
                      <a:tailEnd type="none" w="med" len="med"/>
                    </a:lnL>
                    <a:lnR w="12700" cap="flat" cmpd="sng" algn="ctr">
                      <a:solidFill>
                        <a:srgbClr val="D8E7EA"/>
                      </a:solidFill>
                      <a:prstDash val="solid"/>
                      <a:round/>
                      <a:headEnd type="none" w="med" len="med"/>
                      <a:tailEnd type="none" w="med" len="med"/>
                    </a:lnR>
                    <a:lnT w="12700" cap="flat" cmpd="sng" algn="ctr">
                      <a:solidFill>
                        <a:srgbClr val="D8E7EA"/>
                      </a:solidFill>
                      <a:prstDash val="solid"/>
                      <a:round/>
                      <a:headEnd type="none" w="med" len="med"/>
                      <a:tailEnd type="none" w="med" len="med"/>
                    </a:lnT>
                    <a:lnB w="12700" cap="flat" cmpd="sng" algn="ctr">
                      <a:solidFill>
                        <a:srgbClr val="D8E7EA"/>
                      </a:solidFill>
                      <a:prstDash val="solid"/>
                      <a:round/>
                      <a:headEnd type="none" w="med" len="med"/>
                      <a:tailEnd type="none" w="med" len="med"/>
                    </a:lnB>
                    <a:solidFill>
                      <a:srgbClr val="FFFFFF"/>
                    </a:solidFill>
                  </a:tcPr>
                </a:tc>
              </a:tr>
              <a:tr h="487680">
                <a:tc>
                  <a:txBody>
                    <a:bodyPr/>
                    <a:lstStyle/>
                    <a:p>
                      <a:pPr indent="0" marL="0">
                        <a:buNone/>
                      </a:pPr>
                      <a:r>
                        <a:rPr lang="en-US" sz="1050" dirty="0">
                          <a:solidFill>
                            <a:srgbClr val="22313F"/>
                          </a:solidFill>
                          <a:latin typeface="Aptos" pitchFamily="34" charset="0"/>
                          <a:ea typeface="Aptos" pitchFamily="34" charset="-122"/>
                          <a:cs typeface="Aptos" pitchFamily="34" charset="-120"/>
                        </a:rPr>
                        <a:t>SVM RBF</a:t>
                      </a:r>
                      <a:endParaRPr lang="en-US" sz="1050" dirty="0">
                        <a:latin typeface="Aptos" charset="0"/>
                        <a:ea typeface="Aptos" charset="0"/>
                        <a:cs typeface="Aptos" charset="0"/>
                      </a:endParaRPr>
                    </a:p>
                  </a:txBody>
                  <a:tcPr marL="36576" marR="36576" marT="36576" marB="36576">
                    <a:lnL w="12700" cap="flat" cmpd="sng" algn="ctr">
                      <a:solidFill>
                        <a:srgbClr val="D8E7EA"/>
                      </a:solidFill>
                      <a:prstDash val="solid"/>
                      <a:round/>
                      <a:headEnd type="none" w="med" len="med"/>
                      <a:tailEnd type="none" w="med" len="med"/>
                    </a:lnL>
                    <a:lnR w="12700" cap="flat" cmpd="sng" algn="ctr">
                      <a:solidFill>
                        <a:srgbClr val="D8E7EA"/>
                      </a:solidFill>
                      <a:prstDash val="solid"/>
                      <a:round/>
                      <a:headEnd type="none" w="med" len="med"/>
                      <a:tailEnd type="none" w="med" len="med"/>
                    </a:lnR>
                    <a:lnT w="12700" cap="flat" cmpd="sng" algn="ctr">
                      <a:solidFill>
                        <a:srgbClr val="D8E7EA"/>
                      </a:solidFill>
                      <a:prstDash val="solid"/>
                      <a:round/>
                      <a:headEnd type="none" w="med" len="med"/>
                      <a:tailEnd type="none" w="med" len="med"/>
                    </a:lnT>
                    <a:lnB w="12700" cap="flat" cmpd="sng" algn="ctr">
                      <a:solidFill>
                        <a:srgbClr val="D8E7EA"/>
                      </a:solidFill>
                      <a:prstDash val="solid"/>
                      <a:round/>
                      <a:headEnd type="none" w="med" len="med"/>
                      <a:tailEnd type="none" w="med" len="med"/>
                    </a:lnB>
                    <a:solidFill>
                      <a:srgbClr val="FFFFFF"/>
                    </a:solidFill>
                  </a:tcPr>
                </a:tc>
                <a:tc>
                  <a:txBody>
                    <a:bodyPr/>
                    <a:lstStyle/>
                    <a:p>
                      <a:pPr indent="0" marL="0">
                        <a:buNone/>
                      </a:pPr>
                      <a:r>
                        <a:rPr lang="en-US" sz="1050" dirty="0">
                          <a:solidFill>
                            <a:srgbClr val="22313F"/>
                          </a:solidFill>
                          <a:latin typeface="Aptos" pitchFamily="34" charset="0"/>
                          <a:ea typeface="Aptos" pitchFamily="34" charset="-122"/>
                          <a:cs typeface="Aptos" pitchFamily="34" charset="-120"/>
                        </a:rPr>
                        <a:t>0.9720</a:t>
                      </a:r>
                      <a:endParaRPr lang="en-US" sz="1050" dirty="0">
                        <a:latin typeface="Aptos" charset="0"/>
                        <a:ea typeface="Aptos" charset="0"/>
                        <a:cs typeface="Aptos" charset="0"/>
                      </a:endParaRPr>
                    </a:p>
                  </a:txBody>
                  <a:tcPr marL="36576" marR="36576" marT="36576" marB="36576">
                    <a:lnL w="12700" cap="flat" cmpd="sng" algn="ctr">
                      <a:solidFill>
                        <a:srgbClr val="D8E7EA"/>
                      </a:solidFill>
                      <a:prstDash val="solid"/>
                      <a:round/>
                      <a:headEnd type="none" w="med" len="med"/>
                      <a:tailEnd type="none" w="med" len="med"/>
                    </a:lnL>
                    <a:lnR w="12700" cap="flat" cmpd="sng" algn="ctr">
                      <a:solidFill>
                        <a:srgbClr val="D8E7EA"/>
                      </a:solidFill>
                      <a:prstDash val="solid"/>
                      <a:round/>
                      <a:headEnd type="none" w="med" len="med"/>
                      <a:tailEnd type="none" w="med" len="med"/>
                    </a:lnR>
                    <a:lnT w="12700" cap="flat" cmpd="sng" algn="ctr">
                      <a:solidFill>
                        <a:srgbClr val="D8E7EA"/>
                      </a:solidFill>
                      <a:prstDash val="solid"/>
                      <a:round/>
                      <a:headEnd type="none" w="med" len="med"/>
                      <a:tailEnd type="none" w="med" len="med"/>
                    </a:lnT>
                    <a:lnB w="12700" cap="flat" cmpd="sng" algn="ctr">
                      <a:solidFill>
                        <a:srgbClr val="D8E7EA"/>
                      </a:solidFill>
                      <a:prstDash val="solid"/>
                      <a:round/>
                      <a:headEnd type="none" w="med" len="med"/>
                      <a:tailEnd type="none" w="med" len="med"/>
                    </a:lnB>
                    <a:solidFill>
                      <a:srgbClr val="FFFFFF"/>
                    </a:solidFill>
                  </a:tcPr>
                </a:tc>
                <a:tc>
                  <a:txBody>
                    <a:bodyPr/>
                    <a:lstStyle/>
                    <a:p>
                      <a:pPr indent="0" marL="0">
                        <a:buNone/>
                      </a:pPr>
                      <a:r>
                        <a:rPr lang="en-US" sz="1050" dirty="0">
                          <a:solidFill>
                            <a:srgbClr val="22313F"/>
                          </a:solidFill>
                          <a:latin typeface="Aptos" pitchFamily="34" charset="0"/>
                          <a:ea typeface="Aptos" pitchFamily="34" charset="-122"/>
                          <a:cs typeface="Aptos" pitchFamily="34" charset="-120"/>
                        </a:rPr>
                        <a:t>1.0000</a:t>
                      </a:r>
                      <a:endParaRPr lang="en-US" sz="1050" dirty="0">
                        <a:latin typeface="Aptos" charset="0"/>
                        <a:ea typeface="Aptos" charset="0"/>
                        <a:cs typeface="Aptos" charset="0"/>
                      </a:endParaRPr>
                    </a:p>
                  </a:txBody>
                  <a:tcPr marL="36576" marR="36576" marT="36576" marB="36576">
                    <a:lnL w="12700" cap="flat" cmpd="sng" algn="ctr">
                      <a:solidFill>
                        <a:srgbClr val="D8E7EA"/>
                      </a:solidFill>
                      <a:prstDash val="solid"/>
                      <a:round/>
                      <a:headEnd type="none" w="med" len="med"/>
                      <a:tailEnd type="none" w="med" len="med"/>
                    </a:lnL>
                    <a:lnR w="12700" cap="flat" cmpd="sng" algn="ctr">
                      <a:solidFill>
                        <a:srgbClr val="D8E7EA"/>
                      </a:solidFill>
                      <a:prstDash val="solid"/>
                      <a:round/>
                      <a:headEnd type="none" w="med" len="med"/>
                      <a:tailEnd type="none" w="med" len="med"/>
                    </a:lnR>
                    <a:lnT w="12700" cap="flat" cmpd="sng" algn="ctr">
                      <a:solidFill>
                        <a:srgbClr val="D8E7EA"/>
                      </a:solidFill>
                      <a:prstDash val="solid"/>
                      <a:round/>
                      <a:headEnd type="none" w="med" len="med"/>
                      <a:tailEnd type="none" w="med" len="med"/>
                    </a:lnT>
                    <a:lnB w="12700" cap="flat" cmpd="sng" algn="ctr">
                      <a:solidFill>
                        <a:srgbClr val="D8E7EA"/>
                      </a:solidFill>
                      <a:prstDash val="solid"/>
                      <a:round/>
                      <a:headEnd type="none" w="med" len="med"/>
                      <a:tailEnd type="none" w="med" len="med"/>
                    </a:lnB>
                    <a:solidFill>
                      <a:srgbClr val="FFFFFF"/>
                    </a:solidFill>
                  </a:tcPr>
                </a:tc>
                <a:tc>
                  <a:txBody>
                    <a:bodyPr/>
                    <a:lstStyle/>
                    <a:p>
                      <a:pPr indent="0" marL="0">
                        <a:buNone/>
                      </a:pPr>
                      <a:r>
                        <a:rPr lang="en-US" sz="1050" dirty="0">
                          <a:solidFill>
                            <a:srgbClr val="22313F"/>
                          </a:solidFill>
                          <a:latin typeface="Aptos" pitchFamily="34" charset="0"/>
                          <a:ea typeface="Aptos" pitchFamily="34" charset="-122"/>
                          <a:cs typeface="Aptos" pitchFamily="34" charset="-120"/>
                        </a:rPr>
                        <a:t>0.9245</a:t>
                      </a:r>
                      <a:endParaRPr lang="en-US" sz="1050" dirty="0">
                        <a:latin typeface="Aptos" charset="0"/>
                        <a:ea typeface="Aptos" charset="0"/>
                        <a:cs typeface="Aptos" charset="0"/>
                      </a:endParaRPr>
                    </a:p>
                  </a:txBody>
                  <a:tcPr marL="36576" marR="36576" marT="36576" marB="36576">
                    <a:lnL w="12700" cap="flat" cmpd="sng" algn="ctr">
                      <a:solidFill>
                        <a:srgbClr val="D8E7EA"/>
                      </a:solidFill>
                      <a:prstDash val="solid"/>
                      <a:round/>
                      <a:headEnd type="none" w="med" len="med"/>
                      <a:tailEnd type="none" w="med" len="med"/>
                    </a:lnL>
                    <a:lnR w="12700" cap="flat" cmpd="sng" algn="ctr">
                      <a:solidFill>
                        <a:srgbClr val="D8E7EA"/>
                      </a:solidFill>
                      <a:prstDash val="solid"/>
                      <a:round/>
                      <a:headEnd type="none" w="med" len="med"/>
                      <a:tailEnd type="none" w="med" len="med"/>
                    </a:lnR>
                    <a:lnT w="12700" cap="flat" cmpd="sng" algn="ctr">
                      <a:solidFill>
                        <a:srgbClr val="D8E7EA"/>
                      </a:solidFill>
                      <a:prstDash val="solid"/>
                      <a:round/>
                      <a:headEnd type="none" w="med" len="med"/>
                      <a:tailEnd type="none" w="med" len="med"/>
                    </a:lnT>
                    <a:lnB w="12700" cap="flat" cmpd="sng" algn="ctr">
                      <a:solidFill>
                        <a:srgbClr val="D8E7EA"/>
                      </a:solidFill>
                      <a:prstDash val="solid"/>
                      <a:round/>
                      <a:headEnd type="none" w="med" len="med"/>
                      <a:tailEnd type="none" w="med" len="med"/>
                    </a:lnB>
                    <a:solidFill>
                      <a:srgbClr val="FFFFFF"/>
                    </a:solidFill>
                  </a:tcPr>
                </a:tc>
                <a:tc>
                  <a:txBody>
                    <a:bodyPr/>
                    <a:lstStyle/>
                    <a:p>
                      <a:pPr indent="0" marL="0">
                        <a:buNone/>
                      </a:pPr>
                      <a:r>
                        <a:rPr lang="en-US" sz="1050" dirty="0">
                          <a:solidFill>
                            <a:srgbClr val="22313F"/>
                          </a:solidFill>
                          <a:latin typeface="Aptos" pitchFamily="34" charset="0"/>
                          <a:ea typeface="Aptos" pitchFamily="34" charset="-122"/>
                          <a:cs typeface="Aptos" pitchFamily="34" charset="-120"/>
                        </a:rPr>
                        <a:t>0.9608</a:t>
                      </a:r>
                      <a:endParaRPr lang="en-US" sz="1050" dirty="0">
                        <a:latin typeface="Aptos" charset="0"/>
                        <a:ea typeface="Aptos" charset="0"/>
                        <a:cs typeface="Aptos" charset="0"/>
                      </a:endParaRPr>
                    </a:p>
                  </a:txBody>
                  <a:tcPr marL="36576" marR="36576" marT="36576" marB="36576">
                    <a:lnL w="12700" cap="flat" cmpd="sng" algn="ctr">
                      <a:solidFill>
                        <a:srgbClr val="D8E7EA"/>
                      </a:solidFill>
                      <a:prstDash val="solid"/>
                      <a:round/>
                      <a:headEnd type="none" w="med" len="med"/>
                      <a:tailEnd type="none" w="med" len="med"/>
                    </a:lnL>
                    <a:lnR w="12700" cap="flat" cmpd="sng" algn="ctr">
                      <a:solidFill>
                        <a:srgbClr val="D8E7EA"/>
                      </a:solidFill>
                      <a:prstDash val="solid"/>
                      <a:round/>
                      <a:headEnd type="none" w="med" len="med"/>
                      <a:tailEnd type="none" w="med" len="med"/>
                    </a:lnR>
                    <a:lnT w="12700" cap="flat" cmpd="sng" algn="ctr">
                      <a:solidFill>
                        <a:srgbClr val="D8E7EA"/>
                      </a:solidFill>
                      <a:prstDash val="solid"/>
                      <a:round/>
                      <a:headEnd type="none" w="med" len="med"/>
                      <a:tailEnd type="none" w="med" len="med"/>
                    </a:lnT>
                    <a:lnB w="12700" cap="flat" cmpd="sng" algn="ctr">
                      <a:solidFill>
                        <a:srgbClr val="D8E7EA"/>
                      </a:solidFill>
                      <a:prstDash val="solid"/>
                      <a:round/>
                      <a:headEnd type="none" w="med" len="med"/>
                      <a:tailEnd type="none" w="med" len="med"/>
                    </a:lnB>
                    <a:solidFill>
                      <a:srgbClr val="FFFFFF"/>
                    </a:solidFill>
                  </a:tcPr>
                </a:tc>
              </a:tr>
              <a:tr h="487680">
                <a:tc>
                  <a:txBody>
                    <a:bodyPr/>
                    <a:lstStyle/>
                    <a:p>
                      <a:pPr indent="0" marL="0">
                        <a:buNone/>
                      </a:pPr>
                      <a:r>
                        <a:rPr lang="en-US" sz="1050" dirty="0">
                          <a:solidFill>
                            <a:srgbClr val="22313F"/>
                          </a:solidFill>
                          <a:latin typeface="Aptos" pitchFamily="34" charset="0"/>
                          <a:ea typeface="Aptos" pitchFamily="34" charset="-122"/>
                          <a:cs typeface="Aptos" pitchFamily="34" charset="-120"/>
                        </a:rPr>
                        <a:t>Random Forest sin PCA</a:t>
                      </a:r>
                      <a:endParaRPr lang="en-US" sz="1050" dirty="0">
                        <a:latin typeface="Aptos" charset="0"/>
                        <a:ea typeface="Aptos" charset="0"/>
                        <a:cs typeface="Aptos" charset="0"/>
                      </a:endParaRPr>
                    </a:p>
                  </a:txBody>
                  <a:tcPr marL="36576" marR="36576" marT="36576" marB="36576">
                    <a:lnL w="12700" cap="flat" cmpd="sng" algn="ctr">
                      <a:solidFill>
                        <a:srgbClr val="D8E7EA"/>
                      </a:solidFill>
                      <a:prstDash val="solid"/>
                      <a:round/>
                      <a:headEnd type="none" w="med" len="med"/>
                      <a:tailEnd type="none" w="med" len="med"/>
                    </a:lnL>
                    <a:lnR w="12700" cap="flat" cmpd="sng" algn="ctr">
                      <a:solidFill>
                        <a:srgbClr val="D8E7EA"/>
                      </a:solidFill>
                      <a:prstDash val="solid"/>
                      <a:round/>
                      <a:headEnd type="none" w="med" len="med"/>
                      <a:tailEnd type="none" w="med" len="med"/>
                    </a:lnR>
                    <a:lnT w="12700" cap="flat" cmpd="sng" algn="ctr">
                      <a:solidFill>
                        <a:srgbClr val="D8E7EA"/>
                      </a:solidFill>
                      <a:prstDash val="solid"/>
                      <a:round/>
                      <a:headEnd type="none" w="med" len="med"/>
                      <a:tailEnd type="none" w="med" len="med"/>
                    </a:lnT>
                    <a:lnB w="12700" cap="flat" cmpd="sng" algn="ctr">
                      <a:solidFill>
                        <a:srgbClr val="D8E7EA"/>
                      </a:solidFill>
                      <a:prstDash val="solid"/>
                      <a:round/>
                      <a:headEnd type="none" w="med" len="med"/>
                      <a:tailEnd type="none" w="med" len="med"/>
                    </a:lnB>
                    <a:solidFill>
                      <a:srgbClr val="FFFFFF"/>
                    </a:solidFill>
                  </a:tcPr>
                </a:tc>
                <a:tc>
                  <a:txBody>
                    <a:bodyPr/>
                    <a:lstStyle/>
                    <a:p>
                      <a:pPr indent="0" marL="0">
                        <a:buNone/>
                      </a:pPr>
                      <a:r>
                        <a:rPr lang="en-US" sz="1050" dirty="0">
                          <a:solidFill>
                            <a:srgbClr val="22313F"/>
                          </a:solidFill>
                          <a:latin typeface="Aptos" pitchFamily="34" charset="0"/>
                          <a:ea typeface="Aptos" pitchFamily="34" charset="-122"/>
                          <a:cs typeface="Aptos" pitchFamily="34" charset="-120"/>
                        </a:rPr>
                        <a:t>0.9708</a:t>
                      </a:r>
                      <a:endParaRPr lang="en-US" sz="1050" dirty="0">
                        <a:latin typeface="Aptos" charset="0"/>
                        <a:ea typeface="Aptos" charset="0"/>
                        <a:cs typeface="Aptos" charset="0"/>
                      </a:endParaRPr>
                    </a:p>
                  </a:txBody>
                  <a:tcPr marL="36576" marR="36576" marT="36576" marB="36576">
                    <a:lnL w="12700" cap="flat" cmpd="sng" algn="ctr">
                      <a:solidFill>
                        <a:srgbClr val="D8E7EA"/>
                      </a:solidFill>
                      <a:prstDash val="solid"/>
                      <a:round/>
                      <a:headEnd type="none" w="med" len="med"/>
                      <a:tailEnd type="none" w="med" len="med"/>
                    </a:lnL>
                    <a:lnR w="12700" cap="flat" cmpd="sng" algn="ctr">
                      <a:solidFill>
                        <a:srgbClr val="D8E7EA"/>
                      </a:solidFill>
                      <a:prstDash val="solid"/>
                      <a:round/>
                      <a:headEnd type="none" w="med" len="med"/>
                      <a:tailEnd type="none" w="med" len="med"/>
                    </a:lnR>
                    <a:lnT w="12700" cap="flat" cmpd="sng" algn="ctr">
                      <a:solidFill>
                        <a:srgbClr val="D8E7EA"/>
                      </a:solidFill>
                      <a:prstDash val="solid"/>
                      <a:round/>
                      <a:headEnd type="none" w="med" len="med"/>
                      <a:tailEnd type="none" w="med" len="med"/>
                    </a:lnT>
                    <a:lnB w="12700" cap="flat" cmpd="sng" algn="ctr">
                      <a:solidFill>
                        <a:srgbClr val="D8E7EA"/>
                      </a:solidFill>
                      <a:prstDash val="solid"/>
                      <a:round/>
                      <a:headEnd type="none" w="med" len="med"/>
                      <a:tailEnd type="none" w="med" len="med"/>
                    </a:lnB>
                    <a:solidFill>
                      <a:srgbClr val="FFFFFF"/>
                    </a:solidFill>
                  </a:tcPr>
                </a:tc>
                <a:tc>
                  <a:txBody>
                    <a:bodyPr/>
                    <a:lstStyle/>
                    <a:p>
                      <a:pPr indent="0" marL="0">
                        <a:buNone/>
                      </a:pPr>
                      <a:r>
                        <a:rPr lang="en-US" sz="1050" dirty="0">
                          <a:solidFill>
                            <a:srgbClr val="22313F"/>
                          </a:solidFill>
                          <a:latin typeface="Aptos" pitchFamily="34" charset="0"/>
                          <a:ea typeface="Aptos" pitchFamily="34" charset="-122"/>
                          <a:cs typeface="Aptos" pitchFamily="34" charset="-120"/>
                        </a:rPr>
                        <a:t>1.0000</a:t>
                      </a:r>
                      <a:endParaRPr lang="en-US" sz="1050" dirty="0">
                        <a:latin typeface="Aptos" charset="0"/>
                        <a:ea typeface="Aptos" charset="0"/>
                        <a:cs typeface="Aptos" charset="0"/>
                      </a:endParaRPr>
                    </a:p>
                  </a:txBody>
                  <a:tcPr marL="36576" marR="36576" marT="36576" marB="36576">
                    <a:lnL w="12700" cap="flat" cmpd="sng" algn="ctr">
                      <a:solidFill>
                        <a:srgbClr val="D8E7EA"/>
                      </a:solidFill>
                      <a:prstDash val="solid"/>
                      <a:round/>
                      <a:headEnd type="none" w="med" len="med"/>
                      <a:tailEnd type="none" w="med" len="med"/>
                    </a:lnL>
                    <a:lnR w="12700" cap="flat" cmpd="sng" algn="ctr">
                      <a:solidFill>
                        <a:srgbClr val="D8E7EA"/>
                      </a:solidFill>
                      <a:prstDash val="solid"/>
                      <a:round/>
                      <a:headEnd type="none" w="med" len="med"/>
                      <a:tailEnd type="none" w="med" len="med"/>
                    </a:lnR>
                    <a:lnT w="12700" cap="flat" cmpd="sng" algn="ctr">
                      <a:solidFill>
                        <a:srgbClr val="D8E7EA"/>
                      </a:solidFill>
                      <a:prstDash val="solid"/>
                      <a:round/>
                      <a:headEnd type="none" w="med" len="med"/>
                      <a:tailEnd type="none" w="med" len="med"/>
                    </a:lnT>
                    <a:lnB w="12700" cap="flat" cmpd="sng" algn="ctr">
                      <a:solidFill>
                        <a:srgbClr val="D8E7EA"/>
                      </a:solidFill>
                      <a:prstDash val="solid"/>
                      <a:round/>
                      <a:headEnd type="none" w="med" len="med"/>
                      <a:tailEnd type="none" w="med" len="med"/>
                    </a:lnB>
                    <a:solidFill>
                      <a:srgbClr val="FFFFFF"/>
                    </a:solidFill>
                  </a:tcPr>
                </a:tc>
                <a:tc>
                  <a:txBody>
                    <a:bodyPr/>
                    <a:lstStyle/>
                    <a:p>
                      <a:pPr indent="0" marL="0">
                        <a:buNone/>
                      </a:pPr>
                      <a:r>
                        <a:rPr lang="en-US" sz="1050" dirty="0">
                          <a:solidFill>
                            <a:srgbClr val="22313F"/>
                          </a:solidFill>
                          <a:latin typeface="Aptos" pitchFamily="34" charset="0"/>
                          <a:ea typeface="Aptos" pitchFamily="34" charset="-122"/>
                          <a:cs typeface="Aptos" pitchFamily="34" charset="-120"/>
                        </a:rPr>
                        <a:t>0.9219</a:t>
                      </a:r>
                      <a:endParaRPr lang="en-US" sz="1050" dirty="0">
                        <a:latin typeface="Aptos" charset="0"/>
                        <a:ea typeface="Aptos" charset="0"/>
                        <a:cs typeface="Aptos" charset="0"/>
                      </a:endParaRPr>
                    </a:p>
                  </a:txBody>
                  <a:tcPr marL="36576" marR="36576" marT="36576" marB="36576">
                    <a:lnL w="12700" cap="flat" cmpd="sng" algn="ctr">
                      <a:solidFill>
                        <a:srgbClr val="D8E7EA"/>
                      </a:solidFill>
                      <a:prstDash val="solid"/>
                      <a:round/>
                      <a:headEnd type="none" w="med" len="med"/>
                      <a:tailEnd type="none" w="med" len="med"/>
                    </a:lnL>
                    <a:lnR w="12700" cap="flat" cmpd="sng" algn="ctr">
                      <a:solidFill>
                        <a:srgbClr val="D8E7EA"/>
                      </a:solidFill>
                      <a:prstDash val="solid"/>
                      <a:round/>
                      <a:headEnd type="none" w="med" len="med"/>
                      <a:tailEnd type="none" w="med" len="med"/>
                    </a:lnR>
                    <a:lnT w="12700" cap="flat" cmpd="sng" algn="ctr">
                      <a:solidFill>
                        <a:srgbClr val="D8E7EA"/>
                      </a:solidFill>
                      <a:prstDash val="solid"/>
                      <a:round/>
                      <a:headEnd type="none" w="med" len="med"/>
                      <a:tailEnd type="none" w="med" len="med"/>
                    </a:lnT>
                    <a:lnB w="12700" cap="flat" cmpd="sng" algn="ctr">
                      <a:solidFill>
                        <a:srgbClr val="D8E7EA"/>
                      </a:solidFill>
                      <a:prstDash val="solid"/>
                      <a:round/>
                      <a:headEnd type="none" w="med" len="med"/>
                      <a:tailEnd type="none" w="med" len="med"/>
                    </a:lnB>
                    <a:solidFill>
                      <a:srgbClr val="FFFFFF"/>
                    </a:solidFill>
                  </a:tcPr>
                </a:tc>
                <a:tc>
                  <a:txBody>
                    <a:bodyPr/>
                    <a:lstStyle/>
                    <a:p>
                      <a:pPr indent="0" marL="0">
                        <a:buNone/>
                      </a:pPr>
                      <a:r>
                        <a:rPr lang="en-US" sz="1050" dirty="0">
                          <a:solidFill>
                            <a:srgbClr val="22313F"/>
                          </a:solidFill>
                          <a:latin typeface="Aptos" pitchFamily="34" charset="0"/>
                          <a:ea typeface="Aptos" pitchFamily="34" charset="-122"/>
                          <a:cs typeface="Aptos" pitchFamily="34" charset="-120"/>
                        </a:rPr>
                        <a:t>0.9593</a:t>
                      </a:r>
                      <a:endParaRPr lang="en-US" sz="1050" dirty="0">
                        <a:latin typeface="Aptos" charset="0"/>
                        <a:ea typeface="Aptos" charset="0"/>
                        <a:cs typeface="Aptos" charset="0"/>
                      </a:endParaRPr>
                    </a:p>
                  </a:txBody>
                  <a:tcPr marL="36576" marR="36576" marT="36576" marB="36576">
                    <a:lnL w="12700" cap="flat" cmpd="sng" algn="ctr">
                      <a:solidFill>
                        <a:srgbClr val="D8E7EA"/>
                      </a:solidFill>
                      <a:prstDash val="solid"/>
                      <a:round/>
                      <a:headEnd type="none" w="med" len="med"/>
                      <a:tailEnd type="none" w="med" len="med"/>
                    </a:lnL>
                    <a:lnR w="12700" cap="flat" cmpd="sng" algn="ctr">
                      <a:solidFill>
                        <a:srgbClr val="D8E7EA"/>
                      </a:solidFill>
                      <a:prstDash val="solid"/>
                      <a:round/>
                      <a:headEnd type="none" w="med" len="med"/>
                      <a:tailEnd type="none" w="med" len="med"/>
                    </a:lnR>
                    <a:lnT w="12700" cap="flat" cmpd="sng" algn="ctr">
                      <a:solidFill>
                        <a:srgbClr val="D8E7EA"/>
                      </a:solidFill>
                      <a:prstDash val="solid"/>
                      <a:round/>
                      <a:headEnd type="none" w="med" len="med"/>
                      <a:tailEnd type="none" w="med" len="med"/>
                    </a:lnT>
                    <a:lnB w="12700" cap="flat" cmpd="sng" algn="ctr">
                      <a:solidFill>
                        <a:srgbClr val="D8E7EA"/>
                      </a:solidFill>
                      <a:prstDash val="solid"/>
                      <a:round/>
                      <a:headEnd type="none" w="med" len="med"/>
                      <a:tailEnd type="none" w="med" len="med"/>
                    </a:lnB>
                    <a:solidFill>
                      <a:srgbClr val="FFFFFF"/>
                    </a:solidFill>
                  </a:tcPr>
                </a:tc>
              </a:tr>
              <a:tr h="487680">
                <a:tc>
                  <a:txBody>
                    <a:bodyPr/>
                    <a:lstStyle/>
                    <a:p>
                      <a:pPr indent="0" marL="0">
                        <a:buNone/>
                      </a:pPr>
                      <a:r>
                        <a:rPr lang="en-US" sz="1050" dirty="0">
                          <a:solidFill>
                            <a:srgbClr val="22313F"/>
                          </a:solidFill>
                          <a:latin typeface="Aptos" pitchFamily="34" charset="0"/>
                          <a:ea typeface="Aptos" pitchFamily="34" charset="-122"/>
                          <a:cs typeface="Aptos" pitchFamily="34" charset="-120"/>
                        </a:rPr>
                        <a:t>Random Forest con PCA (5 comp)</a:t>
                      </a:r>
                      <a:endParaRPr lang="en-US" sz="1050" dirty="0">
                        <a:latin typeface="Aptos" charset="0"/>
                        <a:ea typeface="Aptos" charset="0"/>
                        <a:cs typeface="Aptos" charset="0"/>
                      </a:endParaRPr>
                    </a:p>
                  </a:txBody>
                  <a:tcPr marL="36576" marR="36576" marT="36576" marB="36576">
                    <a:lnL w="12700" cap="flat" cmpd="sng" algn="ctr">
                      <a:solidFill>
                        <a:srgbClr val="D8E7EA"/>
                      </a:solidFill>
                      <a:prstDash val="solid"/>
                      <a:round/>
                      <a:headEnd type="none" w="med" len="med"/>
                      <a:tailEnd type="none" w="med" len="med"/>
                    </a:lnL>
                    <a:lnR w="12700" cap="flat" cmpd="sng" algn="ctr">
                      <a:solidFill>
                        <a:srgbClr val="D8E7EA"/>
                      </a:solidFill>
                      <a:prstDash val="solid"/>
                      <a:round/>
                      <a:headEnd type="none" w="med" len="med"/>
                      <a:tailEnd type="none" w="med" len="med"/>
                    </a:lnR>
                    <a:lnT w="12700" cap="flat" cmpd="sng" algn="ctr">
                      <a:solidFill>
                        <a:srgbClr val="D8E7EA"/>
                      </a:solidFill>
                      <a:prstDash val="solid"/>
                      <a:round/>
                      <a:headEnd type="none" w="med" len="med"/>
                      <a:tailEnd type="none" w="med" len="med"/>
                    </a:lnT>
                    <a:lnB w="12700" cap="flat" cmpd="sng" algn="ctr">
                      <a:solidFill>
                        <a:srgbClr val="D8E7EA"/>
                      </a:solidFill>
                      <a:prstDash val="solid"/>
                      <a:round/>
                      <a:headEnd type="none" w="med" len="med"/>
                      <a:tailEnd type="none" w="med" len="med"/>
                    </a:lnB>
                    <a:solidFill>
                      <a:srgbClr val="FFFFFF"/>
                    </a:solidFill>
                  </a:tcPr>
                </a:tc>
                <a:tc>
                  <a:txBody>
                    <a:bodyPr/>
                    <a:lstStyle/>
                    <a:p>
                      <a:pPr indent="0" marL="0">
                        <a:buNone/>
                      </a:pPr>
                      <a:r>
                        <a:rPr lang="en-US" sz="1050" dirty="0">
                          <a:solidFill>
                            <a:srgbClr val="22313F"/>
                          </a:solidFill>
                          <a:latin typeface="Aptos" pitchFamily="34" charset="0"/>
                          <a:ea typeface="Aptos" pitchFamily="34" charset="-122"/>
                          <a:cs typeface="Aptos" pitchFamily="34" charset="-120"/>
                        </a:rPr>
                        <a:t>0.9532</a:t>
                      </a:r>
                      <a:endParaRPr lang="en-US" sz="1050" dirty="0">
                        <a:latin typeface="Aptos" charset="0"/>
                        <a:ea typeface="Aptos" charset="0"/>
                        <a:cs typeface="Aptos" charset="0"/>
                      </a:endParaRPr>
                    </a:p>
                  </a:txBody>
                  <a:tcPr marL="36576" marR="36576" marT="36576" marB="36576">
                    <a:lnL w="12700" cap="flat" cmpd="sng" algn="ctr">
                      <a:solidFill>
                        <a:srgbClr val="D8E7EA"/>
                      </a:solidFill>
                      <a:prstDash val="solid"/>
                      <a:round/>
                      <a:headEnd type="none" w="med" len="med"/>
                      <a:tailEnd type="none" w="med" len="med"/>
                    </a:lnL>
                    <a:lnR w="12700" cap="flat" cmpd="sng" algn="ctr">
                      <a:solidFill>
                        <a:srgbClr val="D8E7EA"/>
                      </a:solidFill>
                      <a:prstDash val="solid"/>
                      <a:round/>
                      <a:headEnd type="none" w="med" len="med"/>
                      <a:tailEnd type="none" w="med" len="med"/>
                    </a:lnR>
                    <a:lnT w="12700" cap="flat" cmpd="sng" algn="ctr">
                      <a:solidFill>
                        <a:srgbClr val="D8E7EA"/>
                      </a:solidFill>
                      <a:prstDash val="solid"/>
                      <a:round/>
                      <a:headEnd type="none" w="med" len="med"/>
                      <a:tailEnd type="none" w="med" len="med"/>
                    </a:lnT>
                    <a:lnB w="12700" cap="flat" cmpd="sng" algn="ctr">
                      <a:solidFill>
                        <a:srgbClr val="D8E7EA"/>
                      </a:solidFill>
                      <a:prstDash val="solid"/>
                      <a:round/>
                      <a:headEnd type="none" w="med" len="med"/>
                      <a:tailEnd type="none" w="med" len="med"/>
                    </a:lnB>
                    <a:solidFill>
                      <a:srgbClr val="FFFFFF"/>
                    </a:solidFill>
                  </a:tcPr>
                </a:tc>
                <a:tc>
                  <a:txBody>
                    <a:bodyPr/>
                    <a:lstStyle/>
                    <a:p>
                      <a:pPr indent="0" marL="0">
                        <a:buNone/>
                      </a:pPr>
                      <a:r>
                        <a:rPr lang="en-US" sz="1050" dirty="0">
                          <a:solidFill>
                            <a:srgbClr val="22313F"/>
                          </a:solidFill>
                          <a:latin typeface="Aptos" pitchFamily="34" charset="0"/>
                          <a:ea typeface="Aptos" pitchFamily="34" charset="-122"/>
                          <a:cs typeface="Aptos" pitchFamily="34" charset="-120"/>
                        </a:rPr>
                        <a:t>0.9667</a:t>
                      </a:r>
                      <a:endParaRPr lang="en-US" sz="1050" dirty="0">
                        <a:latin typeface="Aptos" charset="0"/>
                        <a:ea typeface="Aptos" charset="0"/>
                        <a:cs typeface="Aptos" charset="0"/>
                      </a:endParaRPr>
                    </a:p>
                  </a:txBody>
                  <a:tcPr marL="36576" marR="36576" marT="36576" marB="36576">
                    <a:lnL w="12700" cap="flat" cmpd="sng" algn="ctr">
                      <a:solidFill>
                        <a:srgbClr val="D8E7EA"/>
                      </a:solidFill>
                      <a:prstDash val="solid"/>
                      <a:round/>
                      <a:headEnd type="none" w="med" len="med"/>
                      <a:tailEnd type="none" w="med" len="med"/>
                    </a:lnL>
                    <a:lnR w="12700" cap="flat" cmpd="sng" algn="ctr">
                      <a:solidFill>
                        <a:srgbClr val="D8E7EA"/>
                      </a:solidFill>
                      <a:prstDash val="solid"/>
                      <a:round/>
                      <a:headEnd type="none" w="med" len="med"/>
                      <a:tailEnd type="none" w="med" len="med"/>
                    </a:lnR>
                    <a:lnT w="12700" cap="flat" cmpd="sng" algn="ctr">
                      <a:solidFill>
                        <a:srgbClr val="D8E7EA"/>
                      </a:solidFill>
                      <a:prstDash val="solid"/>
                      <a:round/>
                      <a:headEnd type="none" w="med" len="med"/>
                      <a:tailEnd type="none" w="med" len="med"/>
                    </a:lnT>
                    <a:lnB w="12700" cap="flat" cmpd="sng" algn="ctr">
                      <a:solidFill>
                        <a:srgbClr val="D8E7EA"/>
                      </a:solidFill>
                      <a:prstDash val="solid"/>
                      <a:round/>
                      <a:headEnd type="none" w="med" len="med"/>
                      <a:tailEnd type="none" w="med" len="med"/>
                    </a:lnB>
                    <a:solidFill>
                      <a:srgbClr val="FFFFFF"/>
                    </a:solidFill>
                  </a:tcPr>
                </a:tc>
                <a:tc>
                  <a:txBody>
                    <a:bodyPr/>
                    <a:lstStyle/>
                    <a:p>
                      <a:pPr indent="0" marL="0">
                        <a:buNone/>
                      </a:pPr>
                      <a:r>
                        <a:rPr lang="en-US" sz="1050" dirty="0">
                          <a:solidFill>
                            <a:srgbClr val="22313F"/>
                          </a:solidFill>
                          <a:latin typeface="Aptos" pitchFamily="34" charset="0"/>
                          <a:ea typeface="Aptos" pitchFamily="34" charset="-122"/>
                          <a:cs typeface="Aptos" pitchFamily="34" charset="-120"/>
                        </a:rPr>
                        <a:t>0.9062</a:t>
                      </a:r>
                      <a:endParaRPr lang="en-US" sz="1050" dirty="0">
                        <a:latin typeface="Aptos" charset="0"/>
                        <a:ea typeface="Aptos" charset="0"/>
                        <a:cs typeface="Aptos" charset="0"/>
                      </a:endParaRPr>
                    </a:p>
                  </a:txBody>
                  <a:tcPr marL="36576" marR="36576" marT="36576" marB="36576">
                    <a:lnL w="12700" cap="flat" cmpd="sng" algn="ctr">
                      <a:solidFill>
                        <a:srgbClr val="D8E7EA"/>
                      </a:solidFill>
                      <a:prstDash val="solid"/>
                      <a:round/>
                      <a:headEnd type="none" w="med" len="med"/>
                      <a:tailEnd type="none" w="med" len="med"/>
                    </a:lnL>
                    <a:lnR w="12700" cap="flat" cmpd="sng" algn="ctr">
                      <a:solidFill>
                        <a:srgbClr val="D8E7EA"/>
                      </a:solidFill>
                      <a:prstDash val="solid"/>
                      <a:round/>
                      <a:headEnd type="none" w="med" len="med"/>
                      <a:tailEnd type="none" w="med" len="med"/>
                    </a:lnR>
                    <a:lnT w="12700" cap="flat" cmpd="sng" algn="ctr">
                      <a:solidFill>
                        <a:srgbClr val="D8E7EA"/>
                      </a:solidFill>
                      <a:prstDash val="solid"/>
                      <a:round/>
                      <a:headEnd type="none" w="med" len="med"/>
                      <a:tailEnd type="none" w="med" len="med"/>
                    </a:lnT>
                    <a:lnB w="12700" cap="flat" cmpd="sng" algn="ctr">
                      <a:solidFill>
                        <a:srgbClr val="D8E7EA"/>
                      </a:solidFill>
                      <a:prstDash val="solid"/>
                      <a:round/>
                      <a:headEnd type="none" w="med" len="med"/>
                      <a:tailEnd type="none" w="med" len="med"/>
                    </a:lnB>
                    <a:solidFill>
                      <a:srgbClr val="FFFFFF"/>
                    </a:solidFill>
                  </a:tcPr>
                </a:tc>
                <a:tc>
                  <a:txBody>
                    <a:bodyPr/>
                    <a:lstStyle/>
                    <a:p>
                      <a:pPr indent="0" marL="0">
                        <a:buNone/>
                      </a:pPr>
                      <a:r>
                        <a:rPr lang="en-US" sz="1050" dirty="0">
                          <a:solidFill>
                            <a:srgbClr val="22313F"/>
                          </a:solidFill>
                          <a:latin typeface="Aptos" pitchFamily="34" charset="0"/>
                          <a:ea typeface="Aptos" pitchFamily="34" charset="-122"/>
                          <a:cs typeface="Aptos" pitchFamily="34" charset="-120"/>
                        </a:rPr>
                        <a:t>0.9355</a:t>
                      </a:r>
                      <a:endParaRPr lang="en-US" sz="1050" dirty="0">
                        <a:latin typeface="Aptos" charset="0"/>
                        <a:ea typeface="Aptos" charset="0"/>
                        <a:cs typeface="Aptos" charset="0"/>
                      </a:endParaRPr>
                    </a:p>
                  </a:txBody>
                  <a:tcPr marL="36576" marR="36576" marT="36576" marB="36576">
                    <a:lnL w="12700" cap="flat" cmpd="sng" algn="ctr">
                      <a:solidFill>
                        <a:srgbClr val="D8E7EA"/>
                      </a:solidFill>
                      <a:prstDash val="solid"/>
                      <a:round/>
                      <a:headEnd type="none" w="med" len="med"/>
                      <a:tailEnd type="none" w="med" len="med"/>
                    </a:lnL>
                    <a:lnR w="12700" cap="flat" cmpd="sng" algn="ctr">
                      <a:solidFill>
                        <a:srgbClr val="D8E7EA"/>
                      </a:solidFill>
                      <a:prstDash val="solid"/>
                      <a:round/>
                      <a:headEnd type="none" w="med" len="med"/>
                      <a:tailEnd type="none" w="med" len="med"/>
                    </a:lnR>
                    <a:lnT w="12700" cap="flat" cmpd="sng" algn="ctr">
                      <a:solidFill>
                        <a:srgbClr val="D8E7EA"/>
                      </a:solidFill>
                      <a:prstDash val="solid"/>
                      <a:round/>
                      <a:headEnd type="none" w="med" len="med"/>
                      <a:tailEnd type="none" w="med" len="med"/>
                    </a:lnT>
                    <a:lnB w="12700" cap="flat" cmpd="sng" algn="ctr">
                      <a:solidFill>
                        <a:srgbClr val="D8E7EA"/>
                      </a:solidFill>
                      <a:prstDash val="solid"/>
                      <a:round/>
                      <a:headEnd type="none" w="med" len="med"/>
                      <a:tailEnd type="none" w="med" len="med"/>
                    </a:lnB>
                    <a:solidFill>
                      <a:srgbClr val="FFFFFF"/>
                    </a:solidFill>
                  </a:tcPr>
                </a:tc>
              </a:tr>
              <a:tr h="487680">
                <a:tc>
                  <a:txBody>
                    <a:bodyPr/>
                    <a:lstStyle/>
                    <a:p>
                      <a:pPr indent="0" marL="0">
                        <a:buNone/>
                      </a:pPr>
                      <a:r>
                        <a:rPr lang="en-US" sz="1050" dirty="0">
                          <a:solidFill>
                            <a:srgbClr val="22313F"/>
                          </a:solidFill>
                          <a:latin typeface="Aptos" pitchFamily="34" charset="0"/>
                          <a:ea typeface="Aptos" pitchFamily="34" charset="-122"/>
                          <a:cs typeface="Aptos" pitchFamily="34" charset="-120"/>
                        </a:rPr>
                        <a:t>SVM lineal</a:t>
                      </a:r>
                      <a:endParaRPr lang="en-US" sz="1050" dirty="0">
                        <a:latin typeface="Aptos" charset="0"/>
                        <a:ea typeface="Aptos" charset="0"/>
                        <a:cs typeface="Aptos" charset="0"/>
                      </a:endParaRPr>
                    </a:p>
                  </a:txBody>
                  <a:tcPr marL="36576" marR="36576" marT="36576" marB="36576">
                    <a:lnL w="12700" cap="flat" cmpd="sng" algn="ctr">
                      <a:solidFill>
                        <a:srgbClr val="D8E7EA"/>
                      </a:solidFill>
                      <a:prstDash val="solid"/>
                      <a:round/>
                      <a:headEnd type="none" w="med" len="med"/>
                      <a:tailEnd type="none" w="med" len="med"/>
                    </a:lnL>
                    <a:lnR w="12700" cap="flat" cmpd="sng" algn="ctr">
                      <a:solidFill>
                        <a:srgbClr val="D8E7EA"/>
                      </a:solidFill>
                      <a:prstDash val="solid"/>
                      <a:round/>
                      <a:headEnd type="none" w="med" len="med"/>
                      <a:tailEnd type="none" w="med" len="med"/>
                    </a:lnR>
                    <a:lnT w="12700" cap="flat" cmpd="sng" algn="ctr">
                      <a:solidFill>
                        <a:srgbClr val="D8E7EA"/>
                      </a:solidFill>
                      <a:prstDash val="solid"/>
                      <a:round/>
                      <a:headEnd type="none" w="med" len="med"/>
                      <a:tailEnd type="none" w="med" len="med"/>
                    </a:lnT>
                    <a:lnB w="12700" cap="flat" cmpd="sng" algn="ctr">
                      <a:solidFill>
                        <a:srgbClr val="D8E7EA"/>
                      </a:solidFill>
                      <a:prstDash val="solid"/>
                      <a:round/>
                      <a:headEnd type="none" w="med" len="med"/>
                      <a:tailEnd type="none" w="med" len="med"/>
                    </a:lnB>
                    <a:solidFill>
                      <a:srgbClr val="FFFFFF"/>
                    </a:solidFill>
                  </a:tcPr>
                </a:tc>
                <a:tc>
                  <a:txBody>
                    <a:bodyPr/>
                    <a:lstStyle/>
                    <a:p>
                      <a:pPr indent="0" marL="0">
                        <a:buNone/>
                      </a:pPr>
                      <a:r>
                        <a:rPr lang="en-US" sz="1050" dirty="0">
                          <a:solidFill>
                            <a:srgbClr val="22313F"/>
                          </a:solidFill>
                          <a:latin typeface="Aptos" pitchFamily="34" charset="0"/>
                          <a:ea typeface="Aptos" pitchFamily="34" charset="-122"/>
                          <a:cs typeface="Aptos" pitchFamily="34" charset="-120"/>
                        </a:rPr>
                        <a:t>0.9580</a:t>
                      </a:r>
                      <a:endParaRPr lang="en-US" sz="1050" dirty="0">
                        <a:latin typeface="Aptos" charset="0"/>
                        <a:ea typeface="Aptos" charset="0"/>
                        <a:cs typeface="Aptos" charset="0"/>
                      </a:endParaRPr>
                    </a:p>
                  </a:txBody>
                  <a:tcPr marL="36576" marR="36576" marT="36576" marB="36576">
                    <a:lnL w="12700" cap="flat" cmpd="sng" algn="ctr">
                      <a:solidFill>
                        <a:srgbClr val="D8E7EA"/>
                      </a:solidFill>
                      <a:prstDash val="solid"/>
                      <a:round/>
                      <a:headEnd type="none" w="med" len="med"/>
                      <a:tailEnd type="none" w="med" len="med"/>
                    </a:lnL>
                    <a:lnR w="12700" cap="flat" cmpd="sng" algn="ctr">
                      <a:solidFill>
                        <a:srgbClr val="D8E7EA"/>
                      </a:solidFill>
                      <a:prstDash val="solid"/>
                      <a:round/>
                      <a:headEnd type="none" w="med" len="med"/>
                      <a:tailEnd type="none" w="med" len="med"/>
                    </a:lnR>
                    <a:lnT w="12700" cap="flat" cmpd="sng" algn="ctr">
                      <a:solidFill>
                        <a:srgbClr val="D8E7EA"/>
                      </a:solidFill>
                      <a:prstDash val="solid"/>
                      <a:round/>
                      <a:headEnd type="none" w="med" len="med"/>
                      <a:tailEnd type="none" w="med" len="med"/>
                    </a:lnT>
                    <a:lnB w="12700" cap="flat" cmpd="sng" algn="ctr">
                      <a:solidFill>
                        <a:srgbClr val="D8E7EA"/>
                      </a:solidFill>
                      <a:prstDash val="solid"/>
                      <a:round/>
                      <a:headEnd type="none" w="med" len="med"/>
                      <a:tailEnd type="none" w="med" len="med"/>
                    </a:lnB>
                    <a:solidFill>
                      <a:srgbClr val="FFFFFF"/>
                    </a:solidFill>
                  </a:tcPr>
                </a:tc>
                <a:tc>
                  <a:txBody>
                    <a:bodyPr/>
                    <a:lstStyle/>
                    <a:p>
                      <a:pPr indent="0" marL="0">
                        <a:buNone/>
                      </a:pPr>
                      <a:r>
                        <a:rPr lang="en-US" sz="1050" dirty="0">
                          <a:solidFill>
                            <a:srgbClr val="22313F"/>
                          </a:solidFill>
                          <a:latin typeface="Aptos" pitchFamily="34" charset="0"/>
                          <a:ea typeface="Aptos" pitchFamily="34" charset="-122"/>
                          <a:cs typeface="Aptos" pitchFamily="34" charset="-120"/>
                        </a:rPr>
                        <a:t>1.0000</a:t>
                      </a:r>
                      <a:endParaRPr lang="en-US" sz="1050" dirty="0">
                        <a:latin typeface="Aptos" charset="0"/>
                        <a:ea typeface="Aptos" charset="0"/>
                        <a:cs typeface="Aptos" charset="0"/>
                      </a:endParaRPr>
                    </a:p>
                  </a:txBody>
                  <a:tcPr marL="36576" marR="36576" marT="36576" marB="36576">
                    <a:lnL w="12700" cap="flat" cmpd="sng" algn="ctr">
                      <a:solidFill>
                        <a:srgbClr val="D8E7EA"/>
                      </a:solidFill>
                      <a:prstDash val="solid"/>
                      <a:round/>
                      <a:headEnd type="none" w="med" len="med"/>
                      <a:tailEnd type="none" w="med" len="med"/>
                    </a:lnL>
                    <a:lnR w="12700" cap="flat" cmpd="sng" algn="ctr">
                      <a:solidFill>
                        <a:srgbClr val="D8E7EA"/>
                      </a:solidFill>
                      <a:prstDash val="solid"/>
                      <a:round/>
                      <a:headEnd type="none" w="med" len="med"/>
                      <a:tailEnd type="none" w="med" len="med"/>
                    </a:lnR>
                    <a:lnT w="12700" cap="flat" cmpd="sng" algn="ctr">
                      <a:solidFill>
                        <a:srgbClr val="D8E7EA"/>
                      </a:solidFill>
                      <a:prstDash val="solid"/>
                      <a:round/>
                      <a:headEnd type="none" w="med" len="med"/>
                      <a:tailEnd type="none" w="med" len="med"/>
                    </a:lnT>
                    <a:lnB w="12700" cap="flat" cmpd="sng" algn="ctr">
                      <a:solidFill>
                        <a:srgbClr val="D8E7EA"/>
                      </a:solidFill>
                      <a:prstDash val="solid"/>
                      <a:round/>
                      <a:headEnd type="none" w="med" len="med"/>
                      <a:tailEnd type="none" w="med" len="med"/>
                    </a:lnB>
                    <a:solidFill>
                      <a:srgbClr val="FFFFFF"/>
                    </a:solidFill>
                  </a:tcPr>
                </a:tc>
                <a:tc>
                  <a:txBody>
                    <a:bodyPr/>
                    <a:lstStyle/>
                    <a:p>
                      <a:pPr indent="0" marL="0">
                        <a:buNone/>
                      </a:pPr>
                      <a:r>
                        <a:rPr lang="en-US" sz="1050" dirty="0">
                          <a:solidFill>
                            <a:srgbClr val="22313F"/>
                          </a:solidFill>
                          <a:latin typeface="Aptos" pitchFamily="34" charset="0"/>
                          <a:ea typeface="Aptos" pitchFamily="34" charset="-122"/>
                          <a:cs typeface="Aptos" pitchFamily="34" charset="-120"/>
                        </a:rPr>
                        <a:t>0.8868</a:t>
                      </a:r>
                      <a:endParaRPr lang="en-US" sz="1050" dirty="0">
                        <a:latin typeface="Aptos" charset="0"/>
                        <a:ea typeface="Aptos" charset="0"/>
                        <a:cs typeface="Aptos" charset="0"/>
                      </a:endParaRPr>
                    </a:p>
                  </a:txBody>
                  <a:tcPr marL="36576" marR="36576" marT="36576" marB="36576">
                    <a:lnL w="12700" cap="flat" cmpd="sng" algn="ctr">
                      <a:solidFill>
                        <a:srgbClr val="D8E7EA"/>
                      </a:solidFill>
                      <a:prstDash val="solid"/>
                      <a:round/>
                      <a:headEnd type="none" w="med" len="med"/>
                      <a:tailEnd type="none" w="med" len="med"/>
                    </a:lnL>
                    <a:lnR w="12700" cap="flat" cmpd="sng" algn="ctr">
                      <a:solidFill>
                        <a:srgbClr val="D8E7EA"/>
                      </a:solidFill>
                      <a:prstDash val="solid"/>
                      <a:round/>
                      <a:headEnd type="none" w="med" len="med"/>
                      <a:tailEnd type="none" w="med" len="med"/>
                    </a:lnR>
                    <a:lnT w="12700" cap="flat" cmpd="sng" algn="ctr">
                      <a:solidFill>
                        <a:srgbClr val="D8E7EA"/>
                      </a:solidFill>
                      <a:prstDash val="solid"/>
                      <a:round/>
                      <a:headEnd type="none" w="med" len="med"/>
                      <a:tailEnd type="none" w="med" len="med"/>
                    </a:lnT>
                    <a:lnB w="12700" cap="flat" cmpd="sng" algn="ctr">
                      <a:solidFill>
                        <a:srgbClr val="D8E7EA"/>
                      </a:solidFill>
                      <a:prstDash val="solid"/>
                      <a:round/>
                      <a:headEnd type="none" w="med" len="med"/>
                      <a:tailEnd type="none" w="med" len="med"/>
                    </a:lnB>
                    <a:solidFill>
                      <a:srgbClr val="FFFFFF"/>
                    </a:solidFill>
                  </a:tcPr>
                </a:tc>
                <a:tc>
                  <a:txBody>
                    <a:bodyPr/>
                    <a:lstStyle/>
                    <a:p>
                      <a:pPr indent="0" marL="0">
                        <a:buNone/>
                      </a:pPr>
                      <a:r>
                        <a:rPr lang="en-US" sz="1050" dirty="0">
                          <a:solidFill>
                            <a:srgbClr val="22313F"/>
                          </a:solidFill>
                          <a:latin typeface="Aptos" pitchFamily="34" charset="0"/>
                          <a:ea typeface="Aptos" pitchFamily="34" charset="-122"/>
                          <a:cs typeface="Aptos" pitchFamily="34" charset="-120"/>
                        </a:rPr>
                        <a:t>0.9400</a:t>
                      </a:r>
                      <a:endParaRPr lang="en-US" sz="1050" dirty="0">
                        <a:latin typeface="Aptos" charset="0"/>
                        <a:ea typeface="Aptos" charset="0"/>
                        <a:cs typeface="Aptos" charset="0"/>
                      </a:endParaRPr>
                    </a:p>
                  </a:txBody>
                  <a:tcPr marL="36576" marR="36576" marT="36576" marB="36576">
                    <a:lnL w="12700" cap="flat" cmpd="sng" algn="ctr">
                      <a:solidFill>
                        <a:srgbClr val="D8E7EA"/>
                      </a:solidFill>
                      <a:prstDash val="solid"/>
                      <a:round/>
                      <a:headEnd type="none" w="med" len="med"/>
                      <a:tailEnd type="none" w="med" len="med"/>
                    </a:lnL>
                    <a:lnR w="12700" cap="flat" cmpd="sng" algn="ctr">
                      <a:solidFill>
                        <a:srgbClr val="D8E7EA"/>
                      </a:solidFill>
                      <a:prstDash val="solid"/>
                      <a:round/>
                      <a:headEnd type="none" w="med" len="med"/>
                      <a:tailEnd type="none" w="med" len="med"/>
                    </a:lnR>
                    <a:lnT w="12700" cap="flat" cmpd="sng" algn="ctr">
                      <a:solidFill>
                        <a:srgbClr val="D8E7EA"/>
                      </a:solidFill>
                      <a:prstDash val="solid"/>
                      <a:round/>
                      <a:headEnd type="none" w="med" len="med"/>
                      <a:tailEnd type="none" w="med" len="med"/>
                    </a:lnT>
                    <a:lnB w="12700" cap="flat" cmpd="sng" algn="ctr">
                      <a:solidFill>
                        <a:srgbClr val="D8E7EA"/>
                      </a:solidFill>
                      <a:prstDash val="solid"/>
                      <a:round/>
                      <a:headEnd type="none" w="med" len="med"/>
                      <a:tailEnd type="none" w="med" len="med"/>
                    </a:lnB>
                    <a:solidFill>
                      <a:srgbClr val="FFFFFF"/>
                    </a:solidFill>
                  </a:tcPr>
                </a:tc>
              </a:tr>
              <a:tr h="487680">
                <a:tc>
                  <a:txBody>
                    <a:bodyPr/>
                    <a:lstStyle/>
                    <a:p>
                      <a:pPr indent="0" marL="0">
                        <a:buNone/>
                      </a:pPr>
                      <a:r>
                        <a:rPr lang="en-US" sz="1050" dirty="0">
                          <a:solidFill>
                            <a:srgbClr val="22313F"/>
                          </a:solidFill>
                          <a:latin typeface="Aptos" pitchFamily="34" charset="0"/>
                          <a:ea typeface="Aptos" pitchFamily="34" charset="-122"/>
                          <a:cs typeface="Aptos" pitchFamily="34" charset="-120"/>
                        </a:rPr>
                        <a:t>Gaussian Naive Bayes</a:t>
                      </a:r>
                      <a:endParaRPr lang="en-US" sz="1050" dirty="0">
                        <a:latin typeface="Aptos" charset="0"/>
                        <a:ea typeface="Aptos" charset="0"/>
                        <a:cs typeface="Aptos" charset="0"/>
                      </a:endParaRPr>
                    </a:p>
                  </a:txBody>
                  <a:tcPr marL="36576" marR="36576" marT="36576" marB="36576">
                    <a:lnL w="12700" cap="flat" cmpd="sng" algn="ctr">
                      <a:solidFill>
                        <a:srgbClr val="D8E7EA"/>
                      </a:solidFill>
                      <a:prstDash val="solid"/>
                      <a:round/>
                      <a:headEnd type="none" w="med" len="med"/>
                      <a:tailEnd type="none" w="med" len="med"/>
                    </a:lnL>
                    <a:lnR w="12700" cap="flat" cmpd="sng" algn="ctr">
                      <a:solidFill>
                        <a:srgbClr val="D8E7EA"/>
                      </a:solidFill>
                      <a:prstDash val="solid"/>
                      <a:round/>
                      <a:headEnd type="none" w="med" len="med"/>
                      <a:tailEnd type="none" w="med" len="med"/>
                    </a:lnR>
                    <a:lnT w="12700" cap="flat" cmpd="sng" algn="ctr">
                      <a:solidFill>
                        <a:srgbClr val="D8E7EA"/>
                      </a:solidFill>
                      <a:prstDash val="solid"/>
                      <a:round/>
                      <a:headEnd type="none" w="med" len="med"/>
                      <a:tailEnd type="none" w="med" len="med"/>
                    </a:lnT>
                    <a:lnB w="12700" cap="flat" cmpd="sng" algn="ctr">
                      <a:solidFill>
                        <a:srgbClr val="D8E7EA"/>
                      </a:solidFill>
                      <a:prstDash val="solid"/>
                      <a:round/>
                      <a:headEnd type="none" w="med" len="med"/>
                      <a:tailEnd type="none" w="med" len="med"/>
                    </a:lnB>
                    <a:solidFill>
                      <a:srgbClr val="FFFFFF"/>
                    </a:solidFill>
                  </a:tcPr>
                </a:tc>
                <a:tc>
                  <a:txBody>
                    <a:bodyPr/>
                    <a:lstStyle/>
                    <a:p>
                      <a:pPr indent="0" marL="0">
                        <a:buNone/>
                      </a:pPr>
                      <a:r>
                        <a:rPr lang="en-US" sz="1050" dirty="0">
                          <a:solidFill>
                            <a:srgbClr val="22313F"/>
                          </a:solidFill>
                          <a:latin typeface="Aptos" pitchFamily="34" charset="0"/>
                          <a:ea typeface="Aptos" pitchFamily="34" charset="-122"/>
                          <a:cs typeface="Aptos" pitchFamily="34" charset="-120"/>
                        </a:rPr>
                        <a:t>0.9441</a:t>
                      </a:r>
                      <a:endParaRPr lang="en-US" sz="1050" dirty="0">
                        <a:latin typeface="Aptos" charset="0"/>
                        <a:ea typeface="Aptos" charset="0"/>
                        <a:cs typeface="Aptos" charset="0"/>
                      </a:endParaRPr>
                    </a:p>
                  </a:txBody>
                  <a:tcPr marL="36576" marR="36576" marT="36576" marB="36576">
                    <a:lnL w="12700" cap="flat" cmpd="sng" algn="ctr">
                      <a:solidFill>
                        <a:srgbClr val="D8E7EA"/>
                      </a:solidFill>
                      <a:prstDash val="solid"/>
                      <a:round/>
                      <a:headEnd type="none" w="med" len="med"/>
                      <a:tailEnd type="none" w="med" len="med"/>
                    </a:lnL>
                    <a:lnR w="12700" cap="flat" cmpd="sng" algn="ctr">
                      <a:solidFill>
                        <a:srgbClr val="D8E7EA"/>
                      </a:solidFill>
                      <a:prstDash val="solid"/>
                      <a:round/>
                      <a:headEnd type="none" w="med" len="med"/>
                      <a:tailEnd type="none" w="med" len="med"/>
                    </a:lnR>
                    <a:lnT w="12700" cap="flat" cmpd="sng" algn="ctr">
                      <a:solidFill>
                        <a:srgbClr val="D8E7EA"/>
                      </a:solidFill>
                      <a:prstDash val="solid"/>
                      <a:round/>
                      <a:headEnd type="none" w="med" len="med"/>
                      <a:tailEnd type="none" w="med" len="med"/>
                    </a:lnT>
                    <a:lnB w="12700" cap="flat" cmpd="sng" algn="ctr">
                      <a:solidFill>
                        <a:srgbClr val="D8E7EA"/>
                      </a:solidFill>
                      <a:prstDash val="solid"/>
                      <a:round/>
                      <a:headEnd type="none" w="med" len="med"/>
                      <a:tailEnd type="none" w="med" len="med"/>
                    </a:lnB>
                    <a:solidFill>
                      <a:srgbClr val="FFFFFF"/>
                    </a:solidFill>
                  </a:tcPr>
                </a:tc>
                <a:tc>
                  <a:txBody>
                    <a:bodyPr/>
                    <a:lstStyle/>
                    <a:p>
                      <a:pPr indent="0" marL="0">
                        <a:buNone/>
                      </a:pPr>
                      <a:r>
                        <a:rPr lang="en-US" sz="1050" dirty="0">
                          <a:solidFill>
                            <a:srgbClr val="22313F"/>
                          </a:solidFill>
                          <a:latin typeface="Aptos" pitchFamily="34" charset="0"/>
                          <a:ea typeface="Aptos" pitchFamily="34" charset="-122"/>
                          <a:cs typeface="Aptos" pitchFamily="34" charset="-120"/>
                        </a:rPr>
                        <a:t>1.0000</a:t>
                      </a:r>
                      <a:endParaRPr lang="en-US" sz="1050" dirty="0">
                        <a:latin typeface="Aptos" charset="0"/>
                        <a:ea typeface="Aptos" charset="0"/>
                        <a:cs typeface="Aptos" charset="0"/>
                      </a:endParaRPr>
                    </a:p>
                  </a:txBody>
                  <a:tcPr marL="36576" marR="36576" marT="36576" marB="36576">
                    <a:lnL w="12700" cap="flat" cmpd="sng" algn="ctr">
                      <a:solidFill>
                        <a:srgbClr val="D8E7EA"/>
                      </a:solidFill>
                      <a:prstDash val="solid"/>
                      <a:round/>
                      <a:headEnd type="none" w="med" len="med"/>
                      <a:tailEnd type="none" w="med" len="med"/>
                    </a:lnL>
                    <a:lnR w="12700" cap="flat" cmpd="sng" algn="ctr">
                      <a:solidFill>
                        <a:srgbClr val="D8E7EA"/>
                      </a:solidFill>
                      <a:prstDash val="solid"/>
                      <a:round/>
                      <a:headEnd type="none" w="med" len="med"/>
                      <a:tailEnd type="none" w="med" len="med"/>
                    </a:lnR>
                    <a:lnT w="12700" cap="flat" cmpd="sng" algn="ctr">
                      <a:solidFill>
                        <a:srgbClr val="D8E7EA"/>
                      </a:solidFill>
                      <a:prstDash val="solid"/>
                      <a:round/>
                      <a:headEnd type="none" w="med" len="med"/>
                      <a:tailEnd type="none" w="med" len="med"/>
                    </a:lnT>
                    <a:lnB w="12700" cap="flat" cmpd="sng" algn="ctr">
                      <a:solidFill>
                        <a:srgbClr val="D8E7EA"/>
                      </a:solidFill>
                      <a:prstDash val="solid"/>
                      <a:round/>
                      <a:headEnd type="none" w="med" len="med"/>
                      <a:tailEnd type="none" w="med" len="med"/>
                    </a:lnB>
                    <a:solidFill>
                      <a:srgbClr val="FFFFFF"/>
                    </a:solidFill>
                  </a:tcPr>
                </a:tc>
                <a:tc>
                  <a:txBody>
                    <a:bodyPr/>
                    <a:lstStyle/>
                    <a:p>
                      <a:pPr indent="0" marL="0">
                        <a:buNone/>
                      </a:pPr>
                      <a:r>
                        <a:rPr lang="en-US" sz="1050" dirty="0">
                          <a:solidFill>
                            <a:srgbClr val="22313F"/>
                          </a:solidFill>
                          <a:latin typeface="Aptos" pitchFamily="34" charset="0"/>
                          <a:ea typeface="Aptos" pitchFamily="34" charset="-122"/>
                          <a:cs typeface="Aptos" pitchFamily="34" charset="-120"/>
                        </a:rPr>
                        <a:t>0.8491</a:t>
                      </a:r>
                      <a:endParaRPr lang="en-US" sz="1050" dirty="0">
                        <a:latin typeface="Aptos" charset="0"/>
                        <a:ea typeface="Aptos" charset="0"/>
                        <a:cs typeface="Aptos" charset="0"/>
                      </a:endParaRPr>
                    </a:p>
                  </a:txBody>
                  <a:tcPr marL="36576" marR="36576" marT="36576" marB="36576">
                    <a:lnL w="12700" cap="flat" cmpd="sng" algn="ctr">
                      <a:solidFill>
                        <a:srgbClr val="D8E7EA"/>
                      </a:solidFill>
                      <a:prstDash val="solid"/>
                      <a:round/>
                      <a:headEnd type="none" w="med" len="med"/>
                      <a:tailEnd type="none" w="med" len="med"/>
                    </a:lnL>
                    <a:lnR w="12700" cap="flat" cmpd="sng" algn="ctr">
                      <a:solidFill>
                        <a:srgbClr val="D8E7EA"/>
                      </a:solidFill>
                      <a:prstDash val="solid"/>
                      <a:round/>
                      <a:headEnd type="none" w="med" len="med"/>
                      <a:tailEnd type="none" w="med" len="med"/>
                    </a:lnR>
                    <a:lnT w="12700" cap="flat" cmpd="sng" algn="ctr">
                      <a:solidFill>
                        <a:srgbClr val="D8E7EA"/>
                      </a:solidFill>
                      <a:prstDash val="solid"/>
                      <a:round/>
                      <a:headEnd type="none" w="med" len="med"/>
                      <a:tailEnd type="none" w="med" len="med"/>
                    </a:lnT>
                    <a:lnB w="12700" cap="flat" cmpd="sng" algn="ctr">
                      <a:solidFill>
                        <a:srgbClr val="D8E7EA"/>
                      </a:solidFill>
                      <a:prstDash val="solid"/>
                      <a:round/>
                      <a:headEnd type="none" w="med" len="med"/>
                      <a:tailEnd type="none" w="med" len="med"/>
                    </a:lnB>
                    <a:solidFill>
                      <a:srgbClr val="FFFFFF"/>
                    </a:solidFill>
                  </a:tcPr>
                </a:tc>
                <a:tc>
                  <a:txBody>
                    <a:bodyPr/>
                    <a:lstStyle/>
                    <a:p>
                      <a:pPr indent="0" marL="0">
                        <a:buNone/>
                      </a:pPr>
                      <a:r>
                        <a:rPr lang="en-US" sz="1050" dirty="0">
                          <a:solidFill>
                            <a:srgbClr val="22313F"/>
                          </a:solidFill>
                          <a:latin typeface="Aptos" pitchFamily="34" charset="0"/>
                          <a:ea typeface="Aptos" pitchFamily="34" charset="-122"/>
                          <a:cs typeface="Aptos" pitchFamily="34" charset="-120"/>
                        </a:rPr>
                        <a:t>0.9184</a:t>
                      </a:r>
                      <a:endParaRPr lang="en-US" sz="1050" dirty="0">
                        <a:latin typeface="Aptos" charset="0"/>
                        <a:ea typeface="Aptos" charset="0"/>
                        <a:cs typeface="Aptos" charset="0"/>
                      </a:endParaRPr>
                    </a:p>
                  </a:txBody>
                  <a:tcPr marL="36576" marR="36576" marT="36576" marB="36576">
                    <a:lnL w="12700" cap="flat" cmpd="sng" algn="ctr">
                      <a:solidFill>
                        <a:srgbClr val="D8E7EA"/>
                      </a:solidFill>
                      <a:prstDash val="solid"/>
                      <a:round/>
                      <a:headEnd type="none" w="med" len="med"/>
                      <a:tailEnd type="none" w="med" len="med"/>
                    </a:lnL>
                    <a:lnR w="12700" cap="flat" cmpd="sng" algn="ctr">
                      <a:solidFill>
                        <a:srgbClr val="D8E7EA"/>
                      </a:solidFill>
                      <a:prstDash val="solid"/>
                      <a:round/>
                      <a:headEnd type="none" w="med" len="med"/>
                      <a:tailEnd type="none" w="med" len="med"/>
                    </a:lnR>
                    <a:lnT w="12700" cap="flat" cmpd="sng" algn="ctr">
                      <a:solidFill>
                        <a:srgbClr val="D8E7EA"/>
                      </a:solidFill>
                      <a:prstDash val="solid"/>
                      <a:round/>
                      <a:headEnd type="none" w="med" len="med"/>
                      <a:tailEnd type="none" w="med" len="med"/>
                    </a:lnT>
                    <a:lnB w="12700" cap="flat" cmpd="sng" algn="ctr">
                      <a:solidFill>
                        <a:srgbClr val="D8E7EA"/>
                      </a:solidFill>
                      <a:prstDash val="solid"/>
                      <a:round/>
                      <a:headEnd type="none" w="med" len="med"/>
                      <a:tailEnd type="none" w="med" len="med"/>
                    </a:lnB>
                    <a:solidFill>
                      <a:srgbClr val="FFFFFF"/>
                    </a:solidFill>
                  </a:tcPr>
                </a:tc>
              </a:tr>
            </a:tbl>
          </a:graphicData>
        </a:graphic>
      </p:graphicFrame>
      <p:pic>
        <p:nvPicPr>
          <p:cNvPr id="7" name="Image 0" descr="/mnt/data/ppt_assets/classification_metrics.png">    </p:cNvPr>
          <p:cNvPicPr>
            <a:picLocks noChangeAspect="1"/>
          </p:cNvPicPr>
          <p:nvPr/>
        </p:nvPicPr>
        <p:blipFill>
          <a:blip r:embed="rId1"/>
          <a:stretch>
            <a:fillRect/>
          </a:stretch>
        </p:blipFill>
        <p:spPr>
          <a:xfrm>
            <a:off x="7223760" y="1069848"/>
            <a:ext cx="4526280" cy="2926080"/>
          </a:xfrm>
          <a:prstGeom prst="rect">
            <a:avLst/>
          </a:prstGeom>
        </p:spPr>
      </p:pic>
      <p:sp>
        <p:nvSpPr>
          <p:cNvPr id="8" name="Shape 4"/>
          <p:cNvSpPr/>
          <p:nvPr/>
        </p:nvSpPr>
        <p:spPr>
          <a:xfrm>
            <a:off x="713232" y="4572000"/>
            <a:ext cx="10835640" cy="960120"/>
          </a:xfrm>
          <a:prstGeom prst="roundRect">
            <a:avLst>
              <a:gd name="adj" fmla="val 7619"/>
            </a:avLst>
          </a:prstGeom>
          <a:solidFill>
            <a:srgbClr val="DFF3F5"/>
          </a:solidFill>
          <a:ln w="12700">
            <a:solidFill>
              <a:srgbClr val="D8E7EA"/>
            </a:solidFill>
            <a:prstDash val="solid"/>
          </a:ln>
        </p:spPr>
      </p:sp>
      <p:sp>
        <p:nvSpPr>
          <p:cNvPr id="9" name="Text 5"/>
          <p:cNvSpPr/>
          <p:nvPr/>
        </p:nvSpPr>
        <p:spPr>
          <a:xfrm>
            <a:off x="914400" y="4709160"/>
            <a:ext cx="10433304" cy="256032"/>
          </a:xfrm>
          <a:prstGeom prst="rect">
            <a:avLst/>
          </a:prstGeom>
          <a:noFill/>
          <a:ln/>
        </p:spPr>
        <p:txBody>
          <a:bodyPr wrap="square" lIns="0" tIns="0" rIns="0" bIns="0" rtlCol="0" anchor="ctr"/>
          <a:lstStyle/>
          <a:p>
            <a:pPr indent="0" marL="0">
              <a:buNone/>
            </a:pPr>
            <a:r>
              <a:rPr lang="en-US" sz="1250" b="1" dirty="0">
                <a:solidFill>
                  <a:srgbClr val="0E7C86"/>
                </a:solidFill>
                <a:latin typeface="Aptos Display" pitchFamily="34" charset="0"/>
                <a:ea typeface="Aptos Display" pitchFamily="34" charset="-122"/>
                <a:cs typeface="Aptos Display" pitchFamily="34" charset="-120"/>
              </a:rPr>
              <a:t>Interpretación</a:t>
            </a:r>
            <a:endParaRPr lang="en-US" sz="1250" dirty="0"/>
          </a:p>
        </p:txBody>
      </p:sp>
      <p:sp>
        <p:nvSpPr>
          <p:cNvPr id="10" name="Text 6"/>
          <p:cNvSpPr/>
          <p:nvPr/>
        </p:nvSpPr>
        <p:spPr>
          <a:xfrm>
            <a:off x="914400" y="5047488"/>
            <a:ext cx="10433304" cy="338328"/>
          </a:xfrm>
          <a:prstGeom prst="rect">
            <a:avLst/>
          </a:prstGeom>
          <a:noFill/>
          <a:ln/>
        </p:spPr>
        <p:txBody>
          <a:bodyPr wrap="square" lIns="254" tIns="254" rIns="254" bIns="254" rtlCol="0" anchor="ctr">
            <a:normAutofit/>
          </a:bodyPr>
          <a:lstStyle/>
          <a:p>
            <a:pPr indent="0" marL="0">
              <a:buNone/>
            </a:pPr>
            <a:r>
              <a:rPr lang="en-US" sz="1300" dirty="0">
                <a:solidFill>
                  <a:srgbClr val="22313F"/>
                </a:solidFill>
                <a:latin typeface="Aptos" pitchFamily="34" charset="0"/>
                <a:ea typeface="Aptos" pitchFamily="34" charset="-122"/>
                <a:cs typeface="Aptos" pitchFamily="34" charset="-120"/>
              </a:rPr>
              <a:t>En el notebook compilado, SVM RBF lidera Recall, F1-score y Accuracy dentro de la tabla final consolidada. Random Forest sin PCA queda muy cerca y conserva alta precisión.</a:t>
            </a:r>
            <a:endParaRPr lang="en-US" sz="1300" dirty="0"/>
          </a:p>
        </p:txBody>
      </p:sp>
      <p:sp>
        <p:nvSpPr>
          <p:cNvPr id="11" name="Text 7"/>
          <p:cNvSpPr/>
          <p:nvPr/>
        </p:nvSpPr>
        <p:spPr>
          <a:xfrm>
            <a:off x="731520" y="5742432"/>
            <a:ext cx="10607040" cy="201168"/>
          </a:xfrm>
          <a:prstGeom prst="rect">
            <a:avLst/>
          </a:prstGeom>
          <a:noFill/>
          <a:ln/>
        </p:spPr>
        <p:txBody>
          <a:bodyPr wrap="square" lIns="0" tIns="0" rIns="0" bIns="0" rtlCol="0" anchor="ctr"/>
          <a:lstStyle/>
          <a:p>
            <a:pPr algn="ctr" indent="0" marL="0">
              <a:buNone/>
            </a:pPr>
            <a:r>
              <a:rPr lang="en-US" sz="850" dirty="0">
                <a:solidFill>
                  <a:srgbClr val="5C6970"/>
                </a:solidFill>
                <a:latin typeface="Aptos" pitchFamily="34" charset="0"/>
                <a:ea typeface="Aptos" pitchFamily="34" charset="-122"/>
                <a:cs typeface="Aptos" pitchFamily="34" charset="-120"/>
              </a:rPr>
              <a:t>Nota: la tabla usa las métricas finales del notebook compilado MD_Proyecto_Final_Completo(2).ipynb.</a:t>
            </a:r>
            <a:endParaRPr lang="en-US" sz="850" dirty="0"/>
          </a:p>
        </p:txBody>
      </p:sp>
      <p:sp>
        <p:nvSpPr>
          <p:cNvPr id="25" name="Slide Number Placeholder 0"/>
          <p:cNvSpPr>
            <a:spLocks noGrp="1"/>
          </p:cNvSpPr>
          <p:nvPr>
            <p:ph type="sldNum" sz="quarter" idx="4294967295"/>
          </p:nvPr>
        </p:nvSpPr>
        <p:spPr>
          <a:xfrm>
            <a:off x="11841480" y="6510528"/>
            <a:ext cx="800000" cy="300000"/>
          </a:xfrm>
          <a:prstGeom prst="rect">
            <a:avLst/>
          </a:prstGeom>
          <a:extLst>
            <a:ext uri="{C572A759-6A51-4108-AA02-DFA0A04FC94B}">
              <ma14:wrappingTextBoxFlag xmlns:ma14="http://schemas.microsoft.com/office/mac/drawingml/2011/main" val="0"/>
            </a:ext>
          </a:extLst>
        </p:spPr>
        <p:txBody>
          <a:bodyPr/>
          <a:lstStyle>
            <a:lvl1pPr>
              <a:defRPr sz="750">
                <a:solidFill>
                  <a:srgbClr val="607D86"/>
                </a:solidFill>
                <a:latin typeface="Aptos"/>
                <a:ea typeface="Aptos"/>
                <a:cs typeface="Aptos"/>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AFB"/>
        </a:solidFill>
      </p:bgPr>
    </p:bg>
    <p:spTree>
      <p:nvGrpSpPr>
        <p:cNvPr id="1" name=""/>
        <p:cNvGrpSpPr/>
        <p:nvPr/>
      </p:nvGrpSpPr>
      <p:grpSpPr>
        <a:xfrm>
          <a:off x="0" y="0"/>
          <a:ext cx="0" cy="0"/>
          <a:chOff x="0" y="0"/>
          <a:chExt cx="0" cy="0"/>
        </a:xfrm>
      </p:grpSpPr>
      <p:sp>
        <p:nvSpPr>
          <p:cNvPr id="2" name="Shape 0"/>
          <p:cNvSpPr/>
          <p:nvPr/>
        </p:nvSpPr>
        <p:spPr>
          <a:xfrm>
            <a:off x="10698480" y="-320040"/>
            <a:ext cx="2103120" cy="2103120"/>
          </a:xfrm>
          <a:prstGeom prst="arc">
            <a:avLst/>
          </a:prstGeom>
          <a:solidFill>
            <a:srgbClr val="DFF3F5">
              <a:alpha val="55000"/>
            </a:srgbClr>
          </a:solidFill>
          <a:ln w="12700">
            <a:solidFill>
              <a:srgbClr val="DFF3F5">
                <a:alpha val="40000"/>
              </a:srgbClr>
            </a:solidFill>
            <a:prstDash val="solid"/>
          </a:ln>
        </p:spPr>
      </p:sp>
      <p:sp>
        <p:nvSpPr>
          <p:cNvPr id="3" name="Shape 1"/>
          <p:cNvSpPr/>
          <p:nvPr/>
        </p:nvSpPr>
        <p:spPr>
          <a:xfrm rot="10800000">
            <a:off x="-822960" y="5257800"/>
            <a:ext cx="2011680" cy="2011680"/>
          </a:xfrm>
          <a:prstGeom prst="arc">
            <a:avLst/>
          </a:prstGeom>
          <a:solidFill>
            <a:srgbClr val="DDEFE7">
              <a:alpha val="55000"/>
            </a:srgbClr>
          </a:solidFill>
          <a:ln w="12700">
            <a:solidFill>
              <a:srgbClr val="DDEFE7">
                <a:alpha val="45000"/>
              </a:srgbClr>
            </a:solidFill>
            <a:prstDash val="solid"/>
          </a:ln>
        </p:spPr>
      </p:sp>
      <p:sp>
        <p:nvSpPr>
          <p:cNvPr id="4" name="Text 2"/>
          <p:cNvSpPr/>
          <p:nvPr/>
        </p:nvSpPr>
        <p:spPr>
          <a:xfrm>
            <a:off x="566928" y="384048"/>
            <a:ext cx="5029200" cy="228600"/>
          </a:xfrm>
          <a:prstGeom prst="rect">
            <a:avLst/>
          </a:prstGeom>
          <a:noFill/>
          <a:ln/>
        </p:spPr>
        <p:txBody>
          <a:bodyPr wrap="square" rtlCol="0" anchor="ctr"/>
          <a:lstStyle/>
          <a:p>
            <a:pPr indent="0" marL="0">
              <a:buNone/>
            </a:pPr>
            <a:r>
              <a:rPr lang="en-US" sz="850" b="1" dirty="0">
                <a:solidFill>
                  <a:srgbClr val="0E7C86"/>
                </a:solidFill>
                <a:latin typeface="Aptos" pitchFamily="34" charset="0"/>
                <a:ea typeface="Aptos" pitchFamily="34" charset="-122"/>
                <a:cs typeface="Aptos" pitchFamily="34" charset="-120"/>
              </a:rPr>
              <a:t>11 · DECISIÓN TÉCNICA</a:t>
            </a:r>
            <a:endParaRPr lang="en-US" sz="850" dirty="0"/>
          </a:p>
        </p:txBody>
      </p:sp>
      <p:sp>
        <p:nvSpPr>
          <p:cNvPr id="5" name="Text 3"/>
          <p:cNvSpPr/>
          <p:nvPr/>
        </p:nvSpPr>
        <p:spPr>
          <a:xfrm>
            <a:off x="548640" y="694944"/>
            <a:ext cx="10881360" cy="502920"/>
          </a:xfrm>
          <a:prstGeom prst="rect">
            <a:avLst/>
          </a:prstGeom>
          <a:noFill/>
          <a:ln/>
        </p:spPr>
        <p:txBody>
          <a:bodyPr wrap="square" lIns="0" tIns="0" rIns="0" bIns="0" rtlCol="0" anchor="ctr"/>
          <a:lstStyle/>
          <a:p>
            <a:pPr indent="0" marL="0">
              <a:buNone/>
            </a:pPr>
            <a:r>
              <a:rPr lang="en-US" sz="2500" b="1" dirty="0">
                <a:solidFill>
                  <a:srgbClr val="0B1F33"/>
                </a:solidFill>
                <a:latin typeface="Aptos Display" pitchFamily="34" charset="0"/>
                <a:ea typeface="Aptos Display" pitchFamily="34" charset="-122"/>
                <a:cs typeface="Aptos Display" pitchFamily="34" charset="-120"/>
              </a:rPr>
              <a:t>Criterio de selección del mejor modelo</a:t>
            </a:r>
            <a:endParaRPr lang="en-US" sz="2500" dirty="0"/>
          </a:p>
        </p:txBody>
      </p:sp>
      <p:sp>
        <p:nvSpPr>
          <p:cNvPr id="6" name="Shape 4"/>
          <p:cNvSpPr/>
          <p:nvPr/>
        </p:nvSpPr>
        <p:spPr>
          <a:xfrm>
            <a:off x="777240" y="1234440"/>
            <a:ext cx="3246120" cy="2057400"/>
          </a:xfrm>
          <a:prstGeom prst="roundRect">
            <a:avLst>
              <a:gd name="adj" fmla="val 3556"/>
            </a:avLst>
          </a:prstGeom>
          <a:solidFill>
            <a:srgbClr val="FFFFFF"/>
          </a:solidFill>
          <a:ln w="12700">
            <a:solidFill>
              <a:srgbClr val="D8E7EA"/>
            </a:solidFill>
            <a:prstDash val="solid"/>
          </a:ln>
        </p:spPr>
      </p:sp>
      <p:sp>
        <p:nvSpPr>
          <p:cNvPr id="7" name="Text 5"/>
          <p:cNvSpPr/>
          <p:nvPr/>
        </p:nvSpPr>
        <p:spPr>
          <a:xfrm>
            <a:off x="978408" y="1371600"/>
            <a:ext cx="2843784" cy="256032"/>
          </a:xfrm>
          <a:prstGeom prst="rect">
            <a:avLst/>
          </a:prstGeom>
          <a:noFill/>
          <a:ln/>
        </p:spPr>
        <p:txBody>
          <a:bodyPr wrap="square" lIns="0" tIns="0" rIns="0" bIns="0" rtlCol="0" anchor="ctr"/>
          <a:lstStyle/>
          <a:p>
            <a:pPr indent="0" marL="0">
              <a:buNone/>
            </a:pPr>
            <a:r>
              <a:rPr lang="en-US" sz="1250" b="1" dirty="0">
                <a:solidFill>
                  <a:srgbClr val="B94A48"/>
                </a:solidFill>
                <a:latin typeface="Aptos Display" pitchFamily="34" charset="0"/>
                <a:ea typeface="Aptos Display" pitchFamily="34" charset="-122"/>
                <a:cs typeface="Aptos Display" pitchFamily="34" charset="-120"/>
              </a:rPr>
              <a:t>1. Recall</a:t>
            </a:r>
            <a:endParaRPr lang="en-US" sz="1250" dirty="0"/>
          </a:p>
        </p:txBody>
      </p:sp>
      <p:sp>
        <p:nvSpPr>
          <p:cNvPr id="8" name="Text 6"/>
          <p:cNvSpPr/>
          <p:nvPr/>
        </p:nvSpPr>
        <p:spPr>
          <a:xfrm>
            <a:off x="978408" y="1709928"/>
            <a:ext cx="2843784" cy="1435608"/>
          </a:xfrm>
          <a:prstGeom prst="rect">
            <a:avLst/>
          </a:prstGeom>
          <a:noFill/>
          <a:ln/>
        </p:spPr>
        <p:txBody>
          <a:bodyPr wrap="square" lIns="254" tIns="254" rIns="254" bIns="254" rtlCol="0" anchor="ctr">
            <a:normAutofit/>
          </a:bodyPr>
          <a:lstStyle/>
          <a:p>
            <a:pPr indent="0" marL="0">
              <a:buNone/>
            </a:pPr>
            <a:r>
              <a:rPr lang="en-US" sz="1300" dirty="0">
                <a:solidFill>
                  <a:srgbClr val="22313F"/>
                </a:solidFill>
                <a:latin typeface="Aptos" pitchFamily="34" charset="0"/>
                <a:ea typeface="Aptos" pitchFamily="34" charset="-122"/>
                <a:cs typeface="Aptos" pitchFamily="34" charset="-120"/>
              </a:rPr>
              <a:t>Prioridad principal porque mide cuántos casos malignos se detectan correctamente.</a:t>
            </a:r>
            <a:endParaRPr lang="en-US" sz="1300" dirty="0"/>
          </a:p>
        </p:txBody>
      </p:sp>
      <p:sp>
        <p:nvSpPr>
          <p:cNvPr id="9" name="Shape 7"/>
          <p:cNvSpPr/>
          <p:nvPr/>
        </p:nvSpPr>
        <p:spPr>
          <a:xfrm>
            <a:off x="4434840" y="1234440"/>
            <a:ext cx="3246120" cy="2057400"/>
          </a:xfrm>
          <a:prstGeom prst="roundRect">
            <a:avLst>
              <a:gd name="adj" fmla="val 3556"/>
            </a:avLst>
          </a:prstGeom>
          <a:solidFill>
            <a:srgbClr val="FFFFFF"/>
          </a:solidFill>
          <a:ln w="12700">
            <a:solidFill>
              <a:srgbClr val="D8E7EA"/>
            </a:solidFill>
            <a:prstDash val="solid"/>
          </a:ln>
        </p:spPr>
      </p:sp>
      <p:sp>
        <p:nvSpPr>
          <p:cNvPr id="10" name="Text 8"/>
          <p:cNvSpPr/>
          <p:nvPr/>
        </p:nvSpPr>
        <p:spPr>
          <a:xfrm>
            <a:off x="4636008" y="1371600"/>
            <a:ext cx="2843784" cy="256032"/>
          </a:xfrm>
          <a:prstGeom prst="rect">
            <a:avLst/>
          </a:prstGeom>
          <a:noFill/>
          <a:ln/>
        </p:spPr>
        <p:txBody>
          <a:bodyPr wrap="square" lIns="0" tIns="0" rIns="0" bIns="0" rtlCol="0" anchor="ctr"/>
          <a:lstStyle/>
          <a:p>
            <a:pPr indent="0" marL="0">
              <a:buNone/>
            </a:pPr>
            <a:r>
              <a:rPr lang="en-US" sz="1250" b="1" dirty="0">
                <a:solidFill>
                  <a:srgbClr val="0E7C86"/>
                </a:solidFill>
                <a:latin typeface="Aptos Display" pitchFamily="34" charset="0"/>
                <a:ea typeface="Aptos Display" pitchFamily="34" charset="-122"/>
                <a:cs typeface="Aptos Display" pitchFamily="34" charset="-120"/>
              </a:rPr>
              <a:t>2. F1-score</a:t>
            </a:r>
            <a:endParaRPr lang="en-US" sz="1250" dirty="0"/>
          </a:p>
        </p:txBody>
      </p:sp>
      <p:sp>
        <p:nvSpPr>
          <p:cNvPr id="11" name="Text 9"/>
          <p:cNvSpPr/>
          <p:nvPr/>
        </p:nvSpPr>
        <p:spPr>
          <a:xfrm>
            <a:off x="4636008" y="1709928"/>
            <a:ext cx="2843784" cy="1435608"/>
          </a:xfrm>
          <a:prstGeom prst="rect">
            <a:avLst/>
          </a:prstGeom>
          <a:noFill/>
          <a:ln/>
        </p:spPr>
        <p:txBody>
          <a:bodyPr wrap="square" lIns="254" tIns="254" rIns="254" bIns="254" rtlCol="0" anchor="ctr">
            <a:normAutofit/>
          </a:bodyPr>
          <a:lstStyle/>
          <a:p>
            <a:pPr indent="0" marL="0">
              <a:buNone/>
            </a:pPr>
            <a:r>
              <a:rPr lang="en-US" sz="1300" dirty="0">
                <a:solidFill>
                  <a:srgbClr val="22313F"/>
                </a:solidFill>
                <a:latin typeface="Aptos" pitchFamily="34" charset="0"/>
                <a:ea typeface="Aptos" pitchFamily="34" charset="-122"/>
                <a:cs typeface="Aptos" pitchFamily="34" charset="-120"/>
              </a:rPr>
              <a:t>Segundo criterio porque equilibra Precision y Recall.</a:t>
            </a:r>
            <a:endParaRPr lang="en-US" sz="1300" dirty="0"/>
          </a:p>
        </p:txBody>
      </p:sp>
      <p:sp>
        <p:nvSpPr>
          <p:cNvPr id="12" name="Shape 10"/>
          <p:cNvSpPr/>
          <p:nvPr/>
        </p:nvSpPr>
        <p:spPr>
          <a:xfrm>
            <a:off x="8092440" y="1234440"/>
            <a:ext cx="3246120" cy="2057400"/>
          </a:xfrm>
          <a:prstGeom prst="roundRect">
            <a:avLst>
              <a:gd name="adj" fmla="val 3556"/>
            </a:avLst>
          </a:prstGeom>
          <a:solidFill>
            <a:srgbClr val="FFFFFF"/>
          </a:solidFill>
          <a:ln w="12700">
            <a:solidFill>
              <a:srgbClr val="D8E7EA"/>
            </a:solidFill>
            <a:prstDash val="solid"/>
          </a:ln>
        </p:spPr>
      </p:sp>
      <p:sp>
        <p:nvSpPr>
          <p:cNvPr id="13" name="Text 11"/>
          <p:cNvSpPr/>
          <p:nvPr/>
        </p:nvSpPr>
        <p:spPr>
          <a:xfrm>
            <a:off x="8293608" y="1371600"/>
            <a:ext cx="2843784" cy="256032"/>
          </a:xfrm>
          <a:prstGeom prst="rect">
            <a:avLst/>
          </a:prstGeom>
          <a:noFill/>
          <a:ln/>
        </p:spPr>
        <p:txBody>
          <a:bodyPr wrap="square" lIns="0" tIns="0" rIns="0" bIns="0" rtlCol="0" anchor="ctr"/>
          <a:lstStyle/>
          <a:p>
            <a:pPr indent="0" marL="0">
              <a:buNone/>
            </a:pPr>
            <a:r>
              <a:rPr lang="en-US" sz="1250" b="1" dirty="0">
                <a:solidFill>
                  <a:srgbClr val="5C6970"/>
                </a:solidFill>
                <a:latin typeface="Aptos Display" pitchFamily="34" charset="0"/>
                <a:ea typeface="Aptos Display" pitchFamily="34" charset="-122"/>
                <a:cs typeface="Aptos Display" pitchFamily="34" charset="-120"/>
              </a:rPr>
              <a:t>3. Accuracy</a:t>
            </a:r>
            <a:endParaRPr lang="en-US" sz="1250" dirty="0"/>
          </a:p>
        </p:txBody>
      </p:sp>
      <p:sp>
        <p:nvSpPr>
          <p:cNvPr id="14" name="Text 12"/>
          <p:cNvSpPr/>
          <p:nvPr/>
        </p:nvSpPr>
        <p:spPr>
          <a:xfrm>
            <a:off x="8293608" y="1709928"/>
            <a:ext cx="2843784" cy="1435608"/>
          </a:xfrm>
          <a:prstGeom prst="rect">
            <a:avLst/>
          </a:prstGeom>
          <a:noFill/>
          <a:ln/>
        </p:spPr>
        <p:txBody>
          <a:bodyPr wrap="square" lIns="254" tIns="254" rIns="254" bIns="254" rtlCol="0" anchor="ctr">
            <a:normAutofit/>
          </a:bodyPr>
          <a:lstStyle/>
          <a:p>
            <a:pPr indent="0" marL="0">
              <a:buNone/>
            </a:pPr>
            <a:r>
              <a:rPr lang="en-US" sz="1300" dirty="0">
                <a:solidFill>
                  <a:srgbClr val="22313F"/>
                </a:solidFill>
                <a:latin typeface="Aptos" pitchFamily="34" charset="0"/>
                <a:ea typeface="Aptos" pitchFamily="34" charset="-122"/>
                <a:cs typeface="Aptos" pitchFamily="34" charset="-120"/>
              </a:rPr>
              <a:t>Último criterio porque puede verse alta incluso si falla en casos críticos.</a:t>
            </a:r>
            <a:endParaRPr lang="en-US" sz="1300" dirty="0"/>
          </a:p>
        </p:txBody>
      </p:sp>
      <p:sp>
        <p:nvSpPr>
          <p:cNvPr id="15" name="Shape 13"/>
          <p:cNvSpPr/>
          <p:nvPr/>
        </p:nvSpPr>
        <p:spPr>
          <a:xfrm>
            <a:off x="1005840" y="3931920"/>
            <a:ext cx="10149840" cy="1371600"/>
          </a:xfrm>
          <a:prstGeom prst="roundRect">
            <a:avLst>
              <a:gd name="adj" fmla="val 5333"/>
            </a:avLst>
          </a:prstGeom>
          <a:solidFill>
            <a:srgbClr val="DDEFE7"/>
          </a:solidFill>
          <a:ln w="12700">
            <a:solidFill>
              <a:srgbClr val="D8E7EA"/>
            </a:solidFill>
            <a:prstDash val="solid"/>
          </a:ln>
        </p:spPr>
      </p:sp>
      <p:sp>
        <p:nvSpPr>
          <p:cNvPr id="16" name="Text 14"/>
          <p:cNvSpPr/>
          <p:nvPr/>
        </p:nvSpPr>
        <p:spPr>
          <a:xfrm>
            <a:off x="1207008" y="4069080"/>
            <a:ext cx="9747504" cy="256032"/>
          </a:xfrm>
          <a:prstGeom prst="rect">
            <a:avLst/>
          </a:prstGeom>
          <a:noFill/>
          <a:ln/>
        </p:spPr>
        <p:txBody>
          <a:bodyPr wrap="square" lIns="0" tIns="0" rIns="0" bIns="0" rtlCol="0" anchor="ctr"/>
          <a:lstStyle/>
          <a:p>
            <a:pPr indent="0" marL="0">
              <a:buNone/>
            </a:pPr>
            <a:r>
              <a:rPr lang="en-US" sz="1250" b="1" dirty="0">
                <a:solidFill>
                  <a:srgbClr val="2E7D59"/>
                </a:solidFill>
                <a:latin typeface="Aptos Display" pitchFamily="34" charset="0"/>
                <a:ea typeface="Aptos Display" pitchFamily="34" charset="-122"/>
                <a:cs typeface="Aptos Display" pitchFamily="34" charset="-120"/>
              </a:rPr>
              <a:t>Modelo recomendado</a:t>
            </a:r>
            <a:endParaRPr lang="en-US" sz="1250" dirty="0"/>
          </a:p>
        </p:txBody>
      </p:sp>
      <p:sp>
        <p:nvSpPr>
          <p:cNvPr id="17" name="Text 15"/>
          <p:cNvSpPr/>
          <p:nvPr/>
        </p:nvSpPr>
        <p:spPr>
          <a:xfrm>
            <a:off x="1207008" y="4407408"/>
            <a:ext cx="9747504" cy="749808"/>
          </a:xfrm>
          <a:prstGeom prst="rect">
            <a:avLst/>
          </a:prstGeom>
          <a:noFill/>
          <a:ln/>
        </p:spPr>
        <p:txBody>
          <a:bodyPr wrap="square" lIns="254" tIns="254" rIns="254" bIns="254" rtlCol="0" anchor="ctr">
            <a:normAutofit/>
          </a:bodyPr>
          <a:lstStyle/>
          <a:p>
            <a:pPr indent="0" marL="0">
              <a:buNone/>
            </a:pPr>
            <a:r>
              <a:rPr lang="en-US" sz="1600" dirty="0">
                <a:solidFill>
                  <a:srgbClr val="22313F"/>
                </a:solidFill>
                <a:latin typeface="Aptos" pitchFamily="34" charset="0"/>
                <a:ea typeface="Aptos" pitchFamily="34" charset="-122"/>
                <a:cs typeface="Aptos" pitchFamily="34" charset="-120"/>
              </a:rPr>
              <a:t>SVM RBF es el mejor modelo en la comparación final del notebook compilado: obtiene el mayor Recall (0.9245), el mayor F1-score (0.9608) y el mayor Accuracy (0.9720).</a:t>
            </a:r>
            <a:endParaRPr lang="en-US" sz="1600" dirty="0"/>
          </a:p>
        </p:txBody>
      </p:sp>
      <p:sp>
        <p:nvSpPr>
          <p:cNvPr id="25" name="Slide Number Placeholder 0"/>
          <p:cNvSpPr>
            <a:spLocks noGrp="1"/>
          </p:cNvSpPr>
          <p:nvPr>
            <p:ph type="sldNum" sz="quarter" idx="4294967295"/>
          </p:nvPr>
        </p:nvSpPr>
        <p:spPr>
          <a:xfrm>
            <a:off x="11841480" y="6510528"/>
            <a:ext cx="800000" cy="300000"/>
          </a:xfrm>
          <a:prstGeom prst="rect">
            <a:avLst/>
          </a:prstGeom>
          <a:extLst>
            <a:ext uri="{C572A759-6A51-4108-AA02-DFA0A04FC94B}">
              <ma14:wrappingTextBoxFlag xmlns:ma14="http://schemas.microsoft.com/office/mac/drawingml/2011/main" val="0"/>
            </a:ext>
          </a:extLst>
        </p:spPr>
        <p:txBody>
          <a:bodyPr/>
          <a:lstStyle>
            <a:lvl1pPr>
              <a:defRPr sz="750">
                <a:solidFill>
                  <a:srgbClr val="607D86"/>
                </a:solidFill>
                <a:latin typeface="Aptos"/>
                <a:ea typeface="Aptos"/>
                <a:cs typeface="Aptos"/>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AFB"/>
        </a:solidFill>
      </p:bgPr>
    </p:bg>
    <p:spTree>
      <p:nvGrpSpPr>
        <p:cNvPr id="1" name=""/>
        <p:cNvGrpSpPr/>
        <p:nvPr/>
      </p:nvGrpSpPr>
      <p:grpSpPr>
        <a:xfrm>
          <a:off x="0" y="0"/>
          <a:ext cx="0" cy="0"/>
          <a:chOff x="0" y="0"/>
          <a:chExt cx="0" cy="0"/>
        </a:xfrm>
      </p:grpSpPr>
      <p:sp>
        <p:nvSpPr>
          <p:cNvPr id="2" name="Shape 0"/>
          <p:cNvSpPr/>
          <p:nvPr/>
        </p:nvSpPr>
        <p:spPr>
          <a:xfrm>
            <a:off x="10698480" y="-320040"/>
            <a:ext cx="2103120" cy="2103120"/>
          </a:xfrm>
          <a:prstGeom prst="arc">
            <a:avLst/>
          </a:prstGeom>
          <a:solidFill>
            <a:srgbClr val="DFF3F5">
              <a:alpha val="55000"/>
            </a:srgbClr>
          </a:solidFill>
          <a:ln w="12700">
            <a:solidFill>
              <a:srgbClr val="DFF3F5">
                <a:alpha val="40000"/>
              </a:srgbClr>
            </a:solidFill>
            <a:prstDash val="solid"/>
          </a:ln>
        </p:spPr>
      </p:sp>
      <p:sp>
        <p:nvSpPr>
          <p:cNvPr id="3" name="Shape 1"/>
          <p:cNvSpPr/>
          <p:nvPr/>
        </p:nvSpPr>
        <p:spPr>
          <a:xfrm rot="10800000">
            <a:off x="-822960" y="5257800"/>
            <a:ext cx="2011680" cy="2011680"/>
          </a:xfrm>
          <a:prstGeom prst="arc">
            <a:avLst/>
          </a:prstGeom>
          <a:solidFill>
            <a:srgbClr val="DDEFE7">
              <a:alpha val="55000"/>
            </a:srgbClr>
          </a:solidFill>
          <a:ln w="12700">
            <a:solidFill>
              <a:srgbClr val="DDEFE7">
                <a:alpha val="45000"/>
              </a:srgbClr>
            </a:solidFill>
            <a:prstDash val="solid"/>
          </a:ln>
        </p:spPr>
      </p:sp>
      <p:sp>
        <p:nvSpPr>
          <p:cNvPr id="4" name="Text 2"/>
          <p:cNvSpPr/>
          <p:nvPr/>
        </p:nvSpPr>
        <p:spPr>
          <a:xfrm>
            <a:off x="566928" y="384048"/>
            <a:ext cx="5029200" cy="228600"/>
          </a:xfrm>
          <a:prstGeom prst="rect">
            <a:avLst/>
          </a:prstGeom>
          <a:noFill/>
          <a:ln/>
        </p:spPr>
        <p:txBody>
          <a:bodyPr wrap="square" rtlCol="0" anchor="ctr"/>
          <a:lstStyle/>
          <a:p>
            <a:pPr indent="0" marL="0">
              <a:buNone/>
            </a:pPr>
            <a:r>
              <a:rPr lang="en-US" sz="850" b="1" dirty="0">
                <a:solidFill>
                  <a:srgbClr val="0E7C86"/>
                </a:solidFill>
                <a:latin typeface="Aptos" pitchFamily="34" charset="0"/>
                <a:ea typeface="Aptos" pitchFamily="34" charset="-122"/>
                <a:cs typeface="Aptos" pitchFamily="34" charset="-120"/>
              </a:rPr>
              <a:t>12 · CIERRE</a:t>
            </a:r>
            <a:endParaRPr lang="en-US" sz="850" dirty="0"/>
          </a:p>
        </p:txBody>
      </p:sp>
      <p:sp>
        <p:nvSpPr>
          <p:cNvPr id="5" name="Text 3"/>
          <p:cNvSpPr/>
          <p:nvPr/>
        </p:nvSpPr>
        <p:spPr>
          <a:xfrm>
            <a:off x="548640" y="694944"/>
            <a:ext cx="10881360" cy="502920"/>
          </a:xfrm>
          <a:prstGeom prst="rect">
            <a:avLst/>
          </a:prstGeom>
          <a:noFill/>
          <a:ln/>
        </p:spPr>
        <p:txBody>
          <a:bodyPr wrap="square" lIns="0" tIns="0" rIns="0" bIns="0" rtlCol="0" anchor="ctr"/>
          <a:lstStyle/>
          <a:p>
            <a:pPr indent="0" marL="0">
              <a:buNone/>
            </a:pPr>
            <a:r>
              <a:rPr lang="en-US" sz="2500" b="1" dirty="0">
                <a:solidFill>
                  <a:srgbClr val="0B1F33"/>
                </a:solidFill>
                <a:latin typeface="Aptos Display" pitchFamily="34" charset="0"/>
                <a:ea typeface="Aptos Display" pitchFamily="34" charset="-122"/>
                <a:cs typeface="Aptos Display" pitchFamily="34" charset="-120"/>
              </a:rPr>
              <a:t>Conclusiones y mejoras futuras</a:t>
            </a:r>
            <a:endParaRPr lang="en-US" sz="2500" dirty="0"/>
          </a:p>
        </p:txBody>
      </p:sp>
      <p:sp>
        <p:nvSpPr>
          <p:cNvPr id="6" name="Shape 4"/>
          <p:cNvSpPr/>
          <p:nvPr/>
        </p:nvSpPr>
        <p:spPr>
          <a:xfrm>
            <a:off x="777240" y="1234440"/>
            <a:ext cx="5257800" cy="3474720"/>
          </a:xfrm>
          <a:prstGeom prst="roundRect">
            <a:avLst>
              <a:gd name="adj" fmla="val 2105"/>
            </a:avLst>
          </a:prstGeom>
          <a:solidFill>
            <a:srgbClr val="FFFFFF"/>
          </a:solidFill>
          <a:ln w="12700">
            <a:solidFill>
              <a:srgbClr val="D8E7EA"/>
            </a:solidFill>
            <a:prstDash val="solid"/>
          </a:ln>
        </p:spPr>
      </p:sp>
      <p:sp>
        <p:nvSpPr>
          <p:cNvPr id="7" name="Text 5"/>
          <p:cNvSpPr/>
          <p:nvPr/>
        </p:nvSpPr>
        <p:spPr>
          <a:xfrm>
            <a:off x="978408" y="1371600"/>
            <a:ext cx="4855464" cy="256032"/>
          </a:xfrm>
          <a:prstGeom prst="rect">
            <a:avLst/>
          </a:prstGeom>
          <a:noFill/>
          <a:ln/>
        </p:spPr>
        <p:txBody>
          <a:bodyPr wrap="square" lIns="0" tIns="0" rIns="0" bIns="0" rtlCol="0" anchor="ctr"/>
          <a:lstStyle/>
          <a:p>
            <a:pPr indent="0" marL="0">
              <a:buNone/>
            </a:pPr>
            <a:r>
              <a:rPr lang="en-US" sz="1250" b="1" dirty="0">
                <a:solidFill>
                  <a:srgbClr val="0B1F33"/>
                </a:solidFill>
                <a:latin typeface="Aptos Display" pitchFamily="34" charset="0"/>
                <a:ea typeface="Aptos Display" pitchFamily="34" charset="-122"/>
                <a:cs typeface="Aptos Display" pitchFamily="34" charset="-120"/>
              </a:rPr>
              <a:t>Conclusiones</a:t>
            </a:r>
            <a:endParaRPr lang="en-US" sz="1250" dirty="0"/>
          </a:p>
        </p:txBody>
      </p:sp>
      <p:sp>
        <p:nvSpPr>
          <p:cNvPr id="8" name="Text 6"/>
          <p:cNvSpPr/>
          <p:nvPr/>
        </p:nvSpPr>
        <p:spPr>
          <a:xfrm>
            <a:off x="978408" y="1709928"/>
            <a:ext cx="4855464" cy="2852928"/>
          </a:xfrm>
          <a:prstGeom prst="rect">
            <a:avLst/>
          </a:prstGeom>
          <a:noFill/>
          <a:ln/>
        </p:spPr>
        <p:txBody>
          <a:bodyPr wrap="square" lIns="254" tIns="254" rIns="254" bIns="254" rtlCol="0" anchor="ctr">
            <a:normAutofit/>
          </a:bodyPr>
          <a:lstStyle/>
          <a:p>
            <a:pPr indent="0" marL="0">
              <a:buNone/>
            </a:pPr>
            <a:r>
              <a:rPr lang="en-US" sz="1250" dirty="0">
                <a:solidFill>
                  <a:srgbClr val="22313F"/>
                </a:solidFill>
                <a:latin typeface="Aptos" pitchFamily="34" charset="0"/>
                <a:ea typeface="Aptos" pitchFamily="34" charset="-122"/>
                <a:cs typeface="Aptos" pitchFamily="34" charset="-120"/>
              </a:rPr>
              <a:t>• Se aplicó un flujo completo de minería de datos.</a:t>
            </a:r>
            <a:endParaRPr lang="en-US" sz="1250" dirty="0"/>
          </a:p>
          <a:p>
            <a:pPr indent="0" marL="0">
              <a:buNone/>
            </a:pPr>
            <a:r>
              <a:rPr lang="en-US" sz="1250" dirty="0">
                <a:solidFill>
                  <a:srgbClr val="22313F"/>
                </a:solidFill>
                <a:latin typeface="Aptos" pitchFamily="34" charset="0"/>
                <a:ea typeface="Aptos" pitchFamily="34" charset="-122"/>
                <a:cs typeface="Aptos" pitchFamily="34" charset="-120"/>
              </a:rPr>
              <a:t>• La limpieza y preparación permitieron comparar modelos de manera justa.</a:t>
            </a:r>
            <a:endParaRPr lang="en-US" sz="1250" dirty="0"/>
          </a:p>
          <a:p>
            <a:pPr indent="0" marL="0">
              <a:buNone/>
            </a:pPr>
            <a:r>
              <a:rPr lang="en-US" sz="1250" dirty="0">
                <a:solidFill>
                  <a:srgbClr val="22313F"/>
                </a:solidFill>
                <a:latin typeface="Aptos" pitchFamily="34" charset="0"/>
                <a:ea typeface="Aptos" pitchFamily="34" charset="-122"/>
                <a:cs typeface="Aptos" pitchFamily="34" charset="-120"/>
              </a:rPr>
              <a:t>• El EDA mostró diferencias entre benignos y malignos.</a:t>
            </a:r>
            <a:endParaRPr lang="en-US" sz="1250" dirty="0"/>
          </a:p>
          <a:p>
            <a:pPr indent="0" marL="0">
              <a:buNone/>
            </a:pPr>
            <a:r>
              <a:rPr lang="en-US" sz="1250" dirty="0">
                <a:solidFill>
                  <a:srgbClr val="22313F"/>
                </a:solidFill>
                <a:latin typeface="Aptos" pitchFamily="34" charset="0"/>
                <a:ea typeface="Aptos" pitchFamily="34" charset="-122"/>
                <a:cs typeface="Aptos" pitchFamily="34" charset="-120"/>
              </a:rPr>
              <a:t>• SVM RBF fue el mejor modelo final del notebook compilado.</a:t>
            </a:r>
            <a:endParaRPr lang="en-US" sz="1250" dirty="0"/>
          </a:p>
          <a:p>
            <a:pPr indent="0" marL="0">
              <a:buNone/>
            </a:pPr>
            <a:r>
              <a:rPr lang="en-US" sz="1250" dirty="0">
                <a:solidFill>
                  <a:srgbClr val="22313F"/>
                </a:solidFill>
                <a:latin typeface="Aptos" pitchFamily="34" charset="0"/>
                <a:ea typeface="Aptos" pitchFamily="34" charset="-122"/>
                <a:cs typeface="Aptos" pitchFamily="34" charset="-120"/>
              </a:rPr>
              <a:t>• Random Forest sin PCA también es una alternativa fuerte y robusta.</a:t>
            </a:r>
            <a:endParaRPr lang="en-US" sz="1250" dirty="0"/>
          </a:p>
        </p:txBody>
      </p:sp>
      <p:sp>
        <p:nvSpPr>
          <p:cNvPr id="9" name="Shape 7"/>
          <p:cNvSpPr/>
          <p:nvPr/>
        </p:nvSpPr>
        <p:spPr>
          <a:xfrm>
            <a:off x="6446520" y="1234440"/>
            <a:ext cx="4983480" cy="3474720"/>
          </a:xfrm>
          <a:prstGeom prst="roundRect">
            <a:avLst>
              <a:gd name="adj" fmla="val 2105"/>
            </a:avLst>
          </a:prstGeom>
          <a:solidFill>
            <a:srgbClr val="FFFFFF"/>
          </a:solidFill>
          <a:ln w="12700">
            <a:solidFill>
              <a:srgbClr val="D8E7EA"/>
            </a:solidFill>
            <a:prstDash val="solid"/>
          </a:ln>
        </p:spPr>
      </p:sp>
      <p:sp>
        <p:nvSpPr>
          <p:cNvPr id="10" name="Text 8"/>
          <p:cNvSpPr/>
          <p:nvPr/>
        </p:nvSpPr>
        <p:spPr>
          <a:xfrm>
            <a:off x="6647688" y="1371600"/>
            <a:ext cx="4581144" cy="256032"/>
          </a:xfrm>
          <a:prstGeom prst="rect">
            <a:avLst/>
          </a:prstGeom>
          <a:noFill/>
          <a:ln/>
        </p:spPr>
        <p:txBody>
          <a:bodyPr wrap="square" lIns="0" tIns="0" rIns="0" bIns="0" rtlCol="0" anchor="ctr"/>
          <a:lstStyle/>
          <a:p>
            <a:pPr indent="0" marL="0">
              <a:buNone/>
            </a:pPr>
            <a:r>
              <a:rPr lang="en-US" sz="1250" b="1" dirty="0">
                <a:solidFill>
                  <a:srgbClr val="0B1F33"/>
                </a:solidFill>
                <a:latin typeface="Aptos Display" pitchFamily="34" charset="0"/>
                <a:ea typeface="Aptos Display" pitchFamily="34" charset="-122"/>
                <a:cs typeface="Aptos Display" pitchFamily="34" charset="-120"/>
              </a:rPr>
              <a:t>Mejoras futuras</a:t>
            </a:r>
            <a:endParaRPr lang="en-US" sz="1250" dirty="0"/>
          </a:p>
        </p:txBody>
      </p:sp>
      <p:sp>
        <p:nvSpPr>
          <p:cNvPr id="11" name="Text 9"/>
          <p:cNvSpPr/>
          <p:nvPr/>
        </p:nvSpPr>
        <p:spPr>
          <a:xfrm>
            <a:off x="6647688" y="1709928"/>
            <a:ext cx="4581144" cy="2852928"/>
          </a:xfrm>
          <a:prstGeom prst="rect">
            <a:avLst/>
          </a:prstGeom>
          <a:noFill/>
          <a:ln/>
        </p:spPr>
        <p:txBody>
          <a:bodyPr wrap="square" lIns="254" tIns="254" rIns="254" bIns="254" rtlCol="0" anchor="ctr">
            <a:normAutofit/>
          </a:bodyPr>
          <a:lstStyle/>
          <a:p>
            <a:pPr indent="0" marL="0">
              <a:buNone/>
            </a:pPr>
            <a:r>
              <a:rPr lang="en-US" sz="1250" dirty="0">
                <a:solidFill>
                  <a:srgbClr val="22313F"/>
                </a:solidFill>
                <a:latin typeface="Aptos" pitchFamily="34" charset="0"/>
                <a:ea typeface="Aptos" pitchFamily="34" charset="-122"/>
                <a:cs typeface="Aptos" pitchFamily="34" charset="-120"/>
              </a:rPr>
              <a:t>• Validación cruzada.</a:t>
            </a:r>
            <a:endParaRPr lang="en-US" sz="1250" dirty="0"/>
          </a:p>
          <a:p>
            <a:pPr indent="0" marL="0">
              <a:buNone/>
            </a:pPr>
            <a:r>
              <a:rPr lang="en-US" sz="1250" dirty="0">
                <a:solidFill>
                  <a:srgbClr val="22313F"/>
                </a:solidFill>
                <a:latin typeface="Aptos" pitchFamily="34" charset="0"/>
                <a:ea typeface="Aptos" pitchFamily="34" charset="-122"/>
                <a:cs typeface="Aptos" pitchFamily="34" charset="-120"/>
              </a:rPr>
              <a:t>• Ajuste de hiperparámetros.</a:t>
            </a:r>
            <a:endParaRPr lang="en-US" sz="1250" dirty="0"/>
          </a:p>
          <a:p>
            <a:pPr indent="0" marL="0">
              <a:buNone/>
            </a:pPr>
            <a:r>
              <a:rPr lang="en-US" sz="1250" dirty="0">
                <a:solidFill>
                  <a:srgbClr val="22313F"/>
                </a:solidFill>
                <a:latin typeface="Aptos" pitchFamily="34" charset="0"/>
                <a:ea typeface="Aptos" pitchFamily="34" charset="-122"/>
                <a:cs typeface="Aptos" pitchFamily="34" charset="-120"/>
              </a:rPr>
              <a:t>• Análisis más profundo de importancia de variables.</a:t>
            </a:r>
            <a:endParaRPr lang="en-US" sz="1250" dirty="0"/>
          </a:p>
          <a:p>
            <a:pPr indent="0" marL="0">
              <a:buNone/>
            </a:pPr>
            <a:r>
              <a:rPr lang="en-US" sz="1250" dirty="0">
                <a:solidFill>
                  <a:srgbClr val="22313F"/>
                </a:solidFill>
                <a:latin typeface="Aptos" pitchFamily="34" charset="0"/>
                <a:ea typeface="Aptos" pitchFamily="34" charset="-122"/>
                <a:cs typeface="Aptos" pitchFamily="34" charset="-120"/>
              </a:rPr>
              <a:t>• Curvas ROC/PR comparativas.</a:t>
            </a:r>
            <a:endParaRPr lang="en-US" sz="1250" dirty="0"/>
          </a:p>
          <a:p>
            <a:pPr indent="0" marL="0">
              <a:buNone/>
            </a:pPr>
            <a:r>
              <a:rPr lang="en-US" sz="1250" dirty="0">
                <a:solidFill>
                  <a:srgbClr val="22313F"/>
                </a:solidFill>
                <a:latin typeface="Aptos" pitchFamily="34" charset="0"/>
                <a:ea typeface="Aptos" pitchFamily="34" charset="-122"/>
                <a:cs typeface="Aptos" pitchFamily="34" charset="-120"/>
              </a:rPr>
              <a:t>• Evaluación con más datos clínicos y validación externa.</a:t>
            </a:r>
            <a:endParaRPr lang="en-US" sz="1250" dirty="0"/>
          </a:p>
        </p:txBody>
      </p:sp>
      <p:sp>
        <p:nvSpPr>
          <p:cNvPr id="12" name="Shape 10"/>
          <p:cNvSpPr/>
          <p:nvPr/>
        </p:nvSpPr>
        <p:spPr>
          <a:xfrm>
            <a:off x="1143000" y="5166360"/>
            <a:ext cx="9921240" cy="777240"/>
          </a:xfrm>
          <a:prstGeom prst="roundRect">
            <a:avLst>
              <a:gd name="adj" fmla="val 11765"/>
            </a:avLst>
          </a:prstGeom>
          <a:solidFill>
            <a:srgbClr val="DFF3F5"/>
          </a:solidFill>
          <a:ln w="15240">
            <a:solidFill>
              <a:srgbClr val="0E7C86"/>
            </a:solidFill>
            <a:prstDash val="solid"/>
          </a:ln>
        </p:spPr>
      </p:sp>
      <p:sp>
        <p:nvSpPr>
          <p:cNvPr id="13" name="Text 11"/>
          <p:cNvSpPr/>
          <p:nvPr/>
        </p:nvSpPr>
        <p:spPr>
          <a:xfrm>
            <a:off x="1508760" y="5404104"/>
            <a:ext cx="9235440" cy="237744"/>
          </a:xfrm>
          <a:prstGeom prst="rect">
            <a:avLst/>
          </a:prstGeom>
          <a:noFill/>
          <a:ln/>
        </p:spPr>
        <p:txBody>
          <a:bodyPr wrap="square" lIns="0" tIns="0" rIns="0" bIns="0" rtlCol="0" anchor="ctr">
            <a:normAutofit/>
          </a:bodyPr>
          <a:lstStyle/>
          <a:p>
            <a:pPr algn="ctr" indent="0" marL="0">
              <a:buNone/>
            </a:pPr>
            <a:r>
              <a:rPr lang="en-US" sz="1550" b="1" dirty="0">
                <a:solidFill>
                  <a:srgbClr val="0B1F33"/>
                </a:solidFill>
                <a:latin typeface="Aptos Display" pitchFamily="34" charset="0"/>
                <a:ea typeface="Aptos Display" pitchFamily="34" charset="-122"/>
                <a:cs typeface="Aptos Display" pitchFamily="34" charset="-120"/>
              </a:rPr>
              <a:t>En medicina, no siempre gana el modelo que más acierta en promedio; gana el que mejor reduce el error clínicamente más costoso.</a:t>
            </a:r>
            <a:endParaRPr lang="en-US" sz="1550" dirty="0"/>
          </a:p>
        </p:txBody>
      </p:sp>
      <p:sp>
        <p:nvSpPr>
          <p:cNvPr id="25" name="Slide Number Placeholder 0"/>
          <p:cNvSpPr>
            <a:spLocks noGrp="1"/>
          </p:cNvSpPr>
          <p:nvPr>
            <p:ph type="sldNum" sz="quarter" idx="4294967295"/>
          </p:nvPr>
        </p:nvSpPr>
        <p:spPr>
          <a:xfrm>
            <a:off x="11841480" y="6510528"/>
            <a:ext cx="800000" cy="300000"/>
          </a:xfrm>
          <a:prstGeom prst="rect">
            <a:avLst/>
          </a:prstGeom>
          <a:extLst>
            <a:ext uri="{C572A759-6A51-4108-AA02-DFA0A04FC94B}">
              <ma14:wrappingTextBoxFlag xmlns:ma14="http://schemas.microsoft.com/office/mac/drawingml/2011/main" val="0"/>
            </a:ext>
          </a:extLst>
        </p:spPr>
        <p:txBody>
          <a:bodyPr/>
          <a:lstStyle>
            <a:lvl1pPr>
              <a:defRPr sz="750">
                <a:solidFill>
                  <a:srgbClr val="607D86"/>
                </a:solidFill>
                <a:latin typeface="Aptos"/>
                <a:ea typeface="Aptos"/>
                <a:cs typeface="Aptos"/>
              </a:defRPr>
            </a:lvl1pPr>
          </a:lstStyle>
          <a:p>
            <a:pPr algn="l"/>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Minería de Datos en Python: Cancer_Data.csv</dc:title>
  <dc:subject>Proyecto Final Minería de Datos en Python</dc:subject>
  <dc:creator>OpenAI</dc:creator>
  <cp:lastModifiedBy>OpenAI</cp:lastModifiedBy>
  <cp:revision>1</cp:revision>
  <dcterms:created xsi:type="dcterms:W3CDTF">2026-06-05T16:34:37Z</dcterms:created>
  <dcterms:modified xsi:type="dcterms:W3CDTF">2026-06-05T16:34:37Z</dcterms:modified>
</cp:coreProperties>
</file>