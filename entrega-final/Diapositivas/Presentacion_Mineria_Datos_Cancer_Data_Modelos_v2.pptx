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gr+yOZ0jJ/YPFi/EFOMxGdwWv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explicando que la presentación se centra en defender el modelado: cómo se prepararon los datos, cómo se implementaron los modelos y por qué se seleccionó el mejor modelo con criterio técnico y clínico.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extenderse en el dataset. Decir que se trabaja con registros de cáncer de mama y variables numéricas de características celulares. La finalidad es pasar rápido hacia preparación y modelos.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que la preparación permite una comparación justa. Hacer énfasis en que StandardScaler es obligatorio para algoritmos basados en distancia o margen como KNN y SVM, y para PCA.</a:t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detenerse demasiado en EDA. Usarlo como puente hacia el modelado: las variables tienen señal para clasificación y hay correlación suficiente para justificar PCA.</a:t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Presentar esta diapositiva como el mapa del resto de la presentación. A partir de aquí se explican los modelos uno por uno y luego se comparan con las métricas finales.</a:t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Regresión logística: primero qué hace, luego cómo se aplicó en el notebook y finalmente sus métricas. Enfatizar que la comparación se hace con Recall, F1-score y Accuracy, no solo con Accuracy.</a:t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K-Nearest Neighbors: primero qué hace, luego cómo se aplicó en el notebook y finalmente sus métricas. Enfatizar que la comparación se hace con Recall, F1-score y Accuracy, no solo con Accuracy.</a:t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Árbol de decisión: primero qué hace, luego cómo se aplicó en el notebook y finalmente sus métricas. Enfatizar que la comparación se hace con Recall, F1-score y Accuracy, no solo con Accuracy.</a:t>
            </a:r>
            <a:endParaRPr/>
          </a:p>
        </p:txBody>
      </p:sp>
      <p:sp>
        <p:nvSpPr>
          <p:cNvPr id="261" name="Google Shape;26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8d14a280a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g3e8d14a280a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Árbol de decisión: primero qué hace, luego cómo se aplicó en el notebook y finalmente sus métricas. Enfatizar que la comparación se hace con Recall, F1-score y Accuracy, no solo con Accuracy.</a:t>
            </a:r>
            <a:endParaRPr/>
          </a:p>
        </p:txBody>
      </p:sp>
      <p:sp>
        <p:nvSpPr>
          <p:cNvPr id="309" name="Google Shape;309;g3e8d14a280a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Random Forest: primero qué hace, luego cómo se aplicó en el notebook y finalmente sus métricas. Enfatizar que la comparación se hace con Recall, F1-score y Accuracy, no solo con Accuracy.</a:t>
            </a:r>
            <a:endParaRPr/>
          </a:p>
        </p:txBody>
      </p:sp>
      <p:sp>
        <p:nvSpPr>
          <p:cNvPr id="369" name="Google Shape;36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Support Vector Machine: primero qué hace, luego cómo se aplicó en el notebook y finalmente sus métricas. Enfatizar que la comparación se hace con Recall, F1-score y Accuracy, no solo con Accuracy.</a:t>
            </a:r>
            <a:endParaRPr/>
          </a:p>
        </p:txBody>
      </p:sp>
      <p:sp>
        <p:nvSpPr>
          <p:cNvPr id="429" name="Google Shape;42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Gaussian Naive Bayes: primero qué hace, luego cómo se aplicó en el notebook y finalmente sus métricas. Enfatizar que la comparación se hace con Recall, F1-score y Accuracy, no solo con Accuracy.</a:t>
            </a:r>
            <a:endParaRPr/>
          </a:p>
        </p:txBody>
      </p:sp>
      <p:sp>
        <p:nvSpPr>
          <p:cNvPr id="490" name="Google Shape;49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0" name="Google Shape;55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que la regresión complementa el proyecto, pero que la decisión final clínica se centra en clasificación. Lasso sin PCA ganó por menor RMSE y R² alto.</a:t>
            </a:r>
            <a:endParaRPr/>
          </a:p>
        </p:txBody>
      </p:sp>
      <p:sp>
        <p:nvSpPr>
          <p:cNvPr id="551" name="Google Shape;55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2" name="Google Shape;65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que PCA no es un modelo final por sí solo en clasificación, sino una transformación que se probó antes de algunos modelos. En este notebook ayudó especialmente a la Regresión Logística.</a:t>
            </a:r>
            <a:endParaRPr/>
          </a:p>
        </p:txBody>
      </p:sp>
      <p:sp>
        <p:nvSpPr>
          <p:cNvPr id="653" name="Google Shape;65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1" name="Google Shape;67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que KMeans usa centroides y que k=2 se eligió por la lógica de benigno/maligno. Aun así, clustering no supervisado no debe interpretarse como diagnóstico directo.</a:t>
            </a:r>
            <a:endParaRPr/>
          </a:p>
        </p:txBody>
      </p:sp>
      <p:sp>
        <p:nvSpPr>
          <p:cNvPr id="672" name="Google Shape;67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3" name="Google Shape;69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que el mejor clustering por Silhouette fue DBSCAN, pero no necesariamente es el más práctico porque identificó mucho ruido. KMeans y jerárquico son más comparables con la hipótesis de dos grupos.</a:t>
            </a:r>
            <a:endParaRPr/>
          </a:p>
        </p:txBody>
      </p:sp>
      <p:sp>
        <p:nvSpPr>
          <p:cNvPr id="694" name="Google Shape;69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9" name="Google Shape;73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que la tabla se ordenó con criterio médico. La prioridad es detectar malignos, por eso Recall se coloca antes que Accuracy. Logística con PCA tiene el mejor Recall y el mejor F1 del notebook corregido.</a:t>
            </a:r>
            <a:endParaRPr/>
          </a:p>
        </p:txBody>
      </p:sp>
      <p:sp>
        <p:nvSpPr>
          <p:cNvPr id="740" name="Google Shape;74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2" name="Google Shape;88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Defender la elección: no decir solo que tiene mejores números, sino explicar que en cáncer el falso negativo es más costoso. Logística con PCA tiene el mayor Recall y el mejor F1-score.</a:t>
            </a:r>
            <a:endParaRPr/>
          </a:p>
        </p:txBody>
      </p:sp>
      <p:sp>
        <p:nvSpPr>
          <p:cNvPr id="883" name="Google Shape;88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4" name="Google Shape;91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Cerrar con la idea central: el proyecto no solo entrena modelos; defiende decisiones técnicas y selecciona el modelo más adecuado al problema médico.</a:t>
            </a:r>
            <a:endParaRPr/>
          </a:p>
        </p:txBody>
      </p:sp>
      <p:sp>
        <p:nvSpPr>
          <p:cNvPr id="915" name="Google Shape;91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6F8FA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8;p20"/>
          <p:cNvCxnSpPr/>
          <p:nvPr/>
        </p:nvCxnSpPr>
        <p:spPr>
          <a:xfrm>
            <a:off x="502920" y="6473952"/>
            <a:ext cx="11201400" cy="0"/>
          </a:xfrm>
          <a:prstGeom prst="straightConnector1">
            <a:avLst/>
          </a:prstGeom>
          <a:noFill/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" name="Google Shape;9;p20"/>
          <p:cNvSpPr/>
          <p:nvPr/>
        </p:nvSpPr>
        <p:spPr>
          <a:xfrm>
            <a:off x="548640" y="6528816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Proyecto Final · Minería de Datos en Python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idx="12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7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8595360" y="-548640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1F8A8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418320" y="3474720"/>
            <a:ext cx="2377440" cy="237744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5400">
            <a:solidFill>
              <a:srgbClr val="E76F51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" y="11430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Minería de Datos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13232" y="17830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F3F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BF3F1"/>
                </a:solidFill>
                <a:latin typeface="Arial"/>
                <a:ea typeface="Arial"/>
                <a:cs typeface="Arial"/>
                <a:sym typeface="Arial"/>
              </a:rPr>
              <a:t>Análisis del dataset Cancer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6" y="2423150"/>
            <a:ext cx="9729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Clasificación, regresión y clustering aplicados al diagnóstico de cáncer de mama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34934" y="3424862"/>
            <a:ext cx="4967152" cy="1997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Integrantes: 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Julian David Cabrera Barragan</a:t>
            </a:r>
            <a:endParaRPr sz="1800"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Nelson David Posso Suarez </a:t>
            </a:r>
            <a:endParaRPr sz="1800"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Edward Julian Garcia Gaitan </a:t>
            </a:r>
            <a:endParaRPr sz="1800"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Juan David Cordoba Aguirre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Problema, dataset y variables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Contexto compactado para enfocar la defensa en el modelado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685800" y="1417320"/>
            <a:ext cx="128016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04672" y="1527048"/>
            <a:ext cx="10424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Registros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04672" y="1755648"/>
            <a:ext cx="10424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569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04672" y="2130552"/>
            <a:ext cx="10424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observaciones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103120" y="1417320"/>
            <a:ext cx="13716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2221992" y="1527048"/>
            <a:ext cx="11338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Columnas analíticas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221992" y="1755648"/>
            <a:ext cx="1133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221992" y="2130552"/>
            <a:ext cx="11338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diagnosis + 30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11880" y="1417320"/>
            <a:ext cx="15544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730752" y="1527048"/>
            <a:ext cx="1316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Clase objetivo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730752" y="1755648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diagnosis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730752" y="2130552"/>
            <a:ext cx="1316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 / M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85775" y="2487175"/>
            <a:ext cx="4480500" cy="19740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68655" y="2688343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Problema principal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68650" y="3054100"/>
            <a:ext cx="40692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lang="en-US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Clasificación binaria: tumor benigno (B) o maligno (M).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lang="en-US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Regresión: predicción de una variable continua del tumor.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●"/>
            </a:pPr>
            <a:r>
              <a:rPr lang="en-US"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 supervisados: exploración de agrupamientos y reducción dimensional.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60130" y="3913645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El objetivo no es solo acertar: es justificar qué modelo conviene según métricas y contexto médico.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 rot="-5400000">
            <a:off x="2042525" y="3236125"/>
            <a:ext cx="1783200" cy="445260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04685" y="4686321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Estructura de variables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04685" y="4970190"/>
            <a:ext cx="640200" cy="3315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32117" y="5034198"/>
            <a:ext cx="585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Arial"/>
              <a:buNone/>
            </a:pPr>
            <a:r>
              <a:rPr b="1" lang="en-US" sz="7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Sufijo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444765" y="4970190"/>
            <a:ext cx="960000" cy="3315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1472197" y="5034198"/>
            <a:ext cx="905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Arial"/>
              <a:buNone/>
            </a:pPr>
            <a:r>
              <a:rPr b="1" lang="en-US" sz="7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Significado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404885" y="4970190"/>
            <a:ext cx="822900" cy="3315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2432317" y="5034198"/>
            <a:ext cx="76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Arial"/>
              <a:buNone/>
            </a:pPr>
            <a:r>
              <a:rPr b="1" lang="en-US" sz="7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 sz="7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04685" y="5301660"/>
            <a:ext cx="640200" cy="33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841261" y="5356524"/>
            <a:ext cx="567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_mean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444765" y="5301660"/>
            <a:ext cx="960000" cy="33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1481341" y="5356524"/>
            <a:ext cx="887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Promedio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404885" y="5301660"/>
            <a:ext cx="822900" cy="33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2441461" y="5356524"/>
            <a:ext cx="7497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radius_mean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04685" y="5633130"/>
            <a:ext cx="640200" cy="3315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841261" y="5687994"/>
            <a:ext cx="567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_se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444765" y="5633130"/>
            <a:ext cx="960000" cy="3315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1481341" y="5687994"/>
            <a:ext cx="887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Error estándar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404885" y="5633130"/>
            <a:ext cx="822900" cy="3315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2441461" y="5687994"/>
            <a:ext cx="7497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area_se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04685" y="5964600"/>
            <a:ext cx="640200" cy="33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841261" y="6019464"/>
            <a:ext cx="5670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_worst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444765" y="5964600"/>
            <a:ext cx="960000" cy="33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1481341" y="6019464"/>
            <a:ext cx="887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Valor extremo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404885" y="5964600"/>
            <a:ext cx="822900" cy="33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2441461" y="6019464"/>
            <a:ext cx="7497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concavity_worst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404575" y="4538725"/>
            <a:ext cx="2286000" cy="18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334155"/>
                </a:solidFill>
              </a:rPr>
              <a:t>Mediciones celulares:</a:t>
            </a:r>
            <a:endParaRPr b="1" sz="950">
              <a:solidFill>
                <a:srgbClr val="334155"/>
              </a:solidFill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Char char="●"/>
            </a:pPr>
            <a:r>
              <a:rPr lang="en-US" sz="950">
                <a:solidFill>
                  <a:srgbClr val="334155"/>
                </a:solidFill>
              </a:rPr>
              <a:t>R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adio</a:t>
            </a:r>
            <a:r>
              <a:rPr lang="en-US" sz="950">
                <a:solidFill>
                  <a:srgbClr val="334155"/>
                </a:solidFill>
              </a:rPr>
              <a:t>.</a:t>
            </a:r>
            <a:endParaRPr sz="9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Char char="●"/>
            </a:pPr>
            <a:r>
              <a:rPr lang="en-US" sz="950">
                <a:solidFill>
                  <a:srgbClr val="334155"/>
                </a:solidFill>
              </a:rPr>
              <a:t>T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extura</a:t>
            </a:r>
            <a:r>
              <a:rPr lang="en-US" sz="950">
                <a:solidFill>
                  <a:srgbClr val="334155"/>
                </a:solidFill>
              </a:rPr>
              <a:t>.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Char char="●"/>
            </a:pPr>
            <a:r>
              <a:rPr lang="en-US" sz="950">
                <a:solidFill>
                  <a:srgbClr val="334155"/>
                </a:solidFill>
              </a:rPr>
              <a:t>P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erímetro</a:t>
            </a:r>
            <a:r>
              <a:rPr lang="en-US" sz="950">
                <a:solidFill>
                  <a:srgbClr val="334155"/>
                </a:solidFill>
              </a:rPr>
              <a:t>.</a:t>
            </a:r>
            <a:endParaRPr sz="9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Char char="●"/>
            </a:pPr>
            <a:r>
              <a:rPr lang="en-US" sz="950">
                <a:solidFill>
                  <a:srgbClr val="334155"/>
                </a:solidFill>
              </a:rPr>
              <a:t>Á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</a:t>
            </a:r>
            <a:r>
              <a:rPr lang="en-US" sz="950">
                <a:solidFill>
                  <a:srgbClr val="334155"/>
                </a:solidFill>
              </a:rPr>
              <a:t>.</a:t>
            </a:r>
            <a:endParaRPr sz="9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Char char="●"/>
            </a:pPr>
            <a:r>
              <a:rPr lang="en-US" sz="950">
                <a:solidFill>
                  <a:srgbClr val="334155"/>
                </a:solidFill>
              </a:rPr>
              <a:t>S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uavidad</a:t>
            </a:r>
            <a:r>
              <a:rPr lang="en-US" sz="950">
                <a:solidFill>
                  <a:srgbClr val="334155"/>
                </a:solidFill>
              </a:rPr>
              <a:t>.</a:t>
            </a:r>
            <a:endParaRPr sz="9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Char char="●"/>
            </a:pPr>
            <a:r>
              <a:rPr lang="en-US" sz="950">
                <a:solidFill>
                  <a:srgbClr val="334155"/>
                </a:solidFill>
              </a:rPr>
              <a:t>C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ompacidad</a:t>
            </a:r>
            <a:r>
              <a:rPr lang="en-US" sz="950">
                <a:solidFill>
                  <a:srgbClr val="334155"/>
                </a:solidFill>
              </a:rPr>
              <a:t>.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Char char="●"/>
            </a:pPr>
            <a:r>
              <a:rPr lang="en-US" sz="950">
                <a:solidFill>
                  <a:srgbClr val="334155"/>
                </a:solidFill>
              </a:rPr>
              <a:t>C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oncavidad</a:t>
            </a:r>
            <a:r>
              <a:rPr lang="en-US" sz="950">
                <a:solidFill>
                  <a:srgbClr val="334155"/>
                </a:solidFill>
              </a:rPr>
              <a:t>.</a:t>
            </a:r>
            <a:endParaRPr sz="9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Char char="●"/>
            </a:pPr>
            <a:r>
              <a:rPr lang="en-US" sz="950">
                <a:solidFill>
                  <a:srgbClr val="334155"/>
                </a:solidFill>
              </a:rPr>
              <a:t>P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untos cóncavos</a:t>
            </a:r>
            <a:r>
              <a:rPr lang="en-US" sz="950">
                <a:solidFill>
                  <a:srgbClr val="334155"/>
                </a:solidFill>
              </a:rPr>
              <a:t>.</a:t>
            </a:r>
            <a:endParaRPr sz="9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Char char="●"/>
            </a:pPr>
            <a:r>
              <a:rPr lang="en-US" sz="950">
                <a:solidFill>
                  <a:srgbClr val="334155"/>
                </a:solidFill>
              </a:rPr>
              <a:t>S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imetría</a:t>
            </a:r>
            <a:r>
              <a:rPr lang="en-US" sz="950">
                <a:solidFill>
                  <a:srgbClr val="334155"/>
                </a:solidFill>
              </a:rPr>
              <a:t>.</a:t>
            </a:r>
            <a:endParaRPr sz="95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Char char="●"/>
            </a:pPr>
            <a:r>
              <a:rPr lang="en-US" sz="950">
                <a:solidFill>
                  <a:srgbClr val="334155"/>
                </a:solidFill>
              </a:rPr>
              <a:t>D</a:t>
            </a: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imensión fractal.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_v2/diagnosis_counts.png" id="75" name="Google Shape;7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8225" y="1603412"/>
            <a:ext cx="5770433" cy="4327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Calidad y preparación de datos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66928" y="786384"/>
            <a:ext cx="987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Decisiones técnicas antes de entrenar modelos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40075" y="1371600"/>
            <a:ext cx="3474600" cy="26472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868680" y="16276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Calidad de datos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05721" y="1885061"/>
            <a:ext cx="28347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33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20"/>
              <a:buFont typeface="Arial"/>
              <a:buChar char="●"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normalizaron nombres de columnas y valores de texto.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20"/>
              <a:buFont typeface="Arial"/>
              <a:buChar char="●"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revisaron nulos, duplicados y tipos de datos.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20"/>
              <a:buFont typeface="Arial"/>
              <a:buChar char="●"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excluyó id del modelado por ser identificador.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20"/>
              <a:buFont typeface="Arial"/>
              <a:buChar char="●"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Outliers IQR: se conservaron por posible valor clínico.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60117" y="3368981"/>
            <a:ext cx="2834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Decisión clave: en datos médicos un valor extremo puede ser una señal, no necesariamente un error.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40075" y="4083950"/>
            <a:ext cx="3474600" cy="23421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68665" y="433998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Preparación común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68675" y="4608304"/>
            <a:ext cx="2834700" cy="14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33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20"/>
              <a:buFont typeface="Arial"/>
              <a:buChar char="●"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Encoding: M = 1, B = 0.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20"/>
              <a:buFont typeface="Arial"/>
              <a:buChar char="●"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Separación X/y: 30 variables predictoras.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20"/>
              <a:buFont typeface="Arial"/>
              <a:buChar char="●"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Train/test: 80/20 estratificado para clasificación.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20"/>
              <a:buFont typeface="Arial"/>
              <a:buChar char="●"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Escalado StandardScaler para KNN, SVM y PCA.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20"/>
              <a:buFont typeface="Arial"/>
              <a:buChar char="●"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PCA con 5 componentes: 84.94% de varianza acumulada.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644235" y="1371590"/>
            <a:ext cx="14172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763107" y="1481318"/>
            <a:ext cx="117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763107" y="1709918"/>
            <a:ext cx="117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455 × 30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290155" y="1371590"/>
            <a:ext cx="14172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409027" y="1481318"/>
            <a:ext cx="117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409027" y="1709918"/>
            <a:ext cx="117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114 × 30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_v2/pca_scree.png"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4225" y="2395825"/>
            <a:ext cx="6130711" cy="404354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EDA resumido: patrones antes del modelado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 correlación se presenta como parte del análisis exploratorio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66925" y="5367275"/>
            <a:ext cx="107868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846478" y="552273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Lectura técnica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346970" y="5522723"/>
            <a:ext cx="8595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EDA mostró que variables asociadas a tamaño, perímetro, área, concavidad y puntos cóncavos separan mejor benignos y malignos. También hay correlaciones fuertes entre variables de tamaño, por eso PCA es una alternativa lógica para reducir redundancia.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4276" y="1167374"/>
            <a:ext cx="4559526" cy="3966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1226800"/>
            <a:ext cx="6118849" cy="390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Estrategia de modelado y evaluación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Qué se implementó y cómo se comparó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85800" y="1508760"/>
            <a:ext cx="3337560" cy="2971800"/>
          </a:xfrm>
          <a:prstGeom prst="roundRect">
            <a:avLst>
              <a:gd fmla="val 2462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914400" y="1783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Clasificación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914400" y="22402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Predicción de diagnosis (B/M)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14400" y="2941898"/>
            <a:ext cx="27888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1000">
              <a:solidFill>
                <a:srgbClr val="334155"/>
              </a:solidFill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1000">
              <a:solidFill>
                <a:srgbClr val="334155"/>
              </a:solidFill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1000">
              <a:solidFill>
                <a:srgbClr val="334155"/>
              </a:solidFill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Char char="●"/>
            </a:pPr>
            <a:r>
              <a:rPr lang="en-US" sz="1000">
                <a:solidFill>
                  <a:srgbClr val="334155"/>
                </a:solidFill>
              </a:rPr>
              <a:t>M</a:t>
            </a: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atriz de confusión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434840" y="1508760"/>
            <a:ext cx="3337560" cy="2971800"/>
          </a:xfrm>
          <a:prstGeom prst="roundRect">
            <a:avLst>
              <a:gd fmla="val 2462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663440" y="1783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457B9D"/>
                </a:solidFill>
                <a:latin typeface="Arial"/>
                <a:ea typeface="Arial"/>
                <a:cs typeface="Arial"/>
                <a:sym typeface="Arial"/>
              </a:rPr>
              <a:t>Regresión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663440" y="22402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Predicción de area_worst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663440" y="3063240"/>
            <a:ext cx="2788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sz="1000">
              <a:solidFill>
                <a:srgbClr val="334155"/>
              </a:solidFill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MSE</a:t>
            </a:r>
            <a:endParaRPr sz="1000">
              <a:solidFill>
                <a:srgbClr val="334155"/>
              </a:solidFill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sz="1000">
              <a:solidFill>
                <a:srgbClr val="334155"/>
              </a:solidFill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R²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183880" y="1508760"/>
            <a:ext cx="3337560" cy="2971800"/>
          </a:xfrm>
          <a:prstGeom prst="roundRect">
            <a:avLst>
              <a:gd fmla="val 2462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412480" y="17830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No supervisados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412480" y="22402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Agrupamiento y reducción dimensional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412475" y="2852925"/>
            <a:ext cx="2788800" cy="11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PCA</a:t>
            </a:r>
            <a:endParaRPr sz="1000">
              <a:solidFill>
                <a:srgbClr val="334155"/>
              </a:solidFill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KMeans</a:t>
            </a:r>
            <a:endParaRPr sz="1000">
              <a:solidFill>
                <a:srgbClr val="334155"/>
              </a:solidFill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Jerárquico</a:t>
            </a:r>
            <a:endParaRPr sz="1000">
              <a:solidFill>
                <a:srgbClr val="334155"/>
              </a:solidFill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DBSCAN</a:t>
            </a:r>
            <a:endParaRPr sz="1000">
              <a:solidFill>
                <a:srgbClr val="334155"/>
              </a:solidFill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SilhouetteDunn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143000" y="4892040"/>
            <a:ext cx="9966960" cy="749808"/>
          </a:xfrm>
          <a:prstGeom prst="roundRect">
            <a:avLst>
              <a:gd fmla="val 9756" name="adj"/>
            </a:avLst>
          </a:prstGeom>
          <a:solidFill>
            <a:srgbClr val="DBF3F1"/>
          </a:solidFill>
          <a:ln cap="flat" cmpd="sng" w="9525">
            <a:solidFill>
              <a:srgbClr val="B9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1417320" y="5102352"/>
            <a:ext cx="9372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Criterio final de clasificación: Recall primero, luego F1-score y finalmente Accuracy. En un problema médico, el error más costoso es dejar pasar un maligno como benigno.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Modelo de clasificación: Regresión logística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Implementación, métricas principales e interpretación técnica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40080" y="126187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MODELO APLICADO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94350" y="1481325"/>
            <a:ext cx="3703200" cy="184710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822960" y="171907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Regresión logística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04675" y="2092300"/>
            <a:ext cx="3200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Modelo lineal usado como base interpretable.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entrenó sin PCA usando Pipeline con StandardScaler.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También se entrenó con 5 componentes principales.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 PCA mejora Recall y F1 en esta partición.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12645" y="4678622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66925" y="4898078"/>
            <a:ext cx="14172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94357" y="4962086"/>
            <a:ext cx="1362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Variante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984245" y="4898078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2011677" y="4962086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2551173" y="4898078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2578605" y="4962086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118101" y="4898078"/>
            <a:ext cx="6036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145533" y="4962086"/>
            <a:ext cx="5487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721605" y="4898078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749037" y="4962086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66925" y="5324798"/>
            <a:ext cx="14172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603501" y="5379662"/>
            <a:ext cx="1344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Log. - PCA 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984245" y="5324798"/>
            <a:ext cx="5670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2020821" y="537966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0.9737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551173" y="5324798"/>
            <a:ext cx="5670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2587749" y="537966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0.9756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118101" y="5324798"/>
            <a:ext cx="6036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154677" y="5379662"/>
            <a:ext cx="530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0.9524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721605" y="5324798"/>
            <a:ext cx="5670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758181" y="537966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0.9639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66925" y="5751518"/>
            <a:ext cx="14172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03501" y="5806382"/>
            <a:ext cx="1344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Log. - sin PCA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984245" y="5751518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2020821" y="580638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0.9649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551173" y="5751518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2587749" y="580638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0.9750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118101" y="5751518"/>
            <a:ext cx="6036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3154677" y="5806382"/>
            <a:ext cx="530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0.9286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721605" y="5751518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3758181" y="580638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0.9512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726575" y="1481313"/>
            <a:ext cx="17373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845447" y="1591040"/>
            <a:ext cx="149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Mejor variante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845447" y="1819640"/>
            <a:ext cx="1499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Log. - PCA 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845447" y="2194545"/>
            <a:ext cx="149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según Recall &gt; F1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555375" y="1481313"/>
            <a:ext cx="960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6674247" y="1591040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674247" y="1819640"/>
            <a:ext cx="72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0.952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674247" y="2194545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clase M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7652655" y="1481313"/>
            <a:ext cx="960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7771527" y="1591040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771527" y="1819640"/>
            <a:ext cx="72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0.964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771527" y="2194545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78553" y="3454829"/>
            <a:ext cx="3749100" cy="1097400"/>
          </a:xfrm>
          <a:prstGeom prst="roundRect">
            <a:avLst>
              <a:gd fmla="val 3960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779708" y="3619428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Lectura para defensa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779703" y="3893749"/>
            <a:ext cx="32919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 versión con PCA logra el mejor balance general: Recall 0.9524 y F1 0.9639. Esto sugiere que la frontera lineal sobre componentes principales fue suficiente para separar las clases.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3950" y="2615275"/>
            <a:ext cx="7361726" cy="35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Modelo de clasificación: KNN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Implementación, métricas principales e interpretación técnica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40080" y="126187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MODELO APLICADO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94350" y="1481327"/>
            <a:ext cx="3703200" cy="182880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822960" y="171907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K-Nearest Neighbors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04675" y="2125925"/>
            <a:ext cx="3200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Clasifica por cercanía a los vecinos más próximos.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validó la necesidad de escalado.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usó K=5 como configuración final.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comparó sin PCA y con PCA de 5 componentes.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30870" y="4466622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85150" y="4686078"/>
            <a:ext cx="14172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612582" y="4750086"/>
            <a:ext cx="1362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Variante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2002470" y="4686078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2029902" y="4750086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569398" y="4686078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2596830" y="4750086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136326" y="4686078"/>
            <a:ext cx="6036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3163758" y="4750086"/>
            <a:ext cx="5487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739830" y="4686078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3767262" y="4750086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85150" y="5112798"/>
            <a:ext cx="14172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21726" y="5167662"/>
            <a:ext cx="1344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KNN - sin PCA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2002470" y="5112798"/>
            <a:ext cx="5670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2039046" y="516766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0.9561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2569398" y="5112798"/>
            <a:ext cx="5670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2605974" y="516766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0.9744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3136326" y="5112798"/>
            <a:ext cx="6036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3172902" y="5167662"/>
            <a:ext cx="530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0.9048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739830" y="5112798"/>
            <a:ext cx="5670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3776406" y="516766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0.9383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85150" y="5539518"/>
            <a:ext cx="14172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621726" y="5594382"/>
            <a:ext cx="1344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KNN - PCA 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002470" y="5539518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2039046" y="559438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0.9474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2569398" y="5539518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2605974" y="559438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0.9737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136326" y="5539518"/>
            <a:ext cx="6036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3172902" y="5594382"/>
            <a:ext cx="530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0.8810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739830" y="5539518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3776406" y="5594382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0.9250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590300" y="1481325"/>
            <a:ext cx="17373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4709172" y="1591053"/>
            <a:ext cx="149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Mejor variante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709172" y="1819653"/>
            <a:ext cx="1499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KNN - sin PCA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709172" y="2194557"/>
            <a:ext cx="149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según Recall &gt; F1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419100" y="1481325"/>
            <a:ext cx="960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6537972" y="1591053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537972" y="1819653"/>
            <a:ext cx="72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0.905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537972" y="2194557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clase M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516380" y="1481325"/>
            <a:ext cx="960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635252" y="1591053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7635252" y="1819653"/>
            <a:ext cx="72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0.938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7635252" y="2194557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71400" y="3364973"/>
            <a:ext cx="3749100" cy="960000"/>
          </a:xfrm>
          <a:prstGeom prst="roundRect">
            <a:avLst>
              <a:gd fmla="val 3960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772568" y="3529562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Lectura para defensa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772575" y="3803879"/>
            <a:ext cx="32919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KNN depende de la distancia entre observaciones. Sin PCA tuvo mejor F1 que con PCA; aun así quedó por debajo de Logística y SVM en recall y F1.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9555480" y="251460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1401" y="2726825"/>
            <a:ext cx="7130497" cy="32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Modelo de clasificación: Árbol de decisión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Implementación, métricas principales e interpretación técnica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640080" y="126187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MODELO APLICADO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594350" y="1481327"/>
            <a:ext cx="3703200" cy="176490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822960" y="171907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Árbol de decisión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804675" y="2092300"/>
            <a:ext cx="3200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Modelo basado en reglas y cortes sobre variables.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ajustó max_depth=5 y min_samples_leaf=2.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comparó con variables originales y componentes PCA.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 el modelo más fácil de explicar visualmente.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89795" y="4420647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44075" y="4640103"/>
            <a:ext cx="14172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571507" y="4704111"/>
            <a:ext cx="1362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Variante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1961395" y="4640103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1988827" y="4704111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528323" y="4640103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2555755" y="4704111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095251" y="4640103"/>
            <a:ext cx="6036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3122683" y="4704111"/>
            <a:ext cx="5487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698755" y="4640103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3726187" y="4704111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544075" y="5066823"/>
            <a:ext cx="14172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580651" y="5121687"/>
            <a:ext cx="1344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Arbol - PCA 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1961395" y="5066823"/>
            <a:ext cx="5670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1997971" y="512168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0.9386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2528323" y="5066823"/>
            <a:ext cx="5670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2564899" y="512168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0.9487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095251" y="5066823"/>
            <a:ext cx="6036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3131827" y="5121687"/>
            <a:ext cx="530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0.8810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698755" y="5066823"/>
            <a:ext cx="5670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3735331" y="512168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0.9136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4075" y="5493543"/>
            <a:ext cx="14172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580651" y="5548407"/>
            <a:ext cx="1344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Arbol - sin PCA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1961395" y="5493543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1997971" y="554840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0.9123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2528323" y="5493543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2564899" y="554840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0.9444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095251" y="5493543"/>
            <a:ext cx="6036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3131827" y="5548407"/>
            <a:ext cx="530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0.8095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698755" y="5493543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3735331" y="554840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0.8718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30350" y="3325179"/>
            <a:ext cx="3749100" cy="960000"/>
          </a:xfrm>
          <a:prstGeom prst="roundRect">
            <a:avLst>
              <a:gd fmla="val 3960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731518" y="3489776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Lectura para defensa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731525" y="3764098"/>
            <a:ext cx="32919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árbol con PCA superó al árbol sin PCA, pero ambos quedaron por debajo de los modelos lineales y SVM. Su fortaleza principal es interpretabilidad, no rendimiento máximo.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8" title="6faa1390-17b1-492e-a85c-47f789a7882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9608" y="1807701"/>
            <a:ext cx="6983399" cy="36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8d14a280a_0_1"/>
          <p:cNvSpPr/>
          <p:nvPr/>
        </p:nvSpPr>
        <p:spPr>
          <a:xfrm>
            <a:off x="548640" y="320040"/>
            <a:ext cx="987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Modelo de clasificación: Árbol de decisión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e8d14a280a_0_1"/>
          <p:cNvSpPr/>
          <p:nvPr/>
        </p:nvSpPr>
        <p:spPr>
          <a:xfrm>
            <a:off x="566928" y="786384"/>
            <a:ext cx="987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Implementación, métricas principales e interpretación técnica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e8d14a280a_0_1"/>
          <p:cNvSpPr/>
          <p:nvPr/>
        </p:nvSpPr>
        <p:spPr>
          <a:xfrm>
            <a:off x="548640" y="1078992"/>
            <a:ext cx="914400" cy="54900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8d14a280a_0_1"/>
          <p:cNvSpPr/>
          <p:nvPr/>
        </p:nvSpPr>
        <p:spPr>
          <a:xfrm>
            <a:off x="640080" y="1261872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MODELO APLICADO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e8d14a280a_0_1"/>
          <p:cNvSpPr/>
          <p:nvPr/>
        </p:nvSpPr>
        <p:spPr>
          <a:xfrm>
            <a:off x="594350" y="1481327"/>
            <a:ext cx="3703200" cy="176490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e8d14a280a_0_1"/>
          <p:cNvSpPr/>
          <p:nvPr/>
        </p:nvSpPr>
        <p:spPr>
          <a:xfrm>
            <a:off x="822960" y="1719072"/>
            <a:ext cx="324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Árbol de decisión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e8d14a280a_0_1"/>
          <p:cNvSpPr/>
          <p:nvPr/>
        </p:nvSpPr>
        <p:spPr>
          <a:xfrm>
            <a:off x="804675" y="2092300"/>
            <a:ext cx="3200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Modelo basado en reglas y cortes sobre variables.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ajustó max_depth=5 y min_samples_leaf=2.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comparó con variables originales y componentes PCA.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 el modelo más fácil de explicar visualmente.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e8d14a280a_0_1"/>
          <p:cNvSpPr/>
          <p:nvPr/>
        </p:nvSpPr>
        <p:spPr>
          <a:xfrm>
            <a:off x="589795" y="4420647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e8d14a280a_0_1"/>
          <p:cNvSpPr/>
          <p:nvPr/>
        </p:nvSpPr>
        <p:spPr>
          <a:xfrm>
            <a:off x="544075" y="4640103"/>
            <a:ext cx="14172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e8d14a280a_0_1"/>
          <p:cNvSpPr/>
          <p:nvPr/>
        </p:nvSpPr>
        <p:spPr>
          <a:xfrm>
            <a:off x="571507" y="4704111"/>
            <a:ext cx="1362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Variante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e8d14a280a_0_1"/>
          <p:cNvSpPr/>
          <p:nvPr/>
        </p:nvSpPr>
        <p:spPr>
          <a:xfrm>
            <a:off x="1961395" y="4640103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e8d14a280a_0_1"/>
          <p:cNvSpPr/>
          <p:nvPr/>
        </p:nvSpPr>
        <p:spPr>
          <a:xfrm>
            <a:off x="1988827" y="4704111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e8d14a280a_0_1"/>
          <p:cNvSpPr/>
          <p:nvPr/>
        </p:nvSpPr>
        <p:spPr>
          <a:xfrm>
            <a:off x="2528323" y="4640103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e8d14a280a_0_1"/>
          <p:cNvSpPr/>
          <p:nvPr/>
        </p:nvSpPr>
        <p:spPr>
          <a:xfrm>
            <a:off x="2555755" y="4704111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e8d14a280a_0_1"/>
          <p:cNvSpPr/>
          <p:nvPr/>
        </p:nvSpPr>
        <p:spPr>
          <a:xfrm>
            <a:off x="3095251" y="4640103"/>
            <a:ext cx="6036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e8d14a280a_0_1"/>
          <p:cNvSpPr/>
          <p:nvPr/>
        </p:nvSpPr>
        <p:spPr>
          <a:xfrm>
            <a:off x="3122683" y="4704111"/>
            <a:ext cx="5487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e8d14a280a_0_1"/>
          <p:cNvSpPr/>
          <p:nvPr/>
        </p:nvSpPr>
        <p:spPr>
          <a:xfrm>
            <a:off x="3698755" y="4640103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e8d14a280a_0_1"/>
          <p:cNvSpPr/>
          <p:nvPr/>
        </p:nvSpPr>
        <p:spPr>
          <a:xfrm>
            <a:off x="3726187" y="4704111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e8d14a280a_0_1"/>
          <p:cNvSpPr/>
          <p:nvPr/>
        </p:nvSpPr>
        <p:spPr>
          <a:xfrm>
            <a:off x="544075" y="5066823"/>
            <a:ext cx="14172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e8d14a280a_0_1"/>
          <p:cNvSpPr/>
          <p:nvPr/>
        </p:nvSpPr>
        <p:spPr>
          <a:xfrm>
            <a:off x="580651" y="5121687"/>
            <a:ext cx="1344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Arbol - PCA 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e8d14a280a_0_1"/>
          <p:cNvSpPr/>
          <p:nvPr/>
        </p:nvSpPr>
        <p:spPr>
          <a:xfrm>
            <a:off x="1961395" y="5066823"/>
            <a:ext cx="5670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e8d14a280a_0_1"/>
          <p:cNvSpPr/>
          <p:nvPr/>
        </p:nvSpPr>
        <p:spPr>
          <a:xfrm>
            <a:off x="1997971" y="512168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0.9386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e8d14a280a_0_1"/>
          <p:cNvSpPr/>
          <p:nvPr/>
        </p:nvSpPr>
        <p:spPr>
          <a:xfrm>
            <a:off x="2528323" y="5066823"/>
            <a:ext cx="5670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8d14a280a_0_1"/>
          <p:cNvSpPr/>
          <p:nvPr/>
        </p:nvSpPr>
        <p:spPr>
          <a:xfrm>
            <a:off x="2564899" y="512168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0.9487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e8d14a280a_0_1"/>
          <p:cNvSpPr/>
          <p:nvPr/>
        </p:nvSpPr>
        <p:spPr>
          <a:xfrm>
            <a:off x="3095251" y="5066823"/>
            <a:ext cx="6036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e8d14a280a_0_1"/>
          <p:cNvSpPr/>
          <p:nvPr/>
        </p:nvSpPr>
        <p:spPr>
          <a:xfrm>
            <a:off x="3131827" y="5121687"/>
            <a:ext cx="530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0.8810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e8d14a280a_0_1"/>
          <p:cNvSpPr/>
          <p:nvPr/>
        </p:nvSpPr>
        <p:spPr>
          <a:xfrm>
            <a:off x="3698755" y="5066823"/>
            <a:ext cx="5670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e8d14a280a_0_1"/>
          <p:cNvSpPr/>
          <p:nvPr/>
        </p:nvSpPr>
        <p:spPr>
          <a:xfrm>
            <a:off x="3735331" y="512168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0.9136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e8d14a280a_0_1"/>
          <p:cNvSpPr/>
          <p:nvPr/>
        </p:nvSpPr>
        <p:spPr>
          <a:xfrm>
            <a:off x="544075" y="5493543"/>
            <a:ext cx="14172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e8d14a280a_0_1"/>
          <p:cNvSpPr/>
          <p:nvPr/>
        </p:nvSpPr>
        <p:spPr>
          <a:xfrm>
            <a:off x="580651" y="5548407"/>
            <a:ext cx="1344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Arbol - sin PCA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e8d14a280a_0_1"/>
          <p:cNvSpPr/>
          <p:nvPr/>
        </p:nvSpPr>
        <p:spPr>
          <a:xfrm>
            <a:off x="1961395" y="5493543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e8d14a280a_0_1"/>
          <p:cNvSpPr/>
          <p:nvPr/>
        </p:nvSpPr>
        <p:spPr>
          <a:xfrm>
            <a:off x="1997971" y="554840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0.9123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e8d14a280a_0_1"/>
          <p:cNvSpPr/>
          <p:nvPr/>
        </p:nvSpPr>
        <p:spPr>
          <a:xfrm>
            <a:off x="2528323" y="5493543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e8d14a280a_0_1"/>
          <p:cNvSpPr/>
          <p:nvPr/>
        </p:nvSpPr>
        <p:spPr>
          <a:xfrm>
            <a:off x="2564899" y="554840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0.9444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e8d14a280a_0_1"/>
          <p:cNvSpPr/>
          <p:nvPr/>
        </p:nvSpPr>
        <p:spPr>
          <a:xfrm>
            <a:off x="3095251" y="5493543"/>
            <a:ext cx="6036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e8d14a280a_0_1"/>
          <p:cNvSpPr/>
          <p:nvPr/>
        </p:nvSpPr>
        <p:spPr>
          <a:xfrm>
            <a:off x="3131827" y="5548407"/>
            <a:ext cx="530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0.8095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e8d14a280a_0_1"/>
          <p:cNvSpPr/>
          <p:nvPr/>
        </p:nvSpPr>
        <p:spPr>
          <a:xfrm>
            <a:off x="3698755" y="5493543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e8d14a280a_0_1"/>
          <p:cNvSpPr/>
          <p:nvPr/>
        </p:nvSpPr>
        <p:spPr>
          <a:xfrm>
            <a:off x="3735331" y="5548407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0.8718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e8d14a280a_0_1"/>
          <p:cNvSpPr/>
          <p:nvPr/>
        </p:nvSpPr>
        <p:spPr>
          <a:xfrm>
            <a:off x="4572000" y="1481325"/>
            <a:ext cx="17373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e8d14a280a_0_1"/>
          <p:cNvSpPr/>
          <p:nvPr/>
        </p:nvSpPr>
        <p:spPr>
          <a:xfrm>
            <a:off x="4690872" y="1591053"/>
            <a:ext cx="149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Mejor variante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e8d14a280a_0_1"/>
          <p:cNvSpPr/>
          <p:nvPr/>
        </p:nvSpPr>
        <p:spPr>
          <a:xfrm>
            <a:off x="4690872" y="1819653"/>
            <a:ext cx="1499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Arbol - PCA 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e8d14a280a_0_1"/>
          <p:cNvSpPr/>
          <p:nvPr/>
        </p:nvSpPr>
        <p:spPr>
          <a:xfrm>
            <a:off x="4690872" y="2194557"/>
            <a:ext cx="149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según Recall &gt; F1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e8d14a280a_0_1"/>
          <p:cNvSpPr/>
          <p:nvPr/>
        </p:nvSpPr>
        <p:spPr>
          <a:xfrm>
            <a:off x="6400800" y="1481325"/>
            <a:ext cx="960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e8d14a280a_0_1"/>
          <p:cNvSpPr/>
          <p:nvPr/>
        </p:nvSpPr>
        <p:spPr>
          <a:xfrm>
            <a:off x="6519672" y="1591053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e8d14a280a_0_1"/>
          <p:cNvSpPr/>
          <p:nvPr/>
        </p:nvSpPr>
        <p:spPr>
          <a:xfrm>
            <a:off x="6519672" y="1819653"/>
            <a:ext cx="72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0.881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e8d14a280a_0_1"/>
          <p:cNvSpPr/>
          <p:nvPr/>
        </p:nvSpPr>
        <p:spPr>
          <a:xfrm>
            <a:off x="6519672" y="2194557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clase M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e8d14a280a_0_1"/>
          <p:cNvSpPr/>
          <p:nvPr/>
        </p:nvSpPr>
        <p:spPr>
          <a:xfrm>
            <a:off x="7498080" y="1481325"/>
            <a:ext cx="960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e8d14a280a_0_1"/>
          <p:cNvSpPr/>
          <p:nvPr/>
        </p:nvSpPr>
        <p:spPr>
          <a:xfrm>
            <a:off x="7616952" y="1591053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e8d14a280a_0_1"/>
          <p:cNvSpPr/>
          <p:nvPr/>
        </p:nvSpPr>
        <p:spPr>
          <a:xfrm>
            <a:off x="7616952" y="1819653"/>
            <a:ext cx="72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0.914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e8d14a280a_0_1"/>
          <p:cNvSpPr/>
          <p:nvPr/>
        </p:nvSpPr>
        <p:spPr>
          <a:xfrm>
            <a:off x="7616952" y="2194557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e8d14a280a_0_1"/>
          <p:cNvSpPr/>
          <p:nvPr/>
        </p:nvSpPr>
        <p:spPr>
          <a:xfrm>
            <a:off x="530350" y="3325179"/>
            <a:ext cx="3749100" cy="960000"/>
          </a:xfrm>
          <a:prstGeom prst="roundRect">
            <a:avLst>
              <a:gd fmla="val 3960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e8d14a280a_0_1"/>
          <p:cNvSpPr/>
          <p:nvPr/>
        </p:nvSpPr>
        <p:spPr>
          <a:xfrm>
            <a:off x="731518" y="3489776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Lectura para defensa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e8d14a280a_0_1"/>
          <p:cNvSpPr/>
          <p:nvPr/>
        </p:nvSpPr>
        <p:spPr>
          <a:xfrm>
            <a:off x="731525" y="3764098"/>
            <a:ext cx="32919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árbol con PCA superó al árbol sin PCA, pero ambos quedaron por debajo de los modelos lineales y SVM. Su fortaleza principal es interpretabilidad, no rendimiento máximo.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e8d14a280a_0_1"/>
          <p:cNvSpPr txBox="1"/>
          <p:nvPr>
            <p:ph idx="4294967295" type="sldNum"/>
          </p:nvPr>
        </p:nvSpPr>
        <p:spPr>
          <a:xfrm>
            <a:off x="11155680" y="6519672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g3e8d14a280a_0_1" title="136026e9-4b2b-4d50-bc28-88fecabec8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651700"/>
            <a:ext cx="7286249" cy="340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9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Modelo de clasificación: Random Forest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Implementación, métricas principales e interpretación técnica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640080" y="126187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MODELO APLICADO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594350" y="1481327"/>
            <a:ext cx="3703200" cy="184710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822960" y="171907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822950" y="2152564"/>
            <a:ext cx="3200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Ensamble de múltiples árboles para reducir varianza.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entrenó sin PCA con 200 árboles.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entrenó con PCA usando 100 árboles.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revisó importancia de variables en la versión sin PCA.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630933" y="4564121"/>
            <a:ext cx="2194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585213" y="4783577"/>
            <a:ext cx="14172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612645" y="4847585"/>
            <a:ext cx="1362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Variante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2002533" y="4783577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2029965" y="4847585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2569461" y="4783577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2596893" y="4847585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3136388" y="4783577"/>
            <a:ext cx="6036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3163821" y="4847585"/>
            <a:ext cx="5487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3739893" y="4783577"/>
            <a:ext cx="567000" cy="4266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3767325" y="4847585"/>
            <a:ext cx="5121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585213" y="5210297"/>
            <a:ext cx="14172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621788" y="5265161"/>
            <a:ext cx="1344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RF - sin PCA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2002533" y="5210297"/>
            <a:ext cx="5670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2039109" y="5265161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0.9649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2569461" y="5210297"/>
            <a:ext cx="567000" cy="42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2606037" y="5265161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1.0000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3136388" y="5210297"/>
            <a:ext cx="6036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3172965" y="5265161"/>
            <a:ext cx="530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0.9048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3739893" y="5210297"/>
            <a:ext cx="5670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3776469" y="5265161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0.9500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585213" y="5637017"/>
            <a:ext cx="14172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621788" y="5691881"/>
            <a:ext cx="1344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RF - PCA 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2002533" y="5637017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2039109" y="5691881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0.9561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2569461" y="5637017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2606037" y="5691881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0.9744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3136388" y="5637017"/>
            <a:ext cx="603600" cy="4266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3172965" y="5691881"/>
            <a:ext cx="530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0.9048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3739893" y="5637017"/>
            <a:ext cx="567000" cy="4266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3776469" y="5691881"/>
            <a:ext cx="493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0.9383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4571938" y="1481325"/>
            <a:ext cx="17373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4690810" y="1591053"/>
            <a:ext cx="149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Mejor variante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4690810" y="1819653"/>
            <a:ext cx="1499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RF - sin PCA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690810" y="2194557"/>
            <a:ext cx="149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según Recall &gt; F1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6400738" y="1481325"/>
            <a:ext cx="960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6519610" y="1591053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6519610" y="1819653"/>
            <a:ext cx="72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0.905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6519610" y="2194557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clase M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7498018" y="1481325"/>
            <a:ext cx="9600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7616890" y="1591053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7616890" y="1819653"/>
            <a:ext cx="72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0.950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7616890" y="2194557"/>
            <a:ext cx="72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548625" y="3383273"/>
            <a:ext cx="3749100" cy="1041600"/>
          </a:xfrm>
          <a:prstGeom prst="roundRect">
            <a:avLst>
              <a:gd fmla="val 3960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749793" y="3547862"/>
            <a:ext cx="3291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Lectura para defensa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749800" y="3822179"/>
            <a:ext cx="32919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Random Forest sin PCA obtuvo Precision perfecta y F1 alto, pero su Recall fue menor que Logística con PCA y SVM. Es robusto, aunque menos interpretable que un árbol.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_v2/rf_importance.png" id="424" name="Google Shape;4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50" y="2615275"/>
            <a:ext cx="5569902" cy="349687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9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Modelo de clasificación: SVM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Implementación, métricas principales e interpretación técnica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640080" y="126187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MODELO APLICADO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594360" y="1481328"/>
            <a:ext cx="3703320" cy="452628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822960" y="171907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Support Vector Machine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822960" y="2212848"/>
            <a:ext cx="3200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Busca una frontera de separación con margen máximo.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usó kernel RBF en el notebook.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Requiere escalado por sensibilidad a magnitudes.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comparó sin PCA y con PCA.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617720" y="126187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4572000" y="1481328"/>
            <a:ext cx="1417320" cy="42672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4599432" y="1545336"/>
            <a:ext cx="1362456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Variante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5989320" y="1481328"/>
            <a:ext cx="566928" cy="42672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0"/>
          <p:cNvSpPr/>
          <p:nvPr/>
        </p:nvSpPr>
        <p:spPr>
          <a:xfrm>
            <a:off x="6016752" y="1545336"/>
            <a:ext cx="512064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6556248" y="1481328"/>
            <a:ext cx="566928" cy="42672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6583680" y="1545336"/>
            <a:ext cx="512064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7123176" y="1481328"/>
            <a:ext cx="603504" cy="42672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7150608" y="1545336"/>
            <a:ext cx="5486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7726680" y="1481328"/>
            <a:ext cx="566928" cy="42672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7754112" y="1545336"/>
            <a:ext cx="512064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4572000" y="1908048"/>
            <a:ext cx="1417320" cy="426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4608576" y="1962912"/>
            <a:ext cx="1344168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SVM - sin PCA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5989320" y="1908048"/>
            <a:ext cx="566928" cy="426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6025896" y="196291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0.9737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6556248" y="1908048"/>
            <a:ext cx="566928" cy="426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6592824" y="196291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1.0000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7123176" y="1908048"/>
            <a:ext cx="603504" cy="42672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7159752" y="1962912"/>
            <a:ext cx="530352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0.9286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7726680" y="1908048"/>
            <a:ext cx="566928" cy="42672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7763256" y="196291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0.9630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4572000" y="2334768"/>
            <a:ext cx="1417320" cy="42672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4608576" y="2389632"/>
            <a:ext cx="1344168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SVM - PCA 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5989320" y="2334768"/>
            <a:ext cx="566928" cy="42672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6025896" y="238963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0.9649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6556248" y="2334768"/>
            <a:ext cx="566928" cy="42672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6592824" y="238963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0.9750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7123176" y="2334768"/>
            <a:ext cx="603504" cy="42672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7159752" y="2389632"/>
            <a:ext cx="530352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0.9286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7726680" y="2334768"/>
            <a:ext cx="566928" cy="42672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7763256" y="238963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0.9512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4572000" y="2971800"/>
            <a:ext cx="16761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0"/>
          <p:cNvSpPr/>
          <p:nvPr/>
        </p:nvSpPr>
        <p:spPr>
          <a:xfrm>
            <a:off x="4686675" y="3081529"/>
            <a:ext cx="1446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Mejor variante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4686675" y="3310130"/>
            <a:ext cx="14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SVM - sin PCA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4686675" y="3685036"/>
            <a:ext cx="1446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según Recall &gt; F1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6336230" y="2971800"/>
            <a:ext cx="9264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6450905" y="3081529"/>
            <a:ext cx="69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6450905" y="3310130"/>
            <a:ext cx="696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0.929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6450905" y="3685036"/>
            <a:ext cx="69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clase M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7394768" y="2971800"/>
            <a:ext cx="9264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0"/>
          <p:cNvSpPr/>
          <p:nvPr/>
        </p:nvSpPr>
        <p:spPr>
          <a:xfrm>
            <a:off x="7509443" y="3081529"/>
            <a:ext cx="69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7509443" y="3310130"/>
            <a:ext cx="696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0.963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7509443" y="3685036"/>
            <a:ext cx="69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4572000" y="4160520"/>
            <a:ext cx="3749040" cy="1847088"/>
          </a:xfrm>
          <a:prstGeom prst="roundRect">
            <a:avLst>
              <a:gd fmla="val 3960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0"/>
          <p:cNvSpPr/>
          <p:nvPr/>
        </p:nvSpPr>
        <p:spPr>
          <a:xfrm>
            <a:off x="4773168" y="432511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Lectura para defensa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4773168" y="4599432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SVM sin PCA fue el segundo mejor modelo por F1, con Accuracy empatado con Logística con PCA. Su principal límite es menor interpretabilidad y sensibilidad a hiperparámetros.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0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8154" y="700550"/>
            <a:ext cx="3043995" cy="272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8150" y="3512600"/>
            <a:ext cx="3043998" cy="2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1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Modelo de clasificación: Naive Bayes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566928" y="786384"/>
            <a:ext cx="987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Implementación, métricas principales e interpretación técnica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640080" y="126187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MODELO APLICADO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594360" y="1481328"/>
            <a:ext cx="3703320" cy="452628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822960" y="171907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Gaussian Naive Bayes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822960" y="2212848"/>
            <a:ext cx="3200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Modelo probabilístico rápido y simple.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Asume independencia condicional entre variables.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 aplicó sobre variables originales y PCA.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Sirve como baseline probabilístico.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4617720" y="1261872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4572000" y="1481328"/>
            <a:ext cx="1417320" cy="42672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4599432" y="1545336"/>
            <a:ext cx="1362456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Variante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5989320" y="1481328"/>
            <a:ext cx="566928" cy="42672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1"/>
          <p:cNvSpPr/>
          <p:nvPr/>
        </p:nvSpPr>
        <p:spPr>
          <a:xfrm>
            <a:off x="6016752" y="1545336"/>
            <a:ext cx="512064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6556248" y="1481328"/>
            <a:ext cx="566928" cy="42672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1"/>
          <p:cNvSpPr/>
          <p:nvPr/>
        </p:nvSpPr>
        <p:spPr>
          <a:xfrm>
            <a:off x="6583680" y="1545336"/>
            <a:ext cx="512064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7123176" y="1481328"/>
            <a:ext cx="603504" cy="42672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1"/>
          <p:cNvSpPr/>
          <p:nvPr/>
        </p:nvSpPr>
        <p:spPr>
          <a:xfrm>
            <a:off x="7150608" y="1545336"/>
            <a:ext cx="548640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7726680" y="1481328"/>
            <a:ext cx="566928" cy="42672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7754112" y="1545336"/>
            <a:ext cx="512064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4572000" y="1908048"/>
            <a:ext cx="1417320" cy="426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1"/>
          <p:cNvSpPr/>
          <p:nvPr/>
        </p:nvSpPr>
        <p:spPr>
          <a:xfrm>
            <a:off x="4608576" y="1962912"/>
            <a:ext cx="1344168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Naive B. - sin PCA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5989320" y="1908048"/>
            <a:ext cx="566928" cy="426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6025896" y="196291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0.9386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1"/>
          <p:cNvSpPr/>
          <p:nvPr/>
        </p:nvSpPr>
        <p:spPr>
          <a:xfrm>
            <a:off x="6556248" y="1908048"/>
            <a:ext cx="566928" cy="426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1"/>
          <p:cNvSpPr/>
          <p:nvPr/>
        </p:nvSpPr>
        <p:spPr>
          <a:xfrm>
            <a:off x="6592824" y="196291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1.0000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7123176" y="1908048"/>
            <a:ext cx="603504" cy="42672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1"/>
          <p:cNvSpPr/>
          <p:nvPr/>
        </p:nvSpPr>
        <p:spPr>
          <a:xfrm>
            <a:off x="7159752" y="1962912"/>
            <a:ext cx="530352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0.8333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7726680" y="1908048"/>
            <a:ext cx="566928" cy="42672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7763256" y="196291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0.9091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4572000" y="2334768"/>
            <a:ext cx="1417320" cy="42672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4608576" y="2389632"/>
            <a:ext cx="1344168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Naive B. - PCA 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5989320" y="2334768"/>
            <a:ext cx="566928" cy="42672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1"/>
          <p:cNvSpPr/>
          <p:nvPr/>
        </p:nvSpPr>
        <p:spPr>
          <a:xfrm>
            <a:off x="6025896" y="238963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0.9035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1"/>
          <p:cNvSpPr/>
          <p:nvPr/>
        </p:nvSpPr>
        <p:spPr>
          <a:xfrm>
            <a:off x="6556248" y="2334768"/>
            <a:ext cx="566928" cy="42672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6592824" y="238963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0.9189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7123176" y="2334768"/>
            <a:ext cx="603504" cy="42672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1"/>
          <p:cNvSpPr/>
          <p:nvPr/>
        </p:nvSpPr>
        <p:spPr>
          <a:xfrm>
            <a:off x="7159752" y="2389632"/>
            <a:ext cx="530352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0.8095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1"/>
          <p:cNvSpPr/>
          <p:nvPr/>
        </p:nvSpPr>
        <p:spPr>
          <a:xfrm>
            <a:off x="7726680" y="2334768"/>
            <a:ext cx="566928" cy="42672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7763256" y="2389632"/>
            <a:ext cx="493776" cy="353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20"/>
              <a:buFont typeface="Arial"/>
              <a:buNone/>
            </a:pPr>
            <a:r>
              <a:rPr lang="en-US" sz="7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0.8608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1"/>
          <p:cNvSpPr/>
          <p:nvPr/>
        </p:nvSpPr>
        <p:spPr>
          <a:xfrm>
            <a:off x="4572000" y="2971800"/>
            <a:ext cx="16761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1"/>
          <p:cNvSpPr/>
          <p:nvPr/>
        </p:nvSpPr>
        <p:spPr>
          <a:xfrm>
            <a:off x="4686677" y="3081529"/>
            <a:ext cx="1446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Mejor variante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1"/>
          <p:cNvSpPr/>
          <p:nvPr/>
        </p:nvSpPr>
        <p:spPr>
          <a:xfrm>
            <a:off x="4686677" y="3310130"/>
            <a:ext cx="14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Naive B. - sin PCA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1"/>
          <p:cNvSpPr/>
          <p:nvPr/>
        </p:nvSpPr>
        <p:spPr>
          <a:xfrm>
            <a:off x="4686677" y="3685036"/>
            <a:ext cx="1446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según Recall &gt; F1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1"/>
          <p:cNvSpPr/>
          <p:nvPr/>
        </p:nvSpPr>
        <p:spPr>
          <a:xfrm>
            <a:off x="6336259" y="2971800"/>
            <a:ext cx="9261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1"/>
          <p:cNvSpPr/>
          <p:nvPr/>
        </p:nvSpPr>
        <p:spPr>
          <a:xfrm>
            <a:off x="6450936" y="3081529"/>
            <a:ext cx="69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6450936" y="3310130"/>
            <a:ext cx="696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0.833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1"/>
          <p:cNvSpPr/>
          <p:nvPr/>
        </p:nvSpPr>
        <p:spPr>
          <a:xfrm>
            <a:off x="6450936" y="3685036"/>
            <a:ext cx="69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clase M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1"/>
          <p:cNvSpPr/>
          <p:nvPr/>
        </p:nvSpPr>
        <p:spPr>
          <a:xfrm>
            <a:off x="7394814" y="2971800"/>
            <a:ext cx="926100" cy="96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1"/>
          <p:cNvSpPr/>
          <p:nvPr/>
        </p:nvSpPr>
        <p:spPr>
          <a:xfrm>
            <a:off x="7509491" y="3081529"/>
            <a:ext cx="69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1"/>
          <p:cNvSpPr/>
          <p:nvPr/>
        </p:nvSpPr>
        <p:spPr>
          <a:xfrm>
            <a:off x="7509491" y="3310130"/>
            <a:ext cx="696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0.909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1"/>
          <p:cNvSpPr/>
          <p:nvPr/>
        </p:nvSpPr>
        <p:spPr>
          <a:xfrm>
            <a:off x="7509491" y="3685036"/>
            <a:ext cx="696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1"/>
          <p:cNvSpPr/>
          <p:nvPr/>
        </p:nvSpPr>
        <p:spPr>
          <a:xfrm>
            <a:off x="4572000" y="4160520"/>
            <a:ext cx="3749040" cy="1847088"/>
          </a:xfrm>
          <a:prstGeom prst="roundRect">
            <a:avLst>
              <a:gd fmla="val 3960" name="adj"/>
            </a:avLst>
          </a:prstGeom>
          <a:solidFill>
            <a:srgbClr val="F8FAFC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4773168" y="432511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Lectura para defensa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4773168" y="4599432"/>
            <a:ext cx="3291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Naive Bayes logró Precision alta sin PCA, pero el Recall fue bajo. La correlación entre variables del dataset debilita el supuesto de independencia.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1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6" name="Google Shape;54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0527" y="809176"/>
            <a:ext cx="2929349" cy="26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9700" y="3630175"/>
            <a:ext cx="2929349" cy="2624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2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Modelos de regresión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Predicción de una variable continua: area_worst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2"/>
          <p:cNvSpPr/>
          <p:nvPr/>
        </p:nvSpPr>
        <p:spPr>
          <a:xfrm>
            <a:off x="685800" y="12344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Modelos evaluados: Lineal, Ridge, Lasso, Árbol de Regresión y Random Forest Regressor; cada uno se comparó sin PCA y con PCA.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685800" y="1783080"/>
            <a:ext cx="2834640" cy="36576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2"/>
          <p:cNvSpPr/>
          <p:nvPr/>
        </p:nvSpPr>
        <p:spPr>
          <a:xfrm>
            <a:off x="713232" y="1847088"/>
            <a:ext cx="27797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3520440" y="1783080"/>
            <a:ext cx="914400" cy="36576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3547872" y="1847088"/>
            <a:ext cx="859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4434840" y="1783080"/>
            <a:ext cx="914400" cy="36576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4462272" y="1847088"/>
            <a:ext cx="859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5349240" y="1783080"/>
            <a:ext cx="914400" cy="36576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5376672" y="1847088"/>
            <a:ext cx="8595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R²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685800" y="2148840"/>
            <a:ext cx="2834640" cy="36576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722376" y="2203704"/>
            <a:ext cx="2761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Lasso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3520440" y="2148840"/>
            <a:ext cx="914400" cy="36576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3557016" y="220370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21.2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4434840" y="2148840"/>
            <a:ext cx="914400" cy="36576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2"/>
          <p:cNvSpPr/>
          <p:nvPr/>
        </p:nvSpPr>
        <p:spPr>
          <a:xfrm>
            <a:off x="4471416" y="220370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35.5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5349240" y="2148840"/>
            <a:ext cx="914400" cy="36576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2"/>
          <p:cNvSpPr/>
          <p:nvPr/>
        </p:nvSpPr>
        <p:spPr>
          <a:xfrm>
            <a:off x="5385816" y="220370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0.9962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685800" y="2514600"/>
            <a:ext cx="283464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722376" y="2569464"/>
            <a:ext cx="2761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Lineal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3520440" y="251460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2"/>
          <p:cNvSpPr/>
          <p:nvPr/>
        </p:nvSpPr>
        <p:spPr>
          <a:xfrm>
            <a:off x="3557016" y="256946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21.3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4434840" y="251460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2"/>
          <p:cNvSpPr/>
          <p:nvPr/>
        </p:nvSpPr>
        <p:spPr>
          <a:xfrm>
            <a:off x="4471416" y="256946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35.6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2"/>
          <p:cNvSpPr/>
          <p:nvPr/>
        </p:nvSpPr>
        <p:spPr>
          <a:xfrm>
            <a:off x="5349240" y="251460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2"/>
          <p:cNvSpPr/>
          <p:nvPr/>
        </p:nvSpPr>
        <p:spPr>
          <a:xfrm>
            <a:off x="5385816" y="256946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0.9962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2"/>
          <p:cNvSpPr/>
          <p:nvPr/>
        </p:nvSpPr>
        <p:spPr>
          <a:xfrm>
            <a:off x="685800" y="2880360"/>
            <a:ext cx="283464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2"/>
          <p:cNvSpPr/>
          <p:nvPr/>
        </p:nvSpPr>
        <p:spPr>
          <a:xfrm>
            <a:off x="722376" y="2935224"/>
            <a:ext cx="2761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Ridge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2"/>
          <p:cNvSpPr/>
          <p:nvPr/>
        </p:nvSpPr>
        <p:spPr>
          <a:xfrm>
            <a:off x="3520440" y="288036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3557016" y="293522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23.5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4434840" y="288036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4471416" y="293522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40.1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2"/>
          <p:cNvSpPr/>
          <p:nvPr/>
        </p:nvSpPr>
        <p:spPr>
          <a:xfrm>
            <a:off x="5349240" y="288036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5385816" y="293522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0.9951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2"/>
          <p:cNvSpPr/>
          <p:nvPr/>
        </p:nvSpPr>
        <p:spPr>
          <a:xfrm>
            <a:off x="685800" y="3246120"/>
            <a:ext cx="283464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2"/>
          <p:cNvSpPr/>
          <p:nvPr/>
        </p:nvSpPr>
        <p:spPr>
          <a:xfrm>
            <a:off x="722376" y="3300984"/>
            <a:ext cx="2761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RF Reg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2"/>
          <p:cNvSpPr/>
          <p:nvPr/>
        </p:nvSpPr>
        <p:spPr>
          <a:xfrm>
            <a:off x="3520440" y="324612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2"/>
          <p:cNvSpPr/>
          <p:nvPr/>
        </p:nvSpPr>
        <p:spPr>
          <a:xfrm>
            <a:off x="3557016" y="330098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26.3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2"/>
          <p:cNvSpPr/>
          <p:nvPr/>
        </p:nvSpPr>
        <p:spPr>
          <a:xfrm>
            <a:off x="4434840" y="324612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2"/>
          <p:cNvSpPr/>
          <p:nvPr/>
        </p:nvSpPr>
        <p:spPr>
          <a:xfrm>
            <a:off x="4471416" y="330098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64.6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2"/>
          <p:cNvSpPr/>
          <p:nvPr/>
        </p:nvSpPr>
        <p:spPr>
          <a:xfrm>
            <a:off x="5349240" y="324612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2"/>
          <p:cNvSpPr/>
          <p:nvPr/>
        </p:nvSpPr>
        <p:spPr>
          <a:xfrm>
            <a:off x="5385816" y="330098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0.9874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2"/>
          <p:cNvSpPr/>
          <p:nvPr/>
        </p:nvSpPr>
        <p:spPr>
          <a:xfrm>
            <a:off x="685800" y="3611880"/>
            <a:ext cx="283464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2"/>
          <p:cNvSpPr/>
          <p:nvPr/>
        </p:nvSpPr>
        <p:spPr>
          <a:xfrm>
            <a:off x="722376" y="3666744"/>
            <a:ext cx="2761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Arbol Reg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2"/>
          <p:cNvSpPr/>
          <p:nvPr/>
        </p:nvSpPr>
        <p:spPr>
          <a:xfrm>
            <a:off x="3520440" y="361188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2"/>
          <p:cNvSpPr/>
          <p:nvPr/>
        </p:nvSpPr>
        <p:spPr>
          <a:xfrm>
            <a:off x="3557016" y="366674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30.6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2"/>
          <p:cNvSpPr/>
          <p:nvPr/>
        </p:nvSpPr>
        <p:spPr>
          <a:xfrm>
            <a:off x="4434840" y="361188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2"/>
          <p:cNvSpPr/>
          <p:nvPr/>
        </p:nvSpPr>
        <p:spPr>
          <a:xfrm>
            <a:off x="4471416" y="366674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70.6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2"/>
          <p:cNvSpPr/>
          <p:nvPr/>
        </p:nvSpPr>
        <p:spPr>
          <a:xfrm>
            <a:off x="5349240" y="361188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2"/>
          <p:cNvSpPr/>
          <p:nvPr/>
        </p:nvSpPr>
        <p:spPr>
          <a:xfrm>
            <a:off x="5385816" y="366674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0.9849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2"/>
          <p:cNvSpPr/>
          <p:nvPr/>
        </p:nvSpPr>
        <p:spPr>
          <a:xfrm>
            <a:off x="685800" y="3977640"/>
            <a:ext cx="283464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2"/>
          <p:cNvSpPr/>
          <p:nvPr/>
        </p:nvSpPr>
        <p:spPr>
          <a:xfrm>
            <a:off x="722376" y="4032504"/>
            <a:ext cx="2761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RF Reg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2"/>
          <p:cNvSpPr/>
          <p:nvPr/>
        </p:nvSpPr>
        <p:spPr>
          <a:xfrm>
            <a:off x="3520440" y="397764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2"/>
          <p:cNvSpPr/>
          <p:nvPr/>
        </p:nvSpPr>
        <p:spPr>
          <a:xfrm>
            <a:off x="3557016" y="403250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77.9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2"/>
          <p:cNvSpPr/>
          <p:nvPr/>
        </p:nvSpPr>
        <p:spPr>
          <a:xfrm>
            <a:off x="4434840" y="397764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2"/>
          <p:cNvSpPr/>
          <p:nvPr/>
        </p:nvSpPr>
        <p:spPr>
          <a:xfrm>
            <a:off x="4471416" y="403250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133.4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2"/>
          <p:cNvSpPr/>
          <p:nvPr/>
        </p:nvSpPr>
        <p:spPr>
          <a:xfrm>
            <a:off x="5349240" y="397764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2"/>
          <p:cNvSpPr/>
          <p:nvPr/>
        </p:nvSpPr>
        <p:spPr>
          <a:xfrm>
            <a:off x="5385816" y="403250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0.9463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2"/>
          <p:cNvSpPr/>
          <p:nvPr/>
        </p:nvSpPr>
        <p:spPr>
          <a:xfrm>
            <a:off x="685800" y="4343400"/>
            <a:ext cx="283464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2"/>
          <p:cNvSpPr/>
          <p:nvPr/>
        </p:nvSpPr>
        <p:spPr>
          <a:xfrm>
            <a:off x="722376" y="4398264"/>
            <a:ext cx="2761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Lasso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2"/>
          <p:cNvSpPr/>
          <p:nvPr/>
        </p:nvSpPr>
        <p:spPr>
          <a:xfrm>
            <a:off x="3520440" y="434340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2"/>
          <p:cNvSpPr/>
          <p:nvPr/>
        </p:nvSpPr>
        <p:spPr>
          <a:xfrm>
            <a:off x="3557016" y="439826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82.7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2"/>
          <p:cNvSpPr/>
          <p:nvPr/>
        </p:nvSpPr>
        <p:spPr>
          <a:xfrm>
            <a:off x="4434840" y="434340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2"/>
          <p:cNvSpPr/>
          <p:nvPr/>
        </p:nvSpPr>
        <p:spPr>
          <a:xfrm>
            <a:off x="4471416" y="439826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142.6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2"/>
          <p:cNvSpPr/>
          <p:nvPr/>
        </p:nvSpPr>
        <p:spPr>
          <a:xfrm>
            <a:off x="5349240" y="434340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2"/>
          <p:cNvSpPr/>
          <p:nvPr/>
        </p:nvSpPr>
        <p:spPr>
          <a:xfrm>
            <a:off x="5385816" y="439826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0.9387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2"/>
          <p:cNvSpPr/>
          <p:nvPr/>
        </p:nvSpPr>
        <p:spPr>
          <a:xfrm>
            <a:off x="685800" y="4709160"/>
            <a:ext cx="283464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2"/>
          <p:cNvSpPr/>
          <p:nvPr/>
        </p:nvSpPr>
        <p:spPr>
          <a:xfrm>
            <a:off x="722376" y="4764024"/>
            <a:ext cx="2761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Lineal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2"/>
          <p:cNvSpPr/>
          <p:nvPr/>
        </p:nvSpPr>
        <p:spPr>
          <a:xfrm>
            <a:off x="3520440" y="470916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2"/>
          <p:cNvSpPr/>
          <p:nvPr/>
        </p:nvSpPr>
        <p:spPr>
          <a:xfrm>
            <a:off x="3557016" y="476402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82.7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2"/>
          <p:cNvSpPr/>
          <p:nvPr/>
        </p:nvSpPr>
        <p:spPr>
          <a:xfrm>
            <a:off x="4434840" y="470916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2"/>
          <p:cNvSpPr/>
          <p:nvPr/>
        </p:nvSpPr>
        <p:spPr>
          <a:xfrm>
            <a:off x="4471416" y="476402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142.6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2"/>
          <p:cNvSpPr/>
          <p:nvPr/>
        </p:nvSpPr>
        <p:spPr>
          <a:xfrm>
            <a:off x="5349240" y="470916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2"/>
          <p:cNvSpPr/>
          <p:nvPr/>
        </p:nvSpPr>
        <p:spPr>
          <a:xfrm>
            <a:off x="5385816" y="476402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0.9387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2"/>
          <p:cNvSpPr/>
          <p:nvPr/>
        </p:nvSpPr>
        <p:spPr>
          <a:xfrm>
            <a:off x="685800" y="5074920"/>
            <a:ext cx="283464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2"/>
          <p:cNvSpPr/>
          <p:nvPr/>
        </p:nvSpPr>
        <p:spPr>
          <a:xfrm>
            <a:off x="722376" y="5129784"/>
            <a:ext cx="2761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Ridge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2"/>
          <p:cNvSpPr/>
          <p:nvPr/>
        </p:nvSpPr>
        <p:spPr>
          <a:xfrm>
            <a:off x="3520440" y="507492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2"/>
          <p:cNvSpPr/>
          <p:nvPr/>
        </p:nvSpPr>
        <p:spPr>
          <a:xfrm>
            <a:off x="3557016" y="512978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82.6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2"/>
          <p:cNvSpPr/>
          <p:nvPr/>
        </p:nvSpPr>
        <p:spPr>
          <a:xfrm>
            <a:off x="4434840" y="507492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2"/>
          <p:cNvSpPr/>
          <p:nvPr/>
        </p:nvSpPr>
        <p:spPr>
          <a:xfrm>
            <a:off x="4471416" y="512978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142.6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2"/>
          <p:cNvSpPr/>
          <p:nvPr/>
        </p:nvSpPr>
        <p:spPr>
          <a:xfrm>
            <a:off x="5349240" y="5074920"/>
            <a:ext cx="9144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2"/>
          <p:cNvSpPr/>
          <p:nvPr/>
        </p:nvSpPr>
        <p:spPr>
          <a:xfrm>
            <a:off x="5385816" y="512978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0.9387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2"/>
          <p:cNvSpPr/>
          <p:nvPr/>
        </p:nvSpPr>
        <p:spPr>
          <a:xfrm>
            <a:off x="685800" y="5440680"/>
            <a:ext cx="283464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2"/>
          <p:cNvSpPr/>
          <p:nvPr/>
        </p:nvSpPr>
        <p:spPr>
          <a:xfrm>
            <a:off x="722376" y="5495544"/>
            <a:ext cx="27614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Arbol Reg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2"/>
          <p:cNvSpPr/>
          <p:nvPr/>
        </p:nvSpPr>
        <p:spPr>
          <a:xfrm>
            <a:off x="3520440" y="544068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2"/>
          <p:cNvSpPr/>
          <p:nvPr/>
        </p:nvSpPr>
        <p:spPr>
          <a:xfrm>
            <a:off x="3557016" y="549554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130.3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4434840" y="544068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2"/>
          <p:cNvSpPr/>
          <p:nvPr/>
        </p:nvSpPr>
        <p:spPr>
          <a:xfrm>
            <a:off x="4471416" y="549554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223.2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5349240" y="5440680"/>
            <a:ext cx="914400" cy="36576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2"/>
          <p:cNvSpPr/>
          <p:nvPr/>
        </p:nvSpPr>
        <p:spPr>
          <a:xfrm>
            <a:off x="5385816" y="5495544"/>
            <a:ext cx="8412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0.8497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_v2/regression_rmse.png" id="645" name="Google Shape;6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1508760"/>
            <a:ext cx="4846320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12"/>
          <p:cNvSpPr/>
          <p:nvPr/>
        </p:nvSpPr>
        <p:spPr>
          <a:xfrm>
            <a:off x="6903720" y="4617720"/>
            <a:ext cx="425196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2"/>
          <p:cNvSpPr/>
          <p:nvPr/>
        </p:nvSpPr>
        <p:spPr>
          <a:xfrm>
            <a:off x="7132320" y="4800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Mejor regresión: Lasso sin PCA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7132320" y="51389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RMSE = 35.55 y R² = 0.9962. El modelo lineal penalizado funcionó mejor que alternativas más complejas.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2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3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PCA: reducción de dimensionalidad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3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Uso de 5 componentes principales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3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_assets_v2/pca_scree.png" id="658" name="Google Shape;6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5" y="1530400"/>
            <a:ext cx="5422176" cy="37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13"/>
          <p:cNvSpPr/>
          <p:nvPr/>
        </p:nvSpPr>
        <p:spPr>
          <a:xfrm>
            <a:off x="6290770" y="1508708"/>
            <a:ext cx="12345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3"/>
          <p:cNvSpPr/>
          <p:nvPr/>
        </p:nvSpPr>
        <p:spPr>
          <a:xfrm>
            <a:off x="6409642" y="1618436"/>
            <a:ext cx="996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3"/>
          <p:cNvSpPr/>
          <p:nvPr/>
        </p:nvSpPr>
        <p:spPr>
          <a:xfrm>
            <a:off x="6409642" y="1847036"/>
            <a:ext cx="99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3"/>
          <p:cNvSpPr/>
          <p:nvPr/>
        </p:nvSpPr>
        <p:spPr>
          <a:xfrm>
            <a:off x="7708090" y="1508708"/>
            <a:ext cx="18288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3"/>
          <p:cNvSpPr/>
          <p:nvPr/>
        </p:nvSpPr>
        <p:spPr>
          <a:xfrm>
            <a:off x="7826962" y="1618436"/>
            <a:ext cx="1591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Varianza acumulada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3"/>
          <p:cNvSpPr/>
          <p:nvPr/>
        </p:nvSpPr>
        <p:spPr>
          <a:xfrm>
            <a:off x="7826962" y="1847036"/>
            <a:ext cx="1591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84.94%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3"/>
          <p:cNvSpPr/>
          <p:nvPr/>
        </p:nvSpPr>
        <p:spPr>
          <a:xfrm>
            <a:off x="6290770" y="2880307"/>
            <a:ext cx="5166300" cy="2469000"/>
          </a:xfrm>
          <a:prstGeom prst="roundRect">
            <a:avLst>
              <a:gd fmla="val 2963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3"/>
          <p:cNvSpPr/>
          <p:nvPr/>
        </p:nvSpPr>
        <p:spPr>
          <a:xfrm>
            <a:off x="6565090" y="3127196"/>
            <a:ext cx="448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Por qué se usó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3"/>
          <p:cNvSpPr/>
          <p:nvPr/>
        </p:nvSpPr>
        <p:spPr>
          <a:xfrm>
            <a:off x="6565090" y="3520388"/>
            <a:ext cx="4434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20"/>
              <a:buFont typeface="Arial"/>
              <a:buChar char="●"/>
            </a:pPr>
            <a:r>
              <a:rPr lang="en-US" sz="11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Reduce redundancia en variables altamente correlacionadas.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20"/>
              <a:buFont typeface="Arial"/>
              <a:buChar char="●"/>
            </a:pPr>
            <a:r>
              <a:rPr lang="en-US" sz="11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Permite probar modelos con menor dimensionalidad.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20"/>
              <a:buFont typeface="Arial"/>
              <a:buChar char="●"/>
            </a:pPr>
            <a:r>
              <a:rPr lang="en-US" sz="11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Hace visible la separación de casos en componentes principales.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72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20"/>
              <a:buFont typeface="Arial"/>
              <a:buChar char="●"/>
            </a:pPr>
            <a:r>
              <a:rPr lang="en-US" sz="11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 siempre mejora: depende del modelo y de la métrica.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3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4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Modelo no supervisado: KMeans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4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11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Agrupamiento por centroides con k=2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4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_assets_v2/clustering_pca.png" id="677" name="Google Shape;6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7975" y="1893424"/>
            <a:ext cx="6398252" cy="307116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14"/>
          <p:cNvSpPr/>
          <p:nvPr/>
        </p:nvSpPr>
        <p:spPr>
          <a:xfrm>
            <a:off x="566925" y="1686363"/>
            <a:ext cx="1543200" cy="10455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037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575" lIns="99575" spcFirstLastPara="1" rIns="99575" wrap="square" tIns="9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4"/>
          <p:cNvSpPr/>
          <p:nvPr/>
        </p:nvSpPr>
        <p:spPr>
          <a:xfrm>
            <a:off x="696372" y="1805852"/>
            <a:ext cx="12843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17"/>
              <a:buFont typeface="Arial"/>
              <a:buNone/>
            </a:pPr>
            <a:r>
              <a:rPr b="1" lang="en-US" sz="817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Silhouette</a:t>
            </a:r>
            <a:endParaRPr sz="81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4"/>
          <p:cNvSpPr/>
          <p:nvPr/>
        </p:nvSpPr>
        <p:spPr>
          <a:xfrm>
            <a:off x="696372" y="2054789"/>
            <a:ext cx="1284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525"/>
              <a:buFont typeface="Arial"/>
              <a:buNone/>
            </a:pPr>
            <a:r>
              <a:rPr b="1" lang="en-US" sz="1525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0.3450</a:t>
            </a:r>
            <a:endParaRPr sz="15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4"/>
          <p:cNvSpPr/>
          <p:nvPr/>
        </p:nvSpPr>
        <p:spPr>
          <a:xfrm>
            <a:off x="2359262" y="1686363"/>
            <a:ext cx="1543200" cy="10455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037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575" lIns="99575" spcFirstLastPara="1" rIns="99575" wrap="square" tIns="9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4"/>
          <p:cNvSpPr/>
          <p:nvPr/>
        </p:nvSpPr>
        <p:spPr>
          <a:xfrm>
            <a:off x="2488708" y="1805852"/>
            <a:ext cx="12843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17"/>
              <a:buFont typeface="Arial"/>
              <a:buNone/>
            </a:pPr>
            <a:r>
              <a:rPr b="1" lang="en-US" sz="817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Dunn</a:t>
            </a:r>
            <a:endParaRPr sz="81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4"/>
          <p:cNvSpPr/>
          <p:nvPr/>
        </p:nvSpPr>
        <p:spPr>
          <a:xfrm>
            <a:off x="2488708" y="2054789"/>
            <a:ext cx="1284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525"/>
              <a:buFont typeface="Arial"/>
              <a:buNone/>
            </a:pPr>
            <a:r>
              <a:rPr b="1" lang="en-US" sz="1525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0.0608</a:t>
            </a:r>
            <a:endParaRPr sz="152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4"/>
          <p:cNvSpPr/>
          <p:nvPr/>
        </p:nvSpPr>
        <p:spPr>
          <a:xfrm>
            <a:off x="4151598" y="1686363"/>
            <a:ext cx="1045500" cy="10455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037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575" lIns="99575" spcFirstLastPara="1" rIns="99575" wrap="square" tIns="9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4"/>
          <p:cNvSpPr/>
          <p:nvPr/>
        </p:nvSpPr>
        <p:spPr>
          <a:xfrm>
            <a:off x="4281045" y="1805852"/>
            <a:ext cx="7866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17"/>
              <a:buFont typeface="Arial"/>
              <a:buNone/>
            </a:pPr>
            <a:r>
              <a:rPr b="1" lang="en-US" sz="817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81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4"/>
          <p:cNvSpPr/>
          <p:nvPr/>
        </p:nvSpPr>
        <p:spPr>
          <a:xfrm>
            <a:off x="4281045" y="2054789"/>
            <a:ext cx="786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960"/>
              <a:buFont typeface="Arial"/>
              <a:buNone/>
            </a:pPr>
            <a:r>
              <a:rPr b="1" lang="en-US" sz="196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4"/>
          <p:cNvSpPr/>
          <p:nvPr/>
        </p:nvSpPr>
        <p:spPr>
          <a:xfrm>
            <a:off x="566925" y="3284400"/>
            <a:ext cx="4630200" cy="184230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03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575" lIns="99575" spcFirstLastPara="1" rIns="99575" wrap="square" tIns="9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4"/>
          <p:cNvSpPr/>
          <p:nvPr/>
        </p:nvSpPr>
        <p:spPr>
          <a:xfrm>
            <a:off x="832913" y="3533337"/>
            <a:ext cx="3940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416"/>
              <a:buFont typeface="Arial"/>
              <a:buNone/>
            </a:pPr>
            <a:r>
              <a:rPr b="1" lang="en-US" sz="1416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Interpretación</a:t>
            </a:r>
            <a:endParaRPr sz="141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4"/>
          <p:cNvSpPr/>
          <p:nvPr/>
        </p:nvSpPr>
        <p:spPr>
          <a:xfrm>
            <a:off x="832913" y="3931636"/>
            <a:ext cx="39897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89"/>
              <a:buFont typeface="Arial"/>
              <a:buNone/>
            </a:pPr>
            <a:r>
              <a:rPr lang="en-US" sz="1089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KMeans explora si la estructura natural de los datos se aproxima a dos grupos. El resultado es útil para explorar patrones, pero no reemplaza a los modelos supervisados porque no usa la etiqueta diagnosis durante el entrenamiento.</a:t>
            </a:r>
            <a:endParaRPr sz="108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4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5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Clustering jerárquico y DBSCAN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11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Comparación de agrupamiento por distancia y densidad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5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5"/>
          <p:cNvSpPr/>
          <p:nvPr/>
        </p:nvSpPr>
        <p:spPr>
          <a:xfrm>
            <a:off x="548640" y="1481335"/>
            <a:ext cx="1828800" cy="3771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5"/>
          <p:cNvSpPr/>
          <p:nvPr/>
        </p:nvSpPr>
        <p:spPr>
          <a:xfrm>
            <a:off x="576072" y="1545343"/>
            <a:ext cx="1773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5"/>
          <p:cNvSpPr/>
          <p:nvPr/>
        </p:nvSpPr>
        <p:spPr>
          <a:xfrm>
            <a:off x="2377440" y="1481335"/>
            <a:ext cx="1005900" cy="3771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5"/>
          <p:cNvSpPr/>
          <p:nvPr/>
        </p:nvSpPr>
        <p:spPr>
          <a:xfrm>
            <a:off x="2404872" y="1545343"/>
            <a:ext cx="95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Silhouette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5"/>
          <p:cNvSpPr/>
          <p:nvPr/>
        </p:nvSpPr>
        <p:spPr>
          <a:xfrm>
            <a:off x="3383280" y="1481335"/>
            <a:ext cx="1005900" cy="3771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5"/>
          <p:cNvSpPr/>
          <p:nvPr/>
        </p:nvSpPr>
        <p:spPr>
          <a:xfrm>
            <a:off x="3410712" y="1545343"/>
            <a:ext cx="951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Dunn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5"/>
          <p:cNvSpPr/>
          <p:nvPr/>
        </p:nvSpPr>
        <p:spPr>
          <a:xfrm>
            <a:off x="4389120" y="1481335"/>
            <a:ext cx="914400" cy="377100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5"/>
          <p:cNvSpPr/>
          <p:nvPr/>
        </p:nvSpPr>
        <p:spPr>
          <a:xfrm>
            <a:off x="4416552" y="1545343"/>
            <a:ext cx="859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Ruido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5"/>
          <p:cNvSpPr/>
          <p:nvPr/>
        </p:nvSpPr>
        <p:spPr>
          <a:xfrm>
            <a:off x="548640" y="1858525"/>
            <a:ext cx="1828800" cy="3771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5"/>
          <p:cNvSpPr/>
          <p:nvPr/>
        </p:nvSpPr>
        <p:spPr>
          <a:xfrm>
            <a:off x="585216" y="1913389"/>
            <a:ext cx="17556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DBSCAN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5"/>
          <p:cNvSpPr/>
          <p:nvPr/>
        </p:nvSpPr>
        <p:spPr>
          <a:xfrm>
            <a:off x="2377440" y="1858525"/>
            <a:ext cx="1005900" cy="3771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5"/>
          <p:cNvSpPr/>
          <p:nvPr/>
        </p:nvSpPr>
        <p:spPr>
          <a:xfrm>
            <a:off x="2414016" y="1913389"/>
            <a:ext cx="93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0.3900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5"/>
          <p:cNvSpPr/>
          <p:nvPr/>
        </p:nvSpPr>
        <p:spPr>
          <a:xfrm>
            <a:off x="3383280" y="1858525"/>
            <a:ext cx="1005900" cy="3771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5"/>
          <p:cNvSpPr/>
          <p:nvPr/>
        </p:nvSpPr>
        <p:spPr>
          <a:xfrm>
            <a:off x="3419856" y="1913389"/>
            <a:ext cx="93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0.3122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5"/>
          <p:cNvSpPr/>
          <p:nvPr/>
        </p:nvSpPr>
        <p:spPr>
          <a:xfrm>
            <a:off x="4389120" y="1858525"/>
            <a:ext cx="914400" cy="377100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5"/>
          <p:cNvSpPr/>
          <p:nvPr/>
        </p:nvSpPr>
        <p:spPr>
          <a:xfrm>
            <a:off x="4425696" y="1913389"/>
            <a:ext cx="841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345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5"/>
          <p:cNvSpPr/>
          <p:nvPr/>
        </p:nvSpPr>
        <p:spPr>
          <a:xfrm>
            <a:off x="548640" y="2235715"/>
            <a:ext cx="1828800" cy="3771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5"/>
          <p:cNvSpPr/>
          <p:nvPr/>
        </p:nvSpPr>
        <p:spPr>
          <a:xfrm>
            <a:off x="585216" y="2290579"/>
            <a:ext cx="17556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KMeans k=2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5"/>
          <p:cNvSpPr/>
          <p:nvPr/>
        </p:nvSpPr>
        <p:spPr>
          <a:xfrm>
            <a:off x="2377440" y="2235715"/>
            <a:ext cx="1005900" cy="3771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5"/>
          <p:cNvSpPr/>
          <p:nvPr/>
        </p:nvSpPr>
        <p:spPr>
          <a:xfrm>
            <a:off x="2414016" y="2290579"/>
            <a:ext cx="93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0.3450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5"/>
          <p:cNvSpPr/>
          <p:nvPr/>
        </p:nvSpPr>
        <p:spPr>
          <a:xfrm>
            <a:off x="3383280" y="2235715"/>
            <a:ext cx="1005900" cy="3771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5"/>
          <p:cNvSpPr/>
          <p:nvPr/>
        </p:nvSpPr>
        <p:spPr>
          <a:xfrm>
            <a:off x="3419856" y="2290579"/>
            <a:ext cx="93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0.0608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5"/>
          <p:cNvSpPr/>
          <p:nvPr/>
        </p:nvSpPr>
        <p:spPr>
          <a:xfrm>
            <a:off x="4389120" y="2235715"/>
            <a:ext cx="914400" cy="377100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5"/>
          <p:cNvSpPr/>
          <p:nvPr/>
        </p:nvSpPr>
        <p:spPr>
          <a:xfrm>
            <a:off x="4425696" y="2290579"/>
            <a:ext cx="841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5"/>
          <p:cNvSpPr/>
          <p:nvPr/>
        </p:nvSpPr>
        <p:spPr>
          <a:xfrm>
            <a:off x="548640" y="2612905"/>
            <a:ext cx="1828800" cy="37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5"/>
          <p:cNvSpPr/>
          <p:nvPr/>
        </p:nvSpPr>
        <p:spPr>
          <a:xfrm>
            <a:off x="585216" y="2667769"/>
            <a:ext cx="17556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Jerarquico k=2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5"/>
          <p:cNvSpPr/>
          <p:nvPr/>
        </p:nvSpPr>
        <p:spPr>
          <a:xfrm>
            <a:off x="2377440" y="2612905"/>
            <a:ext cx="1005900" cy="37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5"/>
          <p:cNvSpPr/>
          <p:nvPr/>
        </p:nvSpPr>
        <p:spPr>
          <a:xfrm>
            <a:off x="2414016" y="2667769"/>
            <a:ext cx="93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0.3394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5"/>
          <p:cNvSpPr/>
          <p:nvPr/>
        </p:nvSpPr>
        <p:spPr>
          <a:xfrm>
            <a:off x="3383280" y="2612905"/>
            <a:ext cx="1005900" cy="37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5"/>
          <p:cNvSpPr/>
          <p:nvPr/>
        </p:nvSpPr>
        <p:spPr>
          <a:xfrm>
            <a:off x="3419856" y="2667769"/>
            <a:ext cx="9327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0.0724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5"/>
          <p:cNvSpPr/>
          <p:nvPr/>
        </p:nvSpPr>
        <p:spPr>
          <a:xfrm>
            <a:off x="4389120" y="2612905"/>
            <a:ext cx="914400" cy="377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5"/>
          <p:cNvSpPr/>
          <p:nvPr/>
        </p:nvSpPr>
        <p:spPr>
          <a:xfrm>
            <a:off x="4425696" y="2667769"/>
            <a:ext cx="8412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5"/>
          <p:cNvSpPr/>
          <p:nvPr/>
        </p:nvSpPr>
        <p:spPr>
          <a:xfrm>
            <a:off x="548650" y="3401575"/>
            <a:ext cx="475500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5"/>
          <p:cNvSpPr/>
          <p:nvPr/>
        </p:nvSpPr>
        <p:spPr>
          <a:xfrm>
            <a:off x="768783" y="3630175"/>
            <a:ext cx="4226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Lectura comparativa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5"/>
          <p:cNvSpPr/>
          <p:nvPr/>
        </p:nvSpPr>
        <p:spPr>
          <a:xfrm>
            <a:off x="768783" y="4014223"/>
            <a:ext cx="418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DBSCAN obtiene mayor Silhouette y Dunn, pero marca 345 observaciones como ruido. Por eso su métrica debe interpretarse con cuidado: mejora separación en los puntos agrupados, pero deja muchos casos fuera.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_v2/clustering_pca.png" id="734" name="Google Shape;7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3575" y="1212300"/>
            <a:ext cx="6442925" cy="3627638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15"/>
          <p:cNvSpPr/>
          <p:nvPr/>
        </p:nvSpPr>
        <p:spPr>
          <a:xfrm>
            <a:off x="6322780" y="5098545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Jerárquico k=2 queda cerca de KMeans en Silhouette, con Dunn ligeramente mejor que KMeans.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5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6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Comparación final de modelos de clasificación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6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11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Ordenado por Recall, luego F1-score y Accuracy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6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6"/>
          <p:cNvSpPr/>
          <p:nvPr/>
        </p:nvSpPr>
        <p:spPr>
          <a:xfrm>
            <a:off x="502920" y="1298448"/>
            <a:ext cx="2560320" cy="362243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6"/>
          <p:cNvSpPr/>
          <p:nvPr/>
        </p:nvSpPr>
        <p:spPr>
          <a:xfrm>
            <a:off x="530352" y="1362456"/>
            <a:ext cx="2505456" cy="270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6"/>
          <p:cNvSpPr/>
          <p:nvPr/>
        </p:nvSpPr>
        <p:spPr>
          <a:xfrm>
            <a:off x="3063240" y="1298448"/>
            <a:ext cx="960120" cy="362243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6"/>
          <p:cNvSpPr/>
          <p:nvPr/>
        </p:nvSpPr>
        <p:spPr>
          <a:xfrm>
            <a:off x="3090672" y="1362456"/>
            <a:ext cx="905256" cy="270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6"/>
          <p:cNvSpPr/>
          <p:nvPr/>
        </p:nvSpPr>
        <p:spPr>
          <a:xfrm>
            <a:off x="4023360" y="1298448"/>
            <a:ext cx="960120" cy="362243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6"/>
          <p:cNvSpPr/>
          <p:nvPr/>
        </p:nvSpPr>
        <p:spPr>
          <a:xfrm>
            <a:off x="4050792" y="1362456"/>
            <a:ext cx="905256" cy="270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6"/>
          <p:cNvSpPr/>
          <p:nvPr/>
        </p:nvSpPr>
        <p:spPr>
          <a:xfrm>
            <a:off x="4983480" y="1298448"/>
            <a:ext cx="960120" cy="362243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6"/>
          <p:cNvSpPr/>
          <p:nvPr/>
        </p:nvSpPr>
        <p:spPr>
          <a:xfrm>
            <a:off x="5010912" y="1362456"/>
            <a:ext cx="905256" cy="270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6"/>
          <p:cNvSpPr/>
          <p:nvPr/>
        </p:nvSpPr>
        <p:spPr>
          <a:xfrm>
            <a:off x="5943600" y="1298448"/>
            <a:ext cx="960120" cy="362243"/>
          </a:xfrm>
          <a:prstGeom prst="rect">
            <a:avLst/>
          </a:prstGeom>
          <a:solidFill>
            <a:srgbClr val="12304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6"/>
          <p:cNvSpPr/>
          <p:nvPr/>
        </p:nvSpPr>
        <p:spPr>
          <a:xfrm>
            <a:off x="5971032" y="1362456"/>
            <a:ext cx="905256" cy="270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b="1" lang="en-US" sz="7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7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6"/>
          <p:cNvSpPr/>
          <p:nvPr/>
        </p:nvSpPr>
        <p:spPr>
          <a:xfrm>
            <a:off x="502920" y="1660691"/>
            <a:ext cx="2560320" cy="362243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6"/>
          <p:cNvSpPr/>
          <p:nvPr/>
        </p:nvSpPr>
        <p:spPr>
          <a:xfrm>
            <a:off x="539496" y="1715555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Log.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6"/>
          <p:cNvSpPr/>
          <p:nvPr/>
        </p:nvSpPr>
        <p:spPr>
          <a:xfrm>
            <a:off x="3063240" y="1660691"/>
            <a:ext cx="960120" cy="362243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6"/>
          <p:cNvSpPr/>
          <p:nvPr/>
        </p:nvSpPr>
        <p:spPr>
          <a:xfrm>
            <a:off x="3099816" y="1715555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0.9737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6"/>
          <p:cNvSpPr/>
          <p:nvPr/>
        </p:nvSpPr>
        <p:spPr>
          <a:xfrm>
            <a:off x="4023360" y="1660691"/>
            <a:ext cx="960120" cy="362243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6"/>
          <p:cNvSpPr/>
          <p:nvPr/>
        </p:nvSpPr>
        <p:spPr>
          <a:xfrm>
            <a:off x="4059936" y="1715555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0.9756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4983480" y="1660691"/>
            <a:ext cx="960120" cy="362243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6"/>
          <p:cNvSpPr/>
          <p:nvPr/>
        </p:nvSpPr>
        <p:spPr>
          <a:xfrm>
            <a:off x="5020056" y="1715555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0.9524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6"/>
          <p:cNvSpPr/>
          <p:nvPr/>
        </p:nvSpPr>
        <p:spPr>
          <a:xfrm>
            <a:off x="5943600" y="1660691"/>
            <a:ext cx="960120" cy="362243"/>
          </a:xfrm>
          <a:prstGeom prst="rect">
            <a:avLst/>
          </a:prstGeom>
          <a:solidFill>
            <a:srgbClr val="DBF3F1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6"/>
          <p:cNvSpPr/>
          <p:nvPr/>
        </p:nvSpPr>
        <p:spPr>
          <a:xfrm>
            <a:off x="5980176" y="1715555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0.9639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16"/>
          <p:cNvSpPr/>
          <p:nvPr/>
        </p:nvSpPr>
        <p:spPr>
          <a:xfrm>
            <a:off x="502920" y="2022934"/>
            <a:ext cx="25603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6"/>
          <p:cNvSpPr/>
          <p:nvPr/>
        </p:nvSpPr>
        <p:spPr>
          <a:xfrm>
            <a:off x="539496" y="2077798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SVM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16"/>
          <p:cNvSpPr/>
          <p:nvPr/>
        </p:nvSpPr>
        <p:spPr>
          <a:xfrm>
            <a:off x="3063240" y="2022934"/>
            <a:ext cx="960120" cy="362243"/>
          </a:xfrm>
          <a:prstGeom prst="rect">
            <a:avLst/>
          </a:prstGeom>
          <a:solidFill>
            <a:srgbClr val="FFF7ED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6"/>
          <p:cNvSpPr/>
          <p:nvPr/>
        </p:nvSpPr>
        <p:spPr>
          <a:xfrm>
            <a:off x="3099816" y="2077798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0.9737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16"/>
          <p:cNvSpPr/>
          <p:nvPr/>
        </p:nvSpPr>
        <p:spPr>
          <a:xfrm>
            <a:off x="4023360" y="2022934"/>
            <a:ext cx="960120" cy="362243"/>
          </a:xfrm>
          <a:prstGeom prst="rect">
            <a:avLst/>
          </a:prstGeom>
          <a:solidFill>
            <a:srgbClr val="FFF7ED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6"/>
          <p:cNvSpPr/>
          <p:nvPr/>
        </p:nvSpPr>
        <p:spPr>
          <a:xfrm>
            <a:off x="4059936" y="2077798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1.0000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6"/>
          <p:cNvSpPr/>
          <p:nvPr/>
        </p:nvSpPr>
        <p:spPr>
          <a:xfrm>
            <a:off x="4983480" y="2022934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6"/>
          <p:cNvSpPr/>
          <p:nvPr/>
        </p:nvSpPr>
        <p:spPr>
          <a:xfrm>
            <a:off x="5020056" y="2077798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0.9286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16"/>
          <p:cNvSpPr/>
          <p:nvPr/>
        </p:nvSpPr>
        <p:spPr>
          <a:xfrm>
            <a:off x="5943600" y="2022934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6"/>
          <p:cNvSpPr/>
          <p:nvPr/>
        </p:nvSpPr>
        <p:spPr>
          <a:xfrm>
            <a:off x="5980176" y="2077798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0.9630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6"/>
          <p:cNvSpPr/>
          <p:nvPr/>
        </p:nvSpPr>
        <p:spPr>
          <a:xfrm>
            <a:off x="502920" y="2385177"/>
            <a:ext cx="25603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6"/>
          <p:cNvSpPr/>
          <p:nvPr/>
        </p:nvSpPr>
        <p:spPr>
          <a:xfrm>
            <a:off x="539496" y="2440041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Log.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16"/>
          <p:cNvSpPr/>
          <p:nvPr/>
        </p:nvSpPr>
        <p:spPr>
          <a:xfrm>
            <a:off x="3063240" y="2385177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6"/>
          <p:cNvSpPr/>
          <p:nvPr/>
        </p:nvSpPr>
        <p:spPr>
          <a:xfrm>
            <a:off x="3099816" y="2440041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0.9649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16"/>
          <p:cNvSpPr/>
          <p:nvPr/>
        </p:nvSpPr>
        <p:spPr>
          <a:xfrm>
            <a:off x="4023360" y="2385177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6"/>
          <p:cNvSpPr/>
          <p:nvPr/>
        </p:nvSpPr>
        <p:spPr>
          <a:xfrm>
            <a:off x="4059936" y="2440041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0.9750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6"/>
          <p:cNvSpPr/>
          <p:nvPr/>
        </p:nvSpPr>
        <p:spPr>
          <a:xfrm>
            <a:off x="4983480" y="2385177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6"/>
          <p:cNvSpPr/>
          <p:nvPr/>
        </p:nvSpPr>
        <p:spPr>
          <a:xfrm>
            <a:off x="5020056" y="2440041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0.9286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6"/>
          <p:cNvSpPr/>
          <p:nvPr/>
        </p:nvSpPr>
        <p:spPr>
          <a:xfrm>
            <a:off x="5943600" y="2385177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6"/>
          <p:cNvSpPr/>
          <p:nvPr/>
        </p:nvSpPr>
        <p:spPr>
          <a:xfrm>
            <a:off x="5980176" y="2440041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0.9512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16"/>
          <p:cNvSpPr/>
          <p:nvPr/>
        </p:nvSpPr>
        <p:spPr>
          <a:xfrm>
            <a:off x="502920" y="2747420"/>
            <a:ext cx="25603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6"/>
          <p:cNvSpPr/>
          <p:nvPr/>
        </p:nvSpPr>
        <p:spPr>
          <a:xfrm>
            <a:off x="539496" y="2802284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SVM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16"/>
          <p:cNvSpPr/>
          <p:nvPr/>
        </p:nvSpPr>
        <p:spPr>
          <a:xfrm>
            <a:off x="3063240" y="2747420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6"/>
          <p:cNvSpPr/>
          <p:nvPr/>
        </p:nvSpPr>
        <p:spPr>
          <a:xfrm>
            <a:off x="3099816" y="2802284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0.9649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6"/>
          <p:cNvSpPr/>
          <p:nvPr/>
        </p:nvSpPr>
        <p:spPr>
          <a:xfrm>
            <a:off x="4023360" y="2747420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6"/>
          <p:cNvSpPr/>
          <p:nvPr/>
        </p:nvSpPr>
        <p:spPr>
          <a:xfrm>
            <a:off x="4059936" y="2802284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0.9750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6"/>
          <p:cNvSpPr/>
          <p:nvPr/>
        </p:nvSpPr>
        <p:spPr>
          <a:xfrm>
            <a:off x="4983480" y="2747420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6"/>
          <p:cNvSpPr/>
          <p:nvPr/>
        </p:nvSpPr>
        <p:spPr>
          <a:xfrm>
            <a:off x="5020056" y="2802284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0.9286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6"/>
          <p:cNvSpPr/>
          <p:nvPr/>
        </p:nvSpPr>
        <p:spPr>
          <a:xfrm>
            <a:off x="5943600" y="2747420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6"/>
          <p:cNvSpPr/>
          <p:nvPr/>
        </p:nvSpPr>
        <p:spPr>
          <a:xfrm>
            <a:off x="5980176" y="2802284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0.9512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16"/>
          <p:cNvSpPr/>
          <p:nvPr/>
        </p:nvSpPr>
        <p:spPr>
          <a:xfrm>
            <a:off x="502920" y="3109663"/>
            <a:ext cx="25603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6"/>
          <p:cNvSpPr/>
          <p:nvPr/>
        </p:nvSpPr>
        <p:spPr>
          <a:xfrm>
            <a:off x="539496" y="3164527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RF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6"/>
          <p:cNvSpPr/>
          <p:nvPr/>
        </p:nvSpPr>
        <p:spPr>
          <a:xfrm>
            <a:off x="3063240" y="3109663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6"/>
          <p:cNvSpPr/>
          <p:nvPr/>
        </p:nvSpPr>
        <p:spPr>
          <a:xfrm>
            <a:off x="3099816" y="3164527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0.9649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6"/>
          <p:cNvSpPr/>
          <p:nvPr/>
        </p:nvSpPr>
        <p:spPr>
          <a:xfrm>
            <a:off x="4023360" y="3109663"/>
            <a:ext cx="960120" cy="362243"/>
          </a:xfrm>
          <a:prstGeom prst="rect">
            <a:avLst/>
          </a:prstGeom>
          <a:solidFill>
            <a:srgbClr val="FFF7ED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6"/>
          <p:cNvSpPr/>
          <p:nvPr/>
        </p:nvSpPr>
        <p:spPr>
          <a:xfrm>
            <a:off x="4059936" y="3164527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1.0000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6"/>
          <p:cNvSpPr/>
          <p:nvPr/>
        </p:nvSpPr>
        <p:spPr>
          <a:xfrm>
            <a:off x="4983480" y="3109663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6"/>
          <p:cNvSpPr/>
          <p:nvPr/>
        </p:nvSpPr>
        <p:spPr>
          <a:xfrm>
            <a:off x="5020056" y="3164527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0.9048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6"/>
          <p:cNvSpPr/>
          <p:nvPr/>
        </p:nvSpPr>
        <p:spPr>
          <a:xfrm>
            <a:off x="5943600" y="3109663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6"/>
          <p:cNvSpPr/>
          <p:nvPr/>
        </p:nvSpPr>
        <p:spPr>
          <a:xfrm>
            <a:off x="5980176" y="3164527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0.9500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6"/>
          <p:cNvSpPr/>
          <p:nvPr/>
        </p:nvSpPr>
        <p:spPr>
          <a:xfrm>
            <a:off x="502920" y="3471906"/>
            <a:ext cx="25603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6"/>
          <p:cNvSpPr/>
          <p:nvPr/>
        </p:nvSpPr>
        <p:spPr>
          <a:xfrm>
            <a:off x="539496" y="3526770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KNN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16"/>
          <p:cNvSpPr/>
          <p:nvPr/>
        </p:nvSpPr>
        <p:spPr>
          <a:xfrm>
            <a:off x="3063240" y="3471906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16"/>
          <p:cNvSpPr/>
          <p:nvPr/>
        </p:nvSpPr>
        <p:spPr>
          <a:xfrm>
            <a:off x="3099816" y="3526770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0.9561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6"/>
          <p:cNvSpPr/>
          <p:nvPr/>
        </p:nvSpPr>
        <p:spPr>
          <a:xfrm>
            <a:off x="4023360" y="3471906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16"/>
          <p:cNvSpPr/>
          <p:nvPr/>
        </p:nvSpPr>
        <p:spPr>
          <a:xfrm>
            <a:off x="4059936" y="3526770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0.9744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16"/>
          <p:cNvSpPr/>
          <p:nvPr/>
        </p:nvSpPr>
        <p:spPr>
          <a:xfrm>
            <a:off x="4983480" y="3471906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6"/>
          <p:cNvSpPr/>
          <p:nvPr/>
        </p:nvSpPr>
        <p:spPr>
          <a:xfrm>
            <a:off x="5020056" y="3526770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0.9048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16"/>
          <p:cNvSpPr/>
          <p:nvPr/>
        </p:nvSpPr>
        <p:spPr>
          <a:xfrm>
            <a:off x="5943600" y="3471906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16"/>
          <p:cNvSpPr/>
          <p:nvPr/>
        </p:nvSpPr>
        <p:spPr>
          <a:xfrm>
            <a:off x="5980176" y="3526770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0.9383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6"/>
          <p:cNvSpPr/>
          <p:nvPr/>
        </p:nvSpPr>
        <p:spPr>
          <a:xfrm>
            <a:off x="502920" y="3834150"/>
            <a:ext cx="25603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6"/>
          <p:cNvSpPr/>
          <p:nvPr/>
        </p:nvSpPr>
        <p:spPr>
          <a:xfrm>
            <a:off x="539496" y="3889014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RF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16"/>
          <p:cNvSpPr/>
          <p:nvPr/>
        </p:nvSpPr>
        <p:spPr>
          <a:xfrm>
            <a:off x="3063240" y="3834150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16"/>
          <p:cNvSpPr/>
          <p:nvPr/>
        </p:nvSpPr>
        <p:spPr>
          <a:xfrm>
            <a:off x="3099816" y="3889014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0.9561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16"/>
          <p:cNvSpPr/>
          <p:nvPr/>
        </p:nvSpPr>
        <p:spPr>
          <a:xfrm>
            <a:off x="4023360" y="3834150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6"/>
          <p:cNvSpPr/>
          <p:nvPr/>
        </p:nvSpPr>
        <p:spPr>
          <a:xfrm>
            <a:off x="4059936" y="3889014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0.9744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16"/>
          <p:cNvSpPr/>
          <p:nvPr/>
        </p:nvSpPr>
        <p:spPr>
          <a:xfrm>
            <a:off x="4983480" y="3834150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6"/>
          <p:cNvSpPr/>
          <p:nvPr/>
        </p:nvSpPr>
        <p:spPr>
          <a:xfrm>
            <a:off x="5020056" y="3889014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0.9048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16"/>
          <p:cNvSpPr/>
          <p:nvPr/>
        </p:nvSpPr>
        <p:spPr>
          <a:xfrm>
            <a:off x="5943600" y="3834150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6"/>
          <p:cNvSpPr/>
          <p:nvPr/>
        </p:nvSpPr>
        <p:spPr>
          <a:xfrm>
            <a:off x="5980176" y="3889014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0.9383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16"/>
          <p:cNvSpPr/>
          <p:nvPr/>
        </p:nvSpPr>
        <p:spPr>
          <a:xfrm>
            <a:off x="502920" y="4196393"/>
            <a:ext cx="25603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6"/>
          <p:cNvSpPr/>
          <p:nvPr/>
        </p:nvSpPr>
        <p:spPr>
          <a:xfrm>
            <a:off x="539496" y="4251257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KNN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16"/>
          <p:cNvSpPr/>
          <p:nvPr/>
        </p:nvSpPr>
        <p:spPr>
          <a:xfrm>
            <a:off x="3063240" y="4196393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6"/>
          <p:cNvSpPr/>
          <p:nvPr/>
        </p:nvSpPr>
        <p:spPr>
          <a:xfrm>
            <a:off x="3099816" y="4251257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0.9474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6"/>
          <p:cNvSpPr/>
          <p:nvPr/>
        </p:nvSpPr>
        <p:spPr>
          <a:xfrm>
            <a:off x="4023360" y="4196393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6"/>
          <p:cNvSpPr/>
          <p:nvPr/>
        </p:nvSpPr>
        <p:spPr>
          <a:xfrm>
            <a:off x="4059936" y="4251257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0.9737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6"/>
          <p:cNvSpPr/>
          <p:nvPr/>
        </p:nvSpPr>
        <p:spPr>
          <a:xfrm>
            <a:off x="4983480" y="4196393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6"/>
          <p:cNvSpPr/>
          <p:nvPr/>
        </p:nvSpPr>
        <p:spPr>
          <a:xfrm>
            <a:off x="5020056" y="4251257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0.8810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6"/>
          <p:cNvSpPr/>
          <p:nvPr/>
        </p:nvSpPr>
        <p:spPr>
          <a:xfrm>
            <a:off x="5943600" y="4196393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6"/>
          <p:cNvSpPr/>
          <p:nvPr/>
        </p:nvSpPr>
        <p:spPr>
          <a:xfrm>
            <a:off x="5980176" y="4251257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0.9250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16"/>
          <p:cNvSpPr/>
          <p:nvPr/>
        </p:nvSpPr>
        <p:spPr>
          <a:xfrm>
            <a:off x="502920" y="4558636"/>
            <a:ext cx="25603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6"/>
          <p:cNvSpPr/>
          <p:nvPr/>
        </p:nvSpPr>
        <p:spPr>
          <a:xfrm>
            <a:off x="539496" y="4613500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Arbol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16"/>
          <p:cNvSpPr/>
          <p:nvPr/>
        </p:nvSpPr>
        <p:spPr>
          <a:xfrm>
            <a:off x="3063240" y="4558636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6"/>
          <p:cNvSpPr/>
          <p:nvPr/>
        </p:nvSpPr>
        <p:spPr>
          <a:xfrm>
            <a:off x="3099816" y="4613500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16"/>
          <p:cNvSpPr/>
          <p:nvPr/>
        </p:nvSpPr>
        <p:spPr>
          <a:xfrm>
            <a:off x="4023360" y="4558636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6"/>
          <p:cNvSpPr/>
          <p:nvPr/>
        </p:nvSpPr>
        <p:spPr>
          <a:xfrm>
            <a:off x="4059936" y="4613500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0.9487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16"/>
          <p:cNvSpPr/>
          <p:nvPr/>
        </p:nvSpPr>
        <p:spPr>
          <a:xfrm>
            <a:off x="4983480" y="4558636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6"/>
          <p:cNvSpPr/>
          <p:nvPr/>
        </p:nvSpPr>
        <p:spPr>
          <a:xfrm>
            <a:off x="5020056" y="4613500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0.8810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6"/>
          <p:cNvSpPr/>
          <p:nvPr/>
        </p:nvSpPr>
        <p:spPr>
          <a:xfrm>
            <a:off x="5943600" y="4558636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6"/>
          <p:cNvSpPr/>
          <p:nvPr/>
        </p:nvSpPr>
        <p:spPr>
          <a:xfrm>
            <a:off x="5980176" y="4613500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0.9136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6"/>
          <p:cNvSpPr/>
          <p:nvPr/>
        </p:nvSpPr>
        <p:spPr>
          <a:xfrm>
            <a:off x="502920" y="4920879"/>
            <a:ext cx="25603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6"/>
          <p:cNvSpPr/>
          <p:nvPr/>
        </p:nvSpPr>
        <p:spPr>
          <a:xfrm>
            <a:off x="539496" y="4975743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Naive B.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16"/>
          <p:cNvSpPr/>
          <p:nvPr/>
        </p:nvSpPr>
        <p:spPr>
          <a:xfrm>
            <a:off x="3063240" y="4920879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6"/>
          <p:cNvSpPr/>
          <p:nvPr/>
        </p:nvSpPr>
        <p:spPr>
          <a:xfrm>
            <a:off x="3099816" y="4975743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0.9386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6"/>
          <p:cNvSpPr/>
          <p:nvPr/>
        </p:nvSpPr>
        <p:spPr>
          <a:xfrm>
            <a:off x="4023360" y="4920879"/>
            <a:ext cx="960120" cy="362243"/>
          </a:xfrm>
          <a:prstGeom prst="rect">
            <a:avLst/>
          </a:prstGeom>
          <a:solidFill>
            <a:srgbClr val="FFF7ED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6"/>
          <p:cNvSpPr/>
          <p:nvPr/>
        </p:nvSpPr>
        <p:spPr>
          <a:xfrm>
            <a:off x="4059936" y="4975743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1.0000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6"/>
          <p:cNvSpPr/>
          <p:nvPr/>
        </p:nvSpPr>
        <p:spPr>
          <a:xfrm>
            <a:off x="4983480" y="4920879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6"/>
          <p:cNvSpPr/>
          <p:nvPr/>
        </p:nvSpPr>
        <p:spPr>
          <a:xfrm>
            <a:off x="5020056" y="4975743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0.8333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6"/>
          <p:cNvSpPr/>
          <p:nvPr/>
        </p:nvSpPr>
        <p:spPr>
          <a:xfrm>
            <a:off x="5943600" y="4920879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6"/>
          <p:cNvSpPr/>
          <p:nvPr/>
        </p:nvSpPr>
        <p:spPr>
          <a:xfrm>
            <a:off x="5980176" y="4975743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0.9091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6"/>
          <p:cNvSpPr/>
          <p:nvPr/>
        </p:nvSpPr>
        <p:spPr>
          <a:xfrm>
            <a:off x="502920" y="5283122"/>
            <a:ext cx="25603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6"/>
          <p:cNvSpPr/>
          <p:nvPr/>
        </p:nvSpPr>
        <p:spPr>
          <a:xfrm>
            <a:off x="539496" y="5337986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Arbol - sin PCA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16"/>
          <p:cNvSpPr/>
          <p:nvPr/>
        </p:nvSpPr>
        <p:spPr>
          <a:xfrm>
            <a:off x="3063240" y="5283122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6"/>
          <p:cNvSpPr/>
          <p:nvPr/>
        </p:nvSpPr>
        <p:spPr>
          <a:xfrm>
            <a:off x="3099816" y="5337986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0.9123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16"/>
          <p:cNvSpPr/>
          <p:nvPr/>
        </p:nvSpPr>
        <p:spPr>
          <a:xfrm>
            <a:off x="4023360" y="5283122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6"/>
          <p:cNvSpPr/>
          <p:nvPr/>
        </p:nvSpPr>
        <p:spPr>
          <a:xfrm>
            <a:off x="4059936" y="5337986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0.9444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6"/>
          <p:cNvSpPr/>
          <p:nvPr/>
        </p:nvSpPr>
        <p:spPr>
          <a:xfrm>
            <a:off x="4983480" y="5283122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6"/>
          <p:cNvSpPr/>
          <p:nvPr/>
        </p:nvSpPr>
        <p:spPr>
          <a:xfrm>
            <a:off x="5020056" y="5337986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0.8095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16"/>
          <p:cNvSpPr/>
          <p:nvPr/>
        </p:nvSpPr>
        <p:spPr>
          <a:xfrm>
            <a:off x="5943600" y="5283122"/>
            <a:ext cx="960120" cy="36224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6"/>
          <p:cNvSpPr/>
          <p:nvPr/>
        </p:nvSpPr>
        <p:spPr>
          <a:xfrm>
            <a:off x="5980176" y="5337986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0.8718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6"/>
          <p:cNvSpPr/>
          <p:nvPr/>
        </p:nvSpPr>
        <p:spPr>
          <a:xfrm>
            <a:off x="502920" y="5645365"/>
            <a:ext cx="25603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6"/>
          <p:cNvSpPr/>
          <p:nvPr/>
        </p:nvSpPr>
        <p:spPr>
          <a:xfrm>
            <a:off x="539496" y="5700229"/>
            <a:ext cx="24871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b="1"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Naive B. - PCA 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16"/>
          <p:cNvSpPr/>
          <p:nvPr/>
        </p:nvSpPr>
        <p:spPr>
          <a:xfrm>
            <a:off x="3063240" y="5645365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6"/>
          <p:cNvSpPr/>
          <p:nvPr/>
        </p:nvSpPr>
        <p:spPr>
          <a:xfrm>
            <a:off x="3099816" y="5700229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0.9035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6"/>
          <p:cNvSpPr/>
          <p:nvPr/>
        </p:nvSpPr>
        <p:spPr>
          <a:xfrm>
            <a:off x="4023360" y="5645365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6"/>
          <p:cNvSpPr/>
          <p:nvPr/>
        </p:nvSpPr>
        <p:spPr>
          <a:xfrm>
            <a:off x="4059936" y="5700229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0.9189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16"/>
          <p:cNvSpPr/>
          <p:nvPr/>
        </p:nvSpPr>
        <p:spPr>
          <a:xfrm>
            <a:off x="4983480" y="5645365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6"/>
          <p:cNvSpPr/>
          <p:nvPr/>
        </p:nvSpPr>
        <p:spPr>
          <a:xfrm>
            <a:off x="5020056" y="5700229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0.8095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6"/>
          <p:cNvSpPr/>
          <p:nvPr/>
        </p:nvSpPr>
        <p:spPr>
          <a:xfrm>
            <a:off x="5943600" y="5645365"/>
            <a:ext cx="960120" cy="362243"/>
          </a:xfrm>
          <a:prstGeom prst="rect">
            <a:avLst/>
          </a:prstGeom>
          <a:solidFill>
            <a:srgbClr val="F3F6F8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6"/>
          <p:cNvSpPr/>
          <p:nvPr/>
        </p:nvSpPr>
        <p:spPr>
          <a:xfrm>
            <a:off x="5980176" y="5700229"/>
            <a:ext cx="886968" cy="289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650"/>
              <a:buFont typeface="Arial"/>
              <a:buNone/>
            </a:pPr>
            <a:r>
              <a:rPr lang="en-US" sz="6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0.8608</a:t>
            </a:r>
            <a:endParaRPr sz="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assets_v2/classification_recall_f1.png" id="875" name="Google Shape;8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325880"/>
            <a:ext cx="443484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16"/>
          <p:cNvSpPr/>
          <p:nvPr/>
        </p:nvSpPr>
        <p:spPr>
          <a:xfrm>
            <a:off x="7543800" y="4480560"/>
            <a:ext cx="397764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6"/>
          <p:cNvSpPr/>
          <p:nvPr/>
        </p:nvSpPr>
        <p:spPr>
          <a:xfrm>
            <a:off x="7754112" y="46817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Interpretación obligatoria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16"/>
          <p:cNvSpPr/>
          <p:nvPr/>
        </p:nvSpPr>
        <p:spPr>
          <a:xfrm>
            <a:off x="7754112" y="5010912"/>
            <a:ext cx="35478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20"/>
              <a:buFont typeface="Arial"/>
              <a:buNone/>
            </a:pPr>
            <a:r>
              <a:rPr lang="en-US" sz="102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No necesariamente gana el modelo con mayor Accuracy. En este caso, Logística con PCA lidera Recall y F1-score, por eso es la opción más defendible para diagnóstico.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16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7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Selección del mejor modelo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7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Justificación según métricas y contexto médico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7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7"/>
          <p:cNvSpPr/>
          <p:nvPr/>
        </p:nvSpPr>
        <p:spPr>
          <a:xfrm>
            <a:off x="731525" y="1417325"/>
            <a:ext cx="2310600" cy="10515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17"/>
          <p:cNvSpPr/>
          <p:nvPr/>
        </p:nvSpPr>
        <p:spPr>
          <a:xfrm>
            <a:off x="847048" y="1527053"/>
            <a:ext cx="2079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Modelo recomendado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17"/>
          <p:cNvSpPr/>
          <p:nvPr/>
        </p:nvSpPr>
        <p:spPr>
          <a:xfrm>
            <a:off x="847048" y="1755653"/>
            <a:ext cx="2079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8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8A8A"/>
                </a:solidFill>
                <a:latin typeface="Arial"/>
                <a:ea typeface="Arial"/>
                <a:cs typeface="Arial"/>
                <a:sym typeface="Arial"/>
              </a:rPr>
              <a:t>Logística + PCA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7"/>
          <p:cNvSpPr/>
          <p:nvPr/>
        </p:nvSpPr>
        <p:spPr>
          <a:xfrm>
            <a:off x="847048" y="2130557"/>
            <a:ext cx="2079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 componentes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7"/>
          <p:cNvSpPr/>
          <p:nvPr/>
        </p:nvSpPr>
        <p:spPr>
          <a:xfrm>
            <a:off x="3264151" y="1417325"/>
            <a:ext cx="1110900" cy="10515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7"/>
          <p:cNvSpPr/>
          <p:nvPr/>
        </p:nvSpPr>
        <p:spPr>
          <a:xfrm>
            <a:off x="3379675" y="1527053"/>
            <a:ext cx="879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17"/>
          <p:cNvSpPr/>
          <p:nvPr/>
        </p:nvSpPr>
        <p:spPr>
          <a:xfrm>
            <a:off x="3379675" y="1755653"/>
            <a:ext cx="87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0.9524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7"/>
          <p:cNvSpPr/>
          <p:nvPr/>
        </p:nvSpPr>
        <p:spPr>
          <a:xfrm>
            <a:off x="3379675" y="2130557"/>
            <a:ext cx="879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prioritario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17"/>
          <p:cNvSpPr/>
          <p:nvPr/>
        </p:nvSpPr>
        <p:spPr>
          <a:xfrm>
            <a:off x="4597113" y="1417325"/>
            <a:ext cx="1110900" cy="10515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7"/>
          <p:cNvSpPr/>
          <p:nvPr/>
        </p:nvSpPr>
        <p:spPr>
          <a:xfrm>
            <a:off x="4712636" y="1527053"/>
            <a:ext cx="879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17"/>
          <p:cNvSpPr/>
          <p:nvPr/>
        </p:nvSpPr>
        <p:spPr>
          <a:xfrm>
            <a:off x="4712636" y="1755653"/>
            <a:ext cx="87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0.9639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7"/>
          <p:cNvSpPr/>
          <p:nvPr/>
        </p:nvSpPr>
        <p:spPr>
          <a:xfrm>
            <a:off x="4712636" y="2130557"/>
            <a:ext cx="879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mejor balance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7"/>
          <p:cNvSpPr/>
          <p:nvPr/>
        </p:nvSpPr>
        <p:spPr>
          <a:xfrm>
            <a:off x="5930074" y="1417325"/>
            <a:ext cx="1110900" cy="10515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DCE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7"/>
          <p:cNvSpPr/>
          <p:nvPr/>
        </p:nvSpPr>
        <p:spPr>
          <a:xfrm>
            <a:off x="6045597" y="1527053"/>
            <a:ext cx="879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17"/>
          <p:cNvSpPr/>
          <p:nvPr/>
        </p:nvSpPr>
        <p:spPr>
          <a:xfrm>
            <a:off x="6045597" y="1755653"/>
            <a:ext cx="87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57B9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457B9D"/>
                </a:solidFill>
                <a:latin typeface="Arial"/>
                <a:ea typeface="Arial"/>
                <a:cs typeface="Arial"/>
                <a:sym typeface="Arial"/>
              </a:rPr>
              <a:t>0.9737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17"/>
          <p:cNvSpPr/>
          <p:nvPr/>
        </p:nvSpPr>
        <p:spPr>
          <a:xfrm>
            <a:off x="6045597" y="2130557"/>
            <a:ext cx="879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680"/>
              <a:buFont typeface="Arial"/>
              <a:buNone/>
            </a:pPr>
            <a:r>
              <a:rPr lang="en-US" sz="68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empate alto</a:t>
            </a:r>
            <a:endParaRPr sz="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17"/>
          <p:cNvSpPr/>
          <p:nvPr/>
        </p:nvSpPr>
        <p:spPr>
          <a:xfrm>
            <a:off x="731520" y="3063240"/>
            <a:ext cx="6309360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7"/>
          <p:cNvSpPr/>
          <p:nvPr/>
        </p:nvSpPr>
        <p:spPr>
          <a:xfrm>
            <a:off x="987552" y="3310128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Por qué este modelo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7"/>
          <p:cNvSpPr/>
          <p:nvPr/>
        </p:nvSpPr>
        <p:spPr>
          <a:xfrm>
            <a:off x="987552" y="3730752"/>
            <a:ext cx="5577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29400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30"/>
              <a:buFont typeface="Arial"/>
              <a:buChar char="●"/>
            </a:pPr>
            <a:r>
              <a:rPr lang="en-US" sz="103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Tiene el mayor Recall del notebook corregido: reduce falsos negativos en malignos.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00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30"/>
              <a:buFont typeface="Arial"/>
              <a:buChar char="●"/>
            </a:pPr>
            <a:r>
              <a:rPr lang="en-US" sz="103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También logra el mayor F1-score, por lo que no sacrifica demasiado la precisión.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00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30"/>
              <a:buFont typeface="Arial"/>
              <a:buChar char="●"/>
            </a:pPr>
            <a:r>
              <a:rPr lang="en-US" sz="103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PCA reduce dimensionalidad y aprovecha la correlación entre variables clínicas.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00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30"/>
              <a:buFont typeface="Arial"/>
              <a:buChar char="●"/>
            </a:pPr>
            <a:r>
              <a:rPr lang="en-US" sz="103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Frente a SVM, es más simple de explicar y obtuvo una ligera ventaja en F1.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7"/>
          <p:cNvSpPr/>
          <p:nvPr/>
        </p:nvSpPr>
        <p:spPr>
          <a:xfrm>
            <a:off x="7908303" y="5260895"/>
            <a:ext cx="3246000" cy="1051500"/>
          </a:xfrm>
          <a:prstGeom prst="roundRect">
            <a:avLst>
              <a:gd fmla="val 695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7"/>
          <p:cNvSpPr/>
          <p:nvPr/>
        </p:nvSpPr>
        <p:spPr>
          <a:xfrm>
            <a:off x="8118615" y="5462063"/>
            <a:ext cx="283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Alternativa fuerte: SVM sin PCA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7"/>
          <p:cNvSpPr/>
          <p:nvPr/>
        </p:nvSpPr>
        <p:spPr>
          <a:xfrm>
            <a:off x="8118615" y="5791247"/>
            <a:ext cx="278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Empata Accuracy y queda muy cerca en F1, pero no supera el Recall del modelo recomendado.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17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1" name="Google Shape;911;p17" title="e0fa207a-8281-4c3a-8df3-872355da247a.png"/>
          <p:cNvPicPr preferRelativeResize="0"/>
          <p:nvPr/>
        </p:nvPicPr>
        <p:blipFill rotWithShape="1">
          <a:blip r:embed="rId3">
            <a:alphaModFix/>
          </a:blip>
          <a:srcRect b="0" l="49993" r="0" t="0"/>
          <a:stretch/>
        </p:blipFill>
        <p:spPr>
          <a:xfrm>
            <a:off x="7452350" y="1069825"/>
            <a:ext cx="4348975" cy="379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8"/>
          <p:cNvSpPr/>
          <p:nvPr/>
        </p:nvSpPr>
        <p:spPr>
          <a:xfrm>
            <a:off x="548640" y="3200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23047"/>
                </a:solidFill>
                <a:latin typeface="Play"/>
                <a:ea typeface="Play"/>
                <a:cs typeface="Play"/>
                <a:sym typeface="Play"/>
              </a:rPr>
              <a:t>Conclusiones y mejoras futuras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8"/>
          <p:cNvSpPr/>
          <p:nvPr/>
        </p:nvSpPr>
        <p:spPr>
          <a:xfrm>
            <a:off x="566928" y="786384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12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Cierre técnico de la defensa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18"/>
          <p:cNvSpPr/>
          <p:nvPr/>
        </p:nvSpPr>
        <p:spPr>
          <a:xfrm>
            <a:off x="548640" y="1078992"/>
            <a:ext cx="914400" cy="54864"/>
          </a:xfrm>
          <a:prstGeom prst="rect">
            <a:avLst/>
          </a:prstGeom>
          <a:solidFill>
            <a:srgbClr val="1F8A8A"/>
          </a:solidFill>
          <a:ln cap="flat" cmpd="sng" w="12700">
            <a:solidFill>
              <a:srgbClr val="1F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8"/>
          <p:cNvSpPr/>
          <p:nvPr/>
        </p:nvSpPr>
        <p:spPr>
          <a:xfrm>
            <a:off x="685800" y="1417320"/>
            <a:ext cx="5257800" cy="4389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8"/>
          <p:cNvSpPr/>
          <p:nvPr/>
        </p:nvSpPr>
        <p:spPr>
          <a:xfrm>
            <a:off x="960120" y="16916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6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8"/>
          <p:cNvSpPr/>
          <p:nvPr/>
        </p:nvSpPr>
        <p:spPr>
          <a:xfrm>
            <a:off x="960120" y="2103120"/>
            <a:ext cx="4480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31369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40"/>
              <a:buFont typeface="Arial"/>
              <a:buChar char="●"/>
            </a:pPr>
            <a:r>
              <a:rPr lang="en-US" sz="13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flujo completo incluyó limpieza, EDA, preparación, modelos y evaluación.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40"/>
              <a:buFont typeface="Arial"/>
              <a:buChar char="●"/>
            </a:pPr>
            <a:r>
              <a:rPr lang="en-US" sz="13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EDA identificó variables relevantes, pero el foco final fue comparar desempeño.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40"/>
              <a:buFont typeface="Arial"/>
              <a:buChar char="●"/>
            </a:pPr>
            <a:r>
              <a:rPr lang="en-US" sz="13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La preparación fue clave para modelos sensibles a escala y para PCA.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40"/>
              <a:buFont typeface="Arial"/>
              <a:buChar char="●"/>
            </a:pPr>
            <a:r>
              <a:rPr lang="en-US" sz="13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 mejor modelo se eligió con métricas y contexto, no solo por Accuracy.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40"/>
              <a:buFont typeface="Arial"/>
              <a:buChar char="●"/>
            </a:pPr>
            <a:r>
              <a:rPr lang="en-US" sz="13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Logística con PCA fue la mejor clasificación del notebook corregido.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18"/>
          <p:cNvSpPr/>
          <p:nvPr/>
        </p:nvSpPr>
        <p:spPr>
          <a:xfrm>
            <a:off x="6263640" y="1417320"/>
            <a:ext cx="5257800" cy="438912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8"/>
          <p:cNvSpPr/>
          <p:nvPr/>
        </p:nvSpPr>
        <p:spPr>
          <a:xfrm>
            <a:off x="6537960" y="169164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047"/>
              </a:buClr>
              <a:buSzPts val="1600"/>
              <a:buFont typeface="Arial"/>
              <a:buNone/>
            </a:pPr>
            <a:r>
              <a:rPr b="1" lang="en-US" sz="1800">
                <a:solidFill>
                  <a:srgbClr val="123047"/>
                </a:solidFill>
                <a:latin typeface="Arial"/>
                <a:ea typeface="Arial"/>
                <a:cs typeface="Arial"/>
                <a:sym typeface="Arial"/>
              </a:rPr>
              <a:t>Mejoras futuras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18"/>
          <p:cNvSpPr/>
          <p:nvPr/>
        </p:nvSpPr>
        <p:spPr>
          <a:xfrm>
            <a:off x="6537960" y="2103120"/>
            <a:ext cx="44805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-31369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40"/>
              <a:buFont typeface="Arial"/>
              <a:buChar char="●"/>
            </a:pPr>
            <a:r>
              <a:rPr lang="en-US" sz="13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Aplicar validación cruzada para reducir dependencia de una partición train/test.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40"/>
              <a:buFont typeface="Arial"/>
              <a:buChar char="●"/>
            </a:pPr>
            <a:r>
              <a:rPr lang="en-US" sz="13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Ajustar hiperparámetros con GridSearch o RandomizedSearch.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40"/>
              <a:buFont typeface="Arial"/>
              <a:buChar char="●"/>
            </a:pPr>
            <a:r>
              <a:rPr lang="en-US" sz="13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Optimizar umbral de clasificación para maximizar Recall clínico.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40"/>
              <a:buFont typeface="Arial"/>
              <a:buChar char="●"/>
            </a:pPr>
            <a:r>
              <a:rPr lang="en-US" sz="13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Analizar importancia de variables y explicar predicciones individuales.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69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40"/>
              <a:buFont typeface="Arial"/>
              <a:buChar char="●"/>
            </a:pPr>
            <a:r>
              <a:rPr lang="en-US" sz="134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Evaluar con más datos clínicos antes de uso real.</a:t>
            </a:r>
            <a:endParaRPr sz="13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18"/>
          <p:cNvSpPr/>
          <p:nvPr/>
        </p:nvSpPr>
        <p:spPr>
          <a:xfrm>
            <a:off x="2057400" y="5989320"/>
            <a:ext cx="8046720" cy="475488"/>
          </a:xfrm>
          <a:prstGeom prst="roundRect">
            <a:avLst>
              <a:gd fmla="val 15385" name="adj"/>
            </a:avLst>
          </a:prstGeom>
          <a:solidFill>
            <a:srgbClr val="123047"/>
          </a:solidFill>
          <a:ln cap="flat" cmpd="sng" w="12700">
            <a:solidFill>
              <a:srgbClr val="1230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8"/>
          <p:cNvSpPr/>
          <p:nvPr/>
        </p:nvSpPr>
        <p:spPr>
          <a:xfrm>
            <a:off x="2194560" y="6144768"/>
            <a:ext cx="7772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Arial"/>
              <a:buNone/>
            </a:pPr>
            <a:r>
              <a:rPr b="1" lang="en-US" sz="103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Cierre: en diagnóstico médico, el mejor modelo no es solo el que más acierta, sino el que reduce el error clínicamente más costoso.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18"/>
          <p:cNvSpPr txBox="1"/>
          <p:nvPr>
            <p:ph idx="4294967295" type="sldNum"/>
          </p:nvPr>
        </p:nvSpPr>
        <p:spPr>
          <a:xfrm>
            <a:off x="11155680" y="651967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6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65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2026-06-05T20:44:40Z</dcterms:created>
  <dc:creator>OpenAI</dc:creator>
</cp:coreProperties>
</file>